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5" r:id="rId7"/>
    <p:sldId id="266" r:id="rId8"/>
    <p:sldId id="267" r:id="rId9"/>
    <p:sldId id="268" r:id="rId10"/>
    <p:sldId id="270" r:id="rId11"/>
    <p:sldId id="271" r:id="rId12"/>
    <p:sldId id="272" r:id="rId13"/>
    <p:sldId id="273" r:id="rId14"/>
    <p:sldId id="274" r:id="rId15"/>
  </p:sldIdLst>
  <p:sldSz cx="14630400" cy="8229600"/>
  <p:notesSz cx="8229600" cy="14630400"/>
  <p:embeddedFontLst>
    <p:embeddedFont>
      <p:font typeface="Meiryo UI" panose="020B0604030504040204" pitchFamily="34" charset="-128"/>
      <p:regular r:id="rId17"/>
      <p:bold r:id="rId18"/>
      <p:italic r:id="rId19"/>
      <p:boldItalic r:id="rId20"/>
    </p:embeddedFont>
  </p:embeddedFontLst>
  <p:defaultTextStyle>
    <a:defPPr>
      <a:defRPr lang="ja-G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724"/>
    <p:restoredTop sz="94610"/>
  </p:normalViewPr>
  <p:slideViewPr>
    <p:cSldViewPr snapToGrid="0" snapToObjects="1">
      <p:cViewPr varScale="1">
        <p:scale>
          <a:sx n="77" d="100"/>
          <a:sy n="77" d="100"/>
        </p:scale>
        <p:origin x="232" y="9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2238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hyperlink" Target="https://www.heidelberg.com/global/en/about_heidelberg/press_relations/press_release/press_release_220225.jsp" TargetMode="External"/><Relationship Id="rId7" Type="http://schemas.openxmlformats.org/officeDocument/2006/relationships/hyperlink" Target="https://digitalprinting.hp.com/content/dam/sites/possibility-city/indigo-printers/supply-chain-optimization/HPIndigoQuickGuideEMEA_20190818022715.pdf" TargetMode="External"/><Relationship Id="rId2" Type="http://schemas.openxmlformats.org/officeDocument/2006/relationships/notesSlide" Target="../notesSlides/notesSlide13.xml"/><Relationship Id="rId1" Type="http://schemas.openxmlformats.org/officeDocument/2006/relationships/slideLayout" Target="../slideLayouts/slideLayout19.xml"/><Relationship Id="rId6" Type="http://schemas.openxmlformats.org/officeDocument/2006/relationships/hyperlink" Target="https://www.hp.com/us-en/industrial-digital-presses/print-workflow-automation-management-solutions-site-flow.html" TargetMode="External"/><Relationship Id="rId5" Type="http://schemas.openxmlformats.org/officeDocument/2006/relationships/hyperlink" Target="https://www.packagingimpressions.com/article/heidelberg-unveils-new-peak-performance-technology/" TargetMode="External"/><Relationship Id="rId4" Type="http://schemas.openxmlformats.org/officeDocument/2006/relationships/hyperlink" Target="https://www.heidelberg.com/global/media/en/global_media/products___sheetfed_offset/2020_20/product_brochures_1/HEIDELBERG_Speedmaster_XL_106_Packaging.pdf"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cello-amethyst-lfrp.squarespace.com/s/citicom-case-study.pdf" TargetMode="External"/><Relationship Id="rId3" Type="http://schemas.openxmlformats.org/officeDocument/2006/relationships/hyperlink" Target="https://www.kodak.com/content/products-brochures/Print/ColorFlow-Pro-Color-Management-Software.pdf" TargetMode="External"/><Relationship Id="rId7" Type="http://schemas.openxmlformats.org/officeDocument/2006/relationships/hyperlink" Target="https://www.packagingimpressions.com/article/tei-validates-esko-s-impact-with-240-roi-for-converters/" TargetMode="External"/><Relationship Id="rId2" Type="http://schemas.openxmlformats.org/officeDocument/2006/relationships/notesSlide" Target="../notesSlides/notesSlide14.xml"/><Relationship Id="rId1" Type="http://schemas.openxmlformats.org/officeDocument/2006/relationships/slideLayout" Target="../slideLayouts/slideLayout20.xml"/><Relationship Id="rId6" Type="http://schemas.openxmlformats.org/officeDocument/2006/relationships/hyperlink" Target="https://www.esko.com/en/landing/teistudy" TargetMode="External"/><Relationship Id="rId5" Type="http://schemas.openxmlformats.org/officeDocument/2006/relationships/hyperlink" Target="https://www.esko.com/en/company/news-overview/esko-fundamental-step-change-process-automation-maximizing-value" TargetMode="External"/><Relationship Id="rId4" Type="http://schemas.openxmlformats.org/officeDocument/2006/relationships/hyperlink" Target="https://www.kodak.com/content/products-brochures/Print/Ink-Optimizing-Solution-data-sheet.pdf" TargetMode="External"/><Relationship Id="rId9" Type="http://schemas.openxmlformats.org/officeDocument/2006/relationships/hyperlink" Target="https://www.piworld.com/article/new-komori-lithrone-allows-printer-reduce-makeready-time-waste/all/"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326362"/>
            <a:ext cx="13042821" cy="1240155"/>
          </a:xfrm>
          <a:prstGeom prst="rect">
            <a:avLst/>
          </a:prstGeom>
          <a:noFill/>
          <a:ln/>
        </p:spPr>
        <p:txBody>
          <a:bodyPr wrap="square" lIns="0" tIns="0" rIns="0" bIns="0" rtlCol="0" anchor="t"/>
          <a:lstStyle/>
          <a:p>
            <a:pPr marL="0" indent="0" algn="l">
              <a:lnSpc>
                <a:spcPts val="4850"/>
              </a:lnSpc>
              <a:buNone/>
            </a:pPr>
            <a:r>
              <a:rPr lang="en-US" sz="4400" b="1" dirty="0" err="1">
                <a:solidFill>
                  <a:srgbClr val="030303"/>
                </a:solidFill>
                <a:latin typeface="Meiryo UI" panose="020B0604030504040204" pitchFamily="34" charset="-128"/>
                <a:ea typeface="Meiryo UI" panose="020B0604030504040204" pitchFamily="34" charset="-128"/>
                <a:cs typeface="DM Sans Semi Bold" pitchFamily="34" charset="-120"/>
              </a:rPr>
              <a:t>スマイディア様向け</a:t>
            </a:r>
            <a:r>
              <a:rPr lang="en-US" sz="4400" b="1" dirty="0">
                <a:solidFill>
                  <a:srgbClr val="030303"/>
                </a:solidFill>
                <a:latin typeface="Meiryo UI" panose="020B0604030504040204" pitchFamily="34" charset="-128"/>
                <a:ea typeface="Meiryo UI" panose="020B0604030504040204" pitchFamily="34" charset="-128"/>
                <a:cs typeface="DM Sans Semi Bold" pitchFamily="34" charset="-120"/>
              </a:rPr>
              <a:t> </a:t>
            </a:r>
            <a:r>
              <a:rPr lang="en-US" sz="4400" b="1" dirty="0" err="1">
                <a:solidFill>
                  <a:srgbClr val="030303"/>
                </a:solidFill>
                <a:latin typeface="Meiryo UI" panose="020B0604030504040204" pitchFamily="34" charset="-128"/>
                <a:ea typeface="Meiryo UI" panose="020B0604030504040204" pitchFamily="34" charset="-128"/>
                <a:cs typeface="DM Sans Semi Bold" pitchFamily="34" charset="-120"/>
              </a:rPr>
              <a:t>資料</a:t>
            </a:r>
            <a:endParaRPr lang="en-US" sz="4400" b="1" dirty="0">
              <a:latin typeface="Meiryo UI" panose="020B0604030504040204" pitchFamily="34" charset="-128"/>
              <a:ea typeface="Meiryo UI" panose="020B0604030504040204" pitchFamily="34" charset="-128"/>
            </a:endParaRPr>
          </a:p>
        </p:txBody>
      </p:sp>
      <p:sp>
        <p:nvSpPr>
          <p:cNvPr id="3" name="Text 1"/>
          <p:cNvSpPr/>
          <p:nvPr/>
        </p:nvSpPr>
        <p:spPr>
          <a:xfrm>
            <a:off x="793790" y="3360598"/>
            <a:ext cx="13042821" cy="317540"/>
          </a:xfrm>
          <a:prstGeom prst="rect">
            <a:avLst/>
          </a:prstGeom>
          <a:noFill/>
          <a:ln/>
        </p:spPr>
        <p:txBody>
          <a:bodyPr wrap="none" lIns="0" tIns="0" rIns="0" bIns="0" rtlCol="0" anchor="t"/>
          <a:lstStyle/>
          <a:p>
            <a:pPr marL="0" indent="0" algn="l">
              <a:lnSpc>
                <a:spcPts val="2500"/>
              </a:lnSpc>
              <a:buNone/>
            </a:pPr>
            <a:r>
              <a:rPr lang="en-US" sz="2400" dirty="0">
                <a:solidFill>
                  <a:srgbClr val="464646"/>
                </a:solidFill>
                <a:latin typeface="Meiryo UI" panose="020B0604030504040204" pitchFamily="34" charset="-128"/>
                <a:ea typeface="Meiryo UI" panose="020B0604030504040204" pitchFamily="34" charset="-128"/>
                <a:cs typeface="Inter Medium" pitchFamily="34" charset="-120"/>
              </a:rPr>
              <a:t>印刷×デジタル×地域で価値を高めるAIの使い方</a:t>
            </a:r>
            <a:endParaRPr lang="en-US" sz="2400" dirty="0">
              <a:latin typeface="Meiryo UI" panose="020B0604030504040204" pitchFamily="34" charset="-128"/>
              <a:ea typeface="Meiryo UI" panose="020B0604030504040204" pitchFamily="34" charset="-128"/>
            </a:endParaRPr>
          </a:p>
        </p:txBody>
      </p:sp>
      <p:sp>
        <p:nvSpPr>
          <p:cNvPr id="5" name="Text 3"/>
          <p:cNvSpPr/>
          <p:nvPr/>
        </p:nvSpPr>
        <p:spPr>
          <a:xfrm>
            <a:off x="793788" y="5443928"/>
            <a:ext cx="13042821" cy="317540"/>
          </a:xfrm>
          <a:prstGeom prst="rect">
            <a:avLst/>
          </a:prstGeom>
          <a:noFill/>
          <a:ln/>
        </p:spPr>
        <p:txBody>
          <a:bodyPr wrap="none" lIns="0" tIns="0" rIns="0" bIns="0" rtlCol="0" anchor="t"/>
          <a:lstStyle/>
          <a:p>
            <a:pPr marL="0" indent="0" algn="l">
              <a:lnSpc>
                <a:spcPts val="2500"/>
              </a:lnSpc>
              <a:buNone/>
            </a:pPr>
            <a:r>
              <a:rPr lang="en-US" dirty="0">
                <a:solidFill>
                  <a:srgbClr val="464646"/>
                </a:solidFill>
                <a:latin typeface="Meiryo UI" panose="020B0604030504040204" pitchFamily="34" charset="-128"/>
                <a:ea typeface="Meiryo UI" panose="020B0604030504040204" pitchFamily="34" charset="-128"/>
                <a:cs typeface="Inter Medium" pitchFamily="34" charset="-120"/>
              </a:rPr>
              <a:t>株式会社スマイディア 代表取締役 石光 堅太郎 様</a:t>
            </a:r>
            <a:endParaRPr lang="en-US" dirty="0">
              <a:latin typeface="Meiryo UI" panose="020B0604030504040204" pitchFamily="34" charset="-128"/>
              <a:ea typeface="Meiryo UI" panose="020B0604030504040204" pitchFamily="34" charset="-128"/>
            </a:endParaRPr>
          </a:p>
        </p:txBody>
      </p:sp>
      <p:sp>
        <p:nvSpPr>
          <p:cNvPr id="6" name="Text 4"/>
          <p:cNvSpPr/>
          <p:nvPr/>
        </p:nvSpPr>
        <p:spPr>
          <a:xfrm>
            <a:off x="793788" y="5984710"/>
            <a:ext cx="13042821" cy="317540"/>
          </a:xfrm>
          <a:prstGeom prst="rect">
            <a:avLst/>
          </a:prstGeom>
          <a:noFill/>
          <a:ln/>
        </p:spPr>
        <p:txBody>
          <a:bodyPr wrap="none" lIns="0" tIns="0" rIns="0" bIns="0" rtlCol="0" anchor="t"/>
          <a:lstStyle/>
          <a:p>
            <a:pPr marL="0" indent="0" algn="l">
              <a:lnSpc>
                <a:spcPts val="2500"/>
              </a:lnSpc>
              <a:buNone/>
            </a:pPr>
            <a:r>
              <a:rPr lang="en-US" dirty="0">
                <a:solidFill>
                  <a:srgbClr val="464646"/>
                </a:solidFill>
                <a:latin typeface="Meiryo UI" panose="020B0604030504040204" pitchFamily="34" charset="-128"/>
                <a:ea typeface="Meiryo UI" panose="020B0604030504040204" pitchFamily="34" charset="-128"/>
                <a:cs typeface="Inter Medium" pitchFamily="34" charset="-120"/>
              </a:rPr>
              <a:t>2025年9月1日</a:t>
            </a:r>
            <a:endParaRPr lang="en-US" dirty="0">
              <a:latin typeface="Meiryo UI" panose="020B0604030504040204" pitchFamily="34" charset="-128"/>
              <a:ea typeface="Meiryo UI" panose="020B0604030504040204" pitchFamily="34" charset="-128"/>
            </a:endParaRPr>
          </a:p>
        </p:txBody>
      </p:sp>
      <p:sp>
        <p:nvSpPr>
          <p:cNvPr id="4" name="Text 1">
            <a:extLst>
              <a:ext uri="{FF2B5EF4-FFF2-40B4-BE49-F238E27FC236}">
                <a16:creationId xmlns:a16="http://schemas.microsoft.com/office/drawing/2014/main" id="{9CC7E9E8-D7AF-E78C-AFCB-7F1CEBA575D7}"/>
              </a:ext>
            </a:extLst>
          </p:cNvPr>
          <p:cNvSpPr/>
          <p:nvPr/>
        </p:nvSpPr>
        <p:spPr>
          <a:xfrm>
            <a:off x="793789" y="4043987"/>
            <a:ext cx="13042821" cy="317540"/>
          </a:xfrm>
          <a:prstGeom prst="rect">
            <a:avLst/>
          </a:prstGeom>
          <a:noFill/>
          <a:ln/>
        </p:spPr>
        <p:txBody>
          <a:bodyPr wrap="none" lIns="0" tIns="0" rIns="0" bIns="0" rtlCol="0" anchor="t"/>
          <a:lstStyle/>
          <a:p>
            <a:pPr>
              <a:lnSpc>
                <a:spcPts val="2500"/>
              </a:lnSpc>
            </a:pPr>
            <a:r>
              <a:rPr lang="ja-JP" altLang="en-US">
                <a:latin typeface="Meiryo UI" panose="020B0604030504040204" pitchFamily="34" charset="-128"/>
                <a:ea typeface="Meiryo UI" panose="020B0604030504040204" pitchFamily="34" charset="-128"/>
              </a:rPr>
              <a:t>石道社長、本日は貴重なお時間をいただき誠にありがとうございます。</a:t>
            </a:r>
            <a:endParaRPr lang="en-US" altLang="ja-JP" dirty="0">
              <a:latin typeface="Meiryo UI" panose="020B0604030504040204" pitchFamily="34" charset="-128"/>
              <a:ea typeface="Meiryo UI" panose="020B0604030504040204" pitchFamily="34" charset="-128"/>
            </a:endParaRPr>
          </a:p>
          <a:p>
            <a:pPr>
              <a:lnSpc>
                <a:spcPts val="2500"/>
              </a:lnSpc>
            </a:pPr>
            <a:r>
              <a:rPr lang="en" altLang="ja-GU" dirty="0">
                <a:latin typeface="Meiryo UI" panose="020B0604030504040204" pitchFamily="34" charset="-128"/>
                <a:ea typeface="Meiryo UI" panose="020B0604030504040204" pitchFamily="34" charset="-128"/>
              </a:rPr>
              <a:t>AI</a:t>
            </a:r>
            <a:r>
              <a:rPr lang="ja-JP" altLang="en-US">
                <a:latin typeface="Meiryo UI" panose="020B0604030504040204" pitchFamily="34" charset="-128"/>
                <a:ea typeface="Meiryo UI" panose="020B0604030504040204" pitchFamily="34" charset="-128"/>
              </a:rPr>
              <a:t>の力で、御社の強みをさらに活かす仕組みを一緒に考えさせていただければと思っています。</a:t>
            </a:r>
            <a:endParaRPr lang="en-US" dirty="0">
              <a:latin typeface="Meiryo UI" panose="020B0604030504040204" pitchFamily="34" charset="-128"/>
              <a:ea typeface="Meiryo UI" panose="020B060403050404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677348"/>
            <a:ext cx="5457587" cy="620078"/>
          </a:xfrm>
          <a:prstGeom prst="rect">
            <a:avLst/>
          </a:prstGeom>
          <a:noFill/>
          <a:ln/>
        </p:spPr>
        <p:txBody>
          <a:bodyPr wrap="none" lIns="0" tIns="0" rIns="0" bIns="0" rtlCol="0" anchor="t"/>
          <a:lstStyle/>
          <a:p>
            <a:pPr marL="0" indent="0" algn="l">
              <a:lnSpc>
                <a:spcPts val="4850"/>
              </a:lnSpc>
              <a:buNone/>
            </a:pPr>
            <a:r>
              <a:rPr lang="en-US" sz="4400" b="1" dirty="0">
                <a:solidFill>
                  <a:srgbClr val="030303"/>
                </a:solidFill>
                <a:latin typeface="Meiryo UI" panose="020B0604030504040204" pitchFamily="34" charset="-128"/>
                <a:ea typeface="Meiryo UI" panose="020B0604030504040204" pitchFamily="34" charset="-128"/>
                <a:cs typeface="DM Sans Semi Bold" pitchFamily="34" charset="-120"/>
              </a:rPr>
              <a:t>印刷業界の「いま」要点</a:t>
            </a:r>
            <a:endParaRPr lang="en-US" sz="4400" b="1" dirty="0">
              <a:latin typeface="Meiryo UI" panose="020B0604030504040204" pitchFamily="34" charset="-128"/>
              <a:ea typeface="Meiryo UI" panose="020B0604030504040204" pitchFamily="34" charset="-128"/>
            </a:endParaRPr>
          </a:p>
        </p:txBody>
      </p:sp>
      <p:sp>
        <p:nvSpPr>
          <p:cNvPr id="3" name="Shape 1"/>
          <p:cNvSpPr/>
          <p:nvPr/>
        </p:nvSpPr>
        <p:spPr>
          <a:xfrm>
            <a:off x="793790" y="1606187"/>
            <a:ext cx="4215289" cy="5850073"/>
          </a:xfrm>
          <a:prstGeom prst="roundRect">
            <a:avLst>
              <a:gd name="adj" fmla="val 779"/>
            </a:avLst>
          </a:prstGeom>
          <a:solidFill>
            <a:srgbClr val="1C9770"/>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4" name="Text 2"/>
          <p:cNvSpPr/>
          <p:nvPr/>
        </p:nvSpPr>
        <p:spPr>
          <a:xfrm>
            <a:off x="992148" y="180454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Meiryo UI" panose="020B0604030504040204" pitchFamily="34" charset="-128"/>
                <a:ea typeface="Meiryo UI" panose="020B0604030504040204" pitchFamily="34" charset="-128"/>
                <a:cs typeface="DM Sans Semi Bold" pitchFamily="34" charset="-120"/>
              </a:rPr>
              <a:t>市場規模・事業所</a:t>
            </a:r>
            <a:endParaRPr lang="en-US" sz="1950" dirty="0">
              <a:latin typeface="Meiryo UI" panose="020B0604030504040204" pitchFamily="34" charset="-128"/>
              <a:ea typeface="Meiryo UI" panose="020B0604030504040204" pitchFamily="34" charset="-128"/>
            </a:endParaRPr>
          </a:p>
        </p:txBody>
      </p:sp>
      <p:sp>
        <p:nvSpPr>
          <p:cNvPr id="5" name="Text 3"/>
          <p:cNvSpPr/>
          <p:nvPr/>
        </p:nvSpPr>
        <p:spPr>
          <a:xfrm>
            <a:off x="992148" y="2233767"/>
            <a:ext cx="3818573"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FFFFFF"/>
                </a:solidFill>
                <a:latin typeface="Meiryo UI" panose="020B0604030504040204" pitchFamily="34" charset="-128"/>
                <a:ea typeface="Meiryo UI" panose="020B0604030504040204" pitchFamily="34" charset="-128"/>
                <a:cs typeface="Inter Medium" pitchFamily="34" charset="-120"/>
              </a:rPr>
              <a:t>製造品出荷額 </a:t>
            </a:r>
            <a:r>
              <a:rPr lang="en-US" sz="1550" b="1" dirty="0">
                <a:solidFill>
                  <a:srgbClr val="FFFFFF"/>
                </a:solidFill>
                <a:latin typeface="Meiryo UI" panose="020B0604030504040204" pitchFamily="34" charset="-128"/>
                <a:ea typeface="Meiryo UI" panose="020B0604030504040204" pitchFamily="34" charset="-128"/>
                <a:cs typeface="Inter Medium" pitchFamily="34" charset="-120"/>
              </a:rPr>
              <a:t>5.046兆円</a:t>
            </a:r>
            <a:r>
              <a:rPr lang="en-US" sz="1550" dirty="0">
                <a:solidFill>
                  <a:srgbClr val="FFFFFF"/>
                </a:solidFill>
                <a:latin typeface="Meiryo UI" panose="020B0604030504040204" pitchFamily="34" charset="-128"/>
                <a:ea typeface="Meiryo UI" panose="020B0604030504040204" pitchFamily="34" charset="-128"/>
                <a:cs typeface="Inter Medium" pitchFamily="34" charset="-120"/>
              </a:rPr>
              <a:t>（2022年）</a:t>
            </a:r>
            <a:endParaRPr lang="en-US" sz="1550" dirty="0">
              <a:latin typeface="Meiryo UI" panose="020B0604030504040204" pitchFamily="34" charset="-128"/>
              <a:ea typeface="Meiryo UI" panose="020B0604030504040204" pitchFamily="34" charset="-128"/>
            </a:endParaRPr>
          </a:p>
        </p:txBody>
      </p:sp>
      <p:sp>
        <p:nvSpPr>
          <p:cNvPr id="6" name="Text 4"/>
          <p:cNvSpPr/>
          <p:nvPr/>
        </p:nvSpPr>
        <p:spPr>
          <a:xfrm>
            <a:off x="992148" y="2620720"/>
            <a:ext cx="3818573"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err="1">
                <a:solidFill>
                  <a:srgbClr val="FFFFFF"/>
                </a:solidFill>
                <a:latin typeface="Meiryo UI" panose="020B0604030504040204" pitchFamily="34" charset="-128"/>
                <a:ea typeface="Meiryo UI" panose="020B0604030504040204" pitchFamily="34" charset="-128"/>
                <a:cs typeface="Inter Medium" pitchFamily="34" charset="-120"/>
              </a:rPr>
              <a:t>事業所</a:t>
            </a:r>
            <a:r>
              <a:rPr lang="en-US" sz="1550" dirty="0">
                <a:solidFill>
                  <a:srgbClr val="FFFFFF"/>
                </a:solidFill>
                <a:latin typeface="Meiryo UI" panose="020B0604030504040204" pitchFamily="34" charset="-128"/>
                <a:ea typeface="Meiryo UI" panose="020B0604030504040204" pitchFamily="34" charset="-128"/>
                <a:cs typeface="Inter Medium" pitchFamily="34" charset="-120"/>
              </a:rPr>
              <a:t> </a:t>
            </a:r>
            <a:r>
              <a:rPr lang="en-US" sz="1550" b="1" dirty="0">
                <a:solidFill>
                  <a:srgbClr val="FFFFFF"/>
                </a:solidFill>
                <a:latin typeface="Meiryo UI" panose="020B0604030504040204" pitchFamily="34" charset="-128"/>
                <a:ea typeface="Meiryo UI" panose="020B0604030504040204" pitchFamily="34" charset="-128"/>
                <a:cs typeface="Inter Medium" pitchFamily="34" charset="-120"/>
              </a:rPr>
              <a:t>13,520箇所</a:t>
            </a:r>
            <a:r>
              <a:rPr lang="en-US" sz="1550" dirty="0">
                <a:solidFill>
                  <a:srgbClr val="FFFFFF"/>
                </a:solidFill>
                <a:latin typeface="Meiryo UI" panose="020B0604030504040204" pitchFamily="34" charset="-128"/>
                <a:ea typeface="Meiryo UI" panose="020B0604030504040204" pitchFamily="34" charset="-128"/>
                <a:cs typeface="Inter Medium" pitchFamily="34" charset="-120"/>
              </a:rPr>
              <a:t>（2023年6月1日）</a:t>
            </a:r>
            <a:endParaRPr lang="en-US" sz="1550" dirty="0">
              <a:latin typeface="Meiryo UI" panose="020B0604030504040204" pitchFamily="34" charset="-128"/>
              <a:ea typeface="Meiryo UI" panose="020B0604030504040204" pitchFamily="34" charset="-128"/>
            </a:endParaRPr>
          </a:p>
        </p:txBody>
      </p:sp>
      <p:sp>
        <p:nvSpPr>
          <p:cNvPr id="7" name="Text 5"/>
          <p:cNvSpPr/>
          <p:nvPr/>
        </p:nvSpPr>
        <p:spPr>
          <a:xfrm>
            <a:off x="992148" y="3007673"/>
            <a:ext cx="3818573"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FFFFFF"/>
                </a:solidFill>
                <a:latin typeface="Meiryo UI" panose="020B0604030504040204" pitchFamily="34" charset="-128"/>
                <a:ea typeface="Meiryo UI" panose="020B0604030504040204" pitchFamily="34" charset="-128"/>
                <a:cs typeface="Inter Medium" pitchFamily="34" charset="-120"/>
              </a:rPr>
              <a:t>従業者 </a:t>
            </a:r>
            <a:r>
              <a:rPr lang="en-US" sz="1550" b="1" dirty="0">
                <a:solidFill>
                  <a:srgbClr val="FFFFFF"/>
                </a:solidFill>
                <a:latin typeface="Meiryo UI" panose="020B0604030504040204" pitchFamily="34" charset="-128"/>
                <a:ea typeface="Meiryo UI" panose="020B0604030504040204" pitchFamily="34" charset="-128"/>
                <a:cs typeface="Inter Medium" pitchFamily="34" charset="-120"/>
              </a:rPr>
              <a:t>247,854人</a:t>
            </a:r>
            <a:endParaRPr lang="en-US" sz="1550" dirty="0">
              <a:latin typeface="Meiryo UI" panose="020B0604030504040204" pitchFamily="34" charset="-128"/>
              <a:ea typeface="Meiryo UI" panose="020B0604030504040204" pitchFamily="34" charset="-128"/>
            </a:endParaRPr>
          </a:p>
        </p:txBody>
      </p:sp>
      <p:sp>
        <p:nvSpPr>
          <p:cNvPr id="8" name="Shape 6"/>
          <p:cNvSpPr/>
          <p:nvPr/>
        </p:nvSpPr>
        <p:spPr>
          <a:xfrm>
            <a:off x="5207437" y="1606187"/>
            <a:ext cx="4215408" cy="5850073"/>
          </a:xfrm>
          <a:prstGeom prst="roundRect">
            <a:avLst>
              <a:gd name="adj" fmla="val 779"/>
            </a:avLst>
          </a:prstGeom>
          <a:solidFill>
            <a:srgbClr val="F2EEEE"/>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9" name="Text 7"/>
          <p:cNvSpPr/>
          <p:nvPr/>
        </p:nvSpPr>
        <p:spPr>
          <a:xfrm>
            <a:off x="5405795" y="180454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464646"/>
                </a:solidFill>
                <a:latin typeface="Meiryo UI" panose="020B0604030504040204" pitchFamily="34" charset="-128"/>
                <a:ea typeface="Meiryo UI" panose="020B0604030504040204" pitchFamily="34" charset="-128"/>
                <a:cs typeface="DM Sans Semi Bold" pitchFamily="34" charset="-120"/>
              </a:rPr>
              <a:t>媒体シフト</a:t>
            </a:r>
            <a:endParaRPr lang="en-US" sz="1950" dirty="0">
              <a:latin typeface="Meiryo UI" panose="020B0604030504040204" pitchFamily="34" charset="-128"/>
              <a:ea typeface="Meiryo UI" panose="020B0604030504040204" pitchFamily="34" charset="-128"/>
            </a:endParaRPr>
          </a:p>
        </p:txBody>
      </p:sp>
      <p:sp>
        <p:nvSpPr>
          <p:cNvPr id="10" name="Text 8"/>
          <p:cNvSpPr/>
          <p:nvPr/>
        </p:nvSpPr>
        <p:spPr>
          <a:xfrm>
            <a:off x="5405795" y="2233767"/>
            <a:ext cx="3818692"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インターネット広告費 </a:t>
            </a: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3兆6,517億円</a:t>
            </a:r>
          </a:p>
          <a:p>
            <a:pPr lvl="1">
              <a:lnSpc>
                <a:spcPts val="2500"/>
              </a:lnSpc>
              <a:buSzPct val="100000"/>
            </a:pP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2024年、前年比+9.6%)</a:t>
            </a:r>
            <a:endParaRPr lang="en-US" sz="1550" dirty="0">
              <a:latin typeface="Meiryo UI" panose="020B0604030504040204" pitchFamily="34" charset="-128"/>
              <a:ea typeface="Meiryo UI" panose="020B0604030504040204" pitchFamily="34" charset="-128"/>
            </a:endParaRPr>
          </a:p>
        </p:txBody>
      </p:sp>
      <p:sp>
        <p:nvSpPr>
          <p:cNvPr id="11" name="Text 9"/>
          <p:cNvSpPr/>
          <p:nvPr/>
        </p:nvSpPr>
        <p:spPr>
          <a:xfrm>
            <a:off x="5405795" y="2938260"/>
            <a:ext cx="3818692"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四媒体 </a:t>
            </a: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2兆3,363億円</a:t>
            </a:r>
            <a:endParaRPr lang="en-US" sz="1550" dirty="0">
              <a:latin typeface="Meiryo UI" panose="020B0604030504040204" pitchFamily="34" charset="-128"/>
              <a:ea typeface="Meiryo UI" panose="020B0604030504040204" pitchFamily="34" charset="-128"/>
            </a:endParaRPr>
          </a:p>
        </p:txBody>
      </p:sp>
      <p:sp>
        <p:nvSpPr>
          <p:cNvPr id="12" name="Text 10"/>
          <p:cNvSpPr/>
          <p:nvPr/>
        </p:nvSpPr>
        <p:spPr>
          <a:xfrm>
            <a:off x="5405795" y="3325213"/>
            <a:ext cx="3818692"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err="1">
                <a:solidFill>
                  <a:srgbClr val="464646"/>
                </a:solidFill>
                <a:latin typeface="Meiryo UI" panose="020B0604030504040204" pitchFamily="34" charset="-128"/>
                <a:ea typeface="Meiryo UI" panose="020B0604030504040204" pitchFamily="34" charset="-128"/>
                <a:cs typeface="Inter Medium" pitchFamily="34" charset="-120"/>
              </a:rPr>
              <a:t>プロモーションメディア</a:t>
            </a:r>
            <a:endParaRPr lang="en-US" sz="1550" dirty="0">
              <a:solidFill>
                <a:srgbClr val="464646"/>
              </a:solidFill>
              <a:latin typeface="Meiryo UI" panose="020B0604030504040204" pitchFamily="34" charset="-128"/>
              <a:ea typeface="Meiryo UI" panose="020B0604030504040204" pitchFamily="34" charset="-128"/>
              <a:cs typeface="Inter Medium" pitchFamily="34" charset="-120"/>
            </a:endParaRPr>
          </a:p>
          <a:p>
            <a:pPr lvl="1">
              <a:lnSpc>
                <a:spcPts val="2500"/>
              </a:lnSpc>
              <a:buSzPct val="100000"/>
            </a:pP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1兆6,850億円 (2024年)</a:t>
            </a:r>
            <a:endParaRPr lang="en-US" sz="1550" dirty="0">
              <a:latin typeface="Meiryo UI" panose="020B0604030504040204" pitchFamily="34" charset="-128"/>
              <a:ea typeface="Meiryo UI" panose="020B0604030504040204" pitchFamily="34" charset="-128"/>
            </a:endParaRPr>
          </a:p>
        </p:txBody>
      </p:sp>
      <p:sp>
        <p:nvSpPr>
          <p:cNvPr id="13" name="Shape 11"/>
          <p:cNvSpPr/>
          <p:nvPr/>
        </p:nvSpPr>
        <p:spPr>
          <a:xfrm>
            <a:off x="9621203" y="1606188"/>
            <a:ext cx="4215289" cy="5893912"/>
          </a:xfrm>
          <a:prstGeom prst="roundRect">
            <a:avLst>
              <a:gd name="adj" fmla="val 779"/>
            </a:avLst>
          </a:prstGeom>
          <a:solidFill>
            <a:srgbClr val="F2EEEE"/>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14" name="Text 12"/>
          <p:cNvSpPr/>
          <p:nvPr/>
        </p:nvSpPr>
        <p:spPr>
          <a:xfrm>
            <a:off x="9819561" y="1804545"/>
            <a:ext cx="3609056" cy="638209"/>
          </a:xfrm>
          <a:prstGeom prst="rect">
            <a:avLst/>
          </a:prstGeom>
          <a:noFill/>
          <a:ln/>
        </p:spPr>
        <p:txBody>
          <a:bodyPr wrap="none" lIns="0" tIns="0" rIns="0" bIns="0" rtlCol="0" anchor="t"/>
          <a:lstStyle/>
          <a:p>
            <a:pPr>
              <a:lnSpc>
                <a:spcPts val="2400"/>
              </a:lnSpc>
            </a:pPr>
            <a:r>
              <a:rPr lang="en-US" sz="1950" dirty="0" err="1">
                <a:solidFill>
                  <a:srgbClr val="464646"/>
                </a:solidFill>
                <a:latin typeface="Meiryo UI" panose="020B0604030504040204" pitchFamily="34" charset="-128"/>
                <a:ea typeface="Meiryo UI" panose="020B0604030504040204" pitchFamily="34" charset="-128"/>
                <a:cs typeface="DM Sans Semi Bold" pitchFamily="34" charset="-120"/>
              </a:rPr>
              <a:t>コスト上昇（参考</a:t>
            </a:r>
            <a:r>
              <a:rPr lang="en-US" sz="1950" b="1" dirty="0">
                <a:solidFill>
                  <a:srgbClr val="464646"/>
                </a:solidFill>
                <a:latin typeface="Meiryo UI" panose="020B0604030504040204" pitchFamily="34" charset="-128"/>
                <a:ea typeface="Meiryo UI" panose="020B0604030504040204" pitchFamily="34" charset="-128"/>
                <a:cs typeface="DM Sans Semi Bold" pitchFamily="34" charset="-120"/>
              </a:rPr>
              <a:t>）</a:t>
            </a:r>
          </a:p>
          <a:p>
            <a:pPr>
              <a:lnSpc>
                <a:spcPts val="2400"/>
              </a:lnSpc>
            </a:pPr>
            <a:r>
              <a:rPr lang="en-US" sz="1050" dirty="0">
                <a:solidFill>
                  <a:srgbClr val="464646"/>
                </a:solidFill>
                <a:latin typeface="Meiryo UI" panose="020B0604030504040204" pitchFamily="34" charset="-128"/>
                <a:ea typeface="Meiryo UI" panose="020B0604030504040204" pitchFamily="34" charset="-128"/>
                <a:cs typeface="DM Sans Semi Bold" pitchFamily="34" charset="-120"/>
              </a:rPr>
              <a:t>(</a:t>
            </a:r>
            <a:r>
              <a:rPr lang="ja-JP" altLang="en-US" sz="1050">
                <a:latin typeface="Meiryo UI" panose="020B0604030504040204" pitchFamily="34" charset="-128"/>
                <a:ea typeface="Meiryo UI" panose="020B0604030504040204" pitchFamily="34" charset="-128"/>
              </a:rPr>
              <a:t>企業物価指数：紙・板紙、</a:t>
            </a:r>
            <a:r>
              <a:rPr lang="en-US" altLang="ja-JP" sz="1050" dirty="0">
                <a:latin typeface="Meiryo UI" panose="020B0604030504040204" pitchFamily="34" charset="-128"/>
                <a:ea typeface="Meiryo UI" panose="020B0604030504040204" pitchFamily="34" charset="-128"/>
              </a:rPr>
              <a:t>2020</a:t>
            </a:r>
            <a:r>
              <a:rPr lang="ja-JP" altLang="en-US" sz="1050">
                <a:latin typeface="Meiryo UI" panose="020B0604030504040204" pitchFamily="34" charset="-128"/>
                <a:ea typeface="Meiryo UI" panose="020B0604030504040204" pitchFamily="34" charset="-128"/>
              </a:rPr>
              <a:t>年平均</a:t>
            </a:r>
            <a:r>
              <a:rPr lang="en-US" altLang="ja-JP" sz="1050" dirty="0">
                <a:latin typeface="Meiryo UI" panose="020B0604030504040204" pitchFamily="34" charset="-128"/>
                <a:ea typeface="Meiryo UI" panose="020B0604030504040204" pitchFamily="34" charset="-128"/>
              </a:rPr>
              <a:t>=100</a:t>
            </a:r>
            <a:r>
              <a:rPr lang="ja-JP" altLang="en-US" sz="1050">
                <a:latin typeface="Meiryo UI" panose="020B0604030504040204" pitchFamily="34" charset="-128"/>
                <a:ea typeface="Meiryo UI" panose="020B0604030504040204" pitchFamily="34" charset="-128"/>
              </a:rPr>
              <a:t>）</a:t>
            </a:r>
            <a:endParaRPr lang="en-US" altLang="ja-JP" sz="1050" dirty="0">
              <a:latin typeface="Meiryo UI" panose="020B0604030504040204" pitchFamily="34" charset="-128"/>
              <a:ea typeface="Meiryo UI" panose="020B0604030504040204" pitchFamily="34" charset="-128"/>
            </a:endParaRPr>
          </a:p>
          <a:p>
            <a:pPr>
              <a:lnSpc>
                <a:spcPts val="2400"/>
              </a:lnSpc>
            </a:pPr>
            <a:br>
              <a:rPr lang="ja-JP" altLang="en-US" sz="1050">
                <a:latin typeface="Meiryo UI" panose="020B0604030504040204" pitchFamily="34" charset="-128"/>
                <a:ea typeface="Meiryo UI" panose="020B0604030504040204" pitchFamily="34" charset="-128"/>
              </a:rPr>
            </a:br>
            <a:endParaRPr lang="en-US" sz="1050" dirty="0">
              <a:latin typeface="Meiryo UI" panose="020B0604030504040204" pitchFamily="34" charset="-128"/>
              <a:ea typeface="Meiryo UI" panose="020B0604030504040204" pitchFamily="34" charset="-128"/>
            </a:endParaRPr>
          </a:p>
        </p:txBody>
      </p:sp>
      <p:sp>
        <p:nvSpPr>
          <p:cNvPr id="15" name="Text 13"/>
          <p:cNvSpPr/>
          <p:nvPr/>
        </p:nvSpPr>
        <p:spPr>
          <a:xfrm>
            <a:off x="9819561" y="2376004"/>
            <a:ext cx="3818573" cy="985683"/>
          </a:xfrm>
          <a:prstGeom prst="rect">
            <a:avLst/>
          </a:prstGeom>
          <a:noFill/>
          <a:ln/>
        </p:spPr>
        <p:txBody>
          <a:bodyPr wrap="square" lIns="0" tIns="0" rIns="0" bIns="0" rtlCol="0" anchor="t"/>
          <a:lstStyle/>
          <a:p>
            <a:pPr marL="342900" indent="-342900">
              <a:lnSpc>
                <a:spcPts val="2500"/>
              </a:lnSpc>
              <a:buSzPct val="100000"/>
              <a:buChar char="•"/>
            </a:pPr>
            <a:r>
              <a:rPr lang="ja-JP" altLang="en-US" sz="1550" b="1">
                <a:latin typeface="Meiryo UI" panose="020B0604030504040204" pitchFamily="34" charset="-128"/>
                <a:ea typeface="Meiryo UI" panose="020B0604030504040204" pitchFamily="34" charset="-128"/>
              </a:rPr>
              <a:t>紙</a:t>
            </a:r>
            <a:br>
              <a:rPr lang="ja-JP" altLang="en-US" sz="1550">
                <a:latin typeface="Meiryo UI" panose="020B0604030504040204" pitchFamily="34" charset="-128"/>
                <a:ea typeface="Meiryo UI" panose="020B0604030504040204" pitchFamily="34" charset="-128"/>
              </a:rPr>
            </a:br>
            <a:r>
              <a:rPr lang="ja-JP" altLang="en-US" sz="1550">
                <a:latin typeface="Meiryo UI" panose="020B0604030504040204" pitchFamily="34" charset="-128"/>
                <a:ea typeface="Meiryo UI" panose="020B0604030504040204" pitchFamily="34" charset="-128"/>
              </a:rPr>
              <a:t>**</a:t>
            </a:r>
            <a:r>
              <a:rPr lang="en-US" altLang="ja-JP" sz="1550" dirty="0">
                <a:latin typeface="Meiryo UI" panose="020B0604030504040204" pitchFamily="34" charset="-128"/>
                <a:ea typeface="Meiryo UI" panose="020B0604030504040204" pitchFamily="34" charset="-128"/>
              </a:rPr>
              <a:t>2021</a:t>
            </a:r>
            <a:r>
              <a:rPr lang="ja-JP" altLang="en-US" sz="1550">
                <a:latin typeface="Meiryo UI" panose="020B0604030504040204" pitchFamily="34" charset="-128"/>
                <a:ea typeface="Meiryo UI" panose="020B0604030504040204" pitchFamily="34" charset="-128"/>
              </a:rPr>
              <a:t>年</a:t>
            </a:r>
            <a:r>
              <a:rPr lang="en-US" altLang="ja-JP" sz="1550" dirty="0">
                <a:latin typeface="Meiryo UI" panose="020B0604030504040204" pitchFamily="34" charset="-128"/>
                <a:ea typeface="Meiryo UI" panose="020B0604030504040204" pitchFamily="34" charset="-128"/>
              </a:rPr>
              <a:t>3</a:t>
            </a:r>
            <a:r>
              <a:rPr lang="ja-JP" altLang="en-US" sz="1550">
                <a:latin typeface="Meiryo UI" panose="020B0604030504040204" pitchFamily="34" charset="-128"/>
                <a:ea typeface="Meiryo UI" panose="020B0604030504040204" pitchFamily="34" charset="-128"/>
              </a:rPr>
              <a:t>月</a:t>
            </a:r>
            <a:r>
              <a:rPr lang="en-US" altLang="ja-JP" sz="1550" dirty="0">
                <a:latin typeface="Meiryo UI" panose="020B0604030504040204" pitchFamily="34" charset="-128"/>
                <a:ea typeface="Meiryo UI" panose="020B0604030504040204" pitchFamily="34" charset="-128"/>
              </a:rPr>
              <a:t>=99.6 → 2025</a:t>
            </a:r>
            <a:r>
              <a:rPr lang="ja-JP" altLang="en-US" sz="1550">
                <a:latin typeface="Meiryo UI" panose="020B0604030504040204" pitchFamily="34" charset="-128"/>
                <a:ea typeface="Meiryo UI" panose="020B0604030504040204" pitchFamily="34" charset="-128"/>
              </a:rPr>
              <a:t>年</a:t>
            </a:r>
            <a:r>
              <a:rPr lang="en-US" altLang="ja-JP" sz="1550" dirty="0">
                <a:latin typeface="Meiryo UI" panose="020B0604030504040204" pitchFamily="34" charset="-128"/>
                <a:ea typeface="Meiryo UI" panose="020B0604030504040204" pitchFamily="34" charset="-128"/>
              </a:rPr>
              <a:t>3</a:t>
            </a:r>
            <a:r>
              <a:rPr lang="ja-JP" altLang="en-US" sz="1550">
                <a:latin typeface="Meiryo UI" panose="020B0604030504040204" pitchFamily="34" charset="-128"/>
                <a:ea typeface="Meiryo UI" panose="020B0604030504040204" pitchFamily="34" charset="-128"/>
              </a:rPr>
              <a:t>月</a:t>
            </a:r>
            <a:r>
              <a:rPr lang="en-US" altLang="ja-JP" sz="1550" dirty="0">
                <a:latin typeface="Meiryo UI" panose="020B0604030504040204" pitchFamily="34" charset="-128"/>
                <a:ea typeface="Meiryo UI" panose="020B0604030504040204" pitchFamily="34" charset="-128"/>
              </a:rPr>
              <a:t>=131.3</a:t>
            </a:r>
            <a:r>
              <a:rPr lang="ja-JP" altLang="en-US" sz="1550">
                <a:latin typeface="Meiryo UI" panose="020B0604030504040204" pitchFamily="34" charset="-128"/>
                <a:ea typeface="Meiryo UI" panose="020B0604030504040204" pitchFamily="34" charset="-128"/>
              </a:rPr>
              <a:t>（</a:t>
            </a:r>
            <a:r>
              <a:rPr lang="en-US" altLang="ja-JP" sz="1550" b="1" dirty="0">
                <a:latin typeface="Meiryo UI" panose="020B0604030504040204" pitchFamily="34" charset="-128"/>
                <a:ea typeface="Meiryo UI" panose="020B0604030504040204" pitchFamily="34" charset="-128"/>
              </a:rPr>
              <a:t>2021</a:t>
            </a:r>
            <a:r>
              <a:rPr lang="ja-JP" altLang="en-US" sz="1550" b="1">
                <a:latin typeface="Meiryo UI" panose="020B0604030504040204" pitchFamily="34" charset="-128"/>
                <a:ea typeface="Meiryo UI" panose="020B0604030504040204" pitchFamily="34" charset="-128"/>
              </a:rPr>
              <a:t>年</a:t>
            </a:r>
            <a:r>
              <a:rPr lang="en-US" altLang="ja-JP" sz="1550" b="1" dirty="0">
                <a:latin typeface="Meiryo UI" panose="020B0604030504040204" pitchFamily="34" charset="-128"/>
                <a:ea typeface="Meiryo UI" panose="020B0604030504040204" pitchFamily="34" charset="-128"/>
              </a:rPr>
              <a:t>3</a:t>
            </a:r>
            <a:r>
              <a:rPr lang="ja-JP" altLang="en-US" sz="1550" b="1">
                <a:latin typeface="Meiryo UI" panose="020B0604030504040204" pitchFamily="34" charset="-128"/>
                <a:ea typeface="Meiryo UI" panose="020B0604030504040204" pitchFamily="34" charset="-128"/>
              </a:rPr>
              <a:t>月比 </a:t>
            </a:r>
            <a:r>
              <a:rPr lang="en-US" altLang="ja-JP" sz="1550" b="1" dirty="0">
                <a:latin typeface="Meiryo UI" panose="020B0604030504040204" pitchFamily="34" charset="-128"/>
                <a:ea typeface="Meiryo UI" panose="020B0604030504040204" pitchFamily="34" charset="-128"/>
              </a:rPr>
              <a:t>+31.8%</a:t>
            </a:r>
            <a:r>
              <a:rPr lang="ja-JP" altLang="en-US" sz="1550" b="1">
                <a:latin typeface="Meiryo UI" panose="020B0604030504040204" pitchFamily="34" charset="-128"/>
                <a:ea typeface="Meiryo UI" panose="020B0604030504040204" pitchFamily="34" charset="-128"/>
              </a:rPr>
              <a:t>）</a:t>
            </a:r>
            <a:endParaRPr lang="en-US" sz="1550" dirty="0">
              <a:latin typeface="Meiryo UI" panose="020B0604030504040204" pitchFamily="34" charset="-128"/>
              <a:ea typeface="Meiryo UI" panose="020B0604030504040204" pitchFamily="34" charset="-128"/>
            </a:endParaRPr>
          </a:p>
        </p:txBody>
      </p:sp>
      <p:sp>
        <p:nvSpPr>
          <p:cNvPr id="16" name="Text 14"/>
          <p:cNvSpPr/>
          <p:nvPr/>
        </p:nvSpPr>
        <p:spPr>
          <a:xfrm>
            <a:off x="9819561" y="3427718"/>
            <a:ext cx="3818573" cy="1991652"/>
          </a:xfrm>
          <a:prstGeom prst="rect">
            <a:avLst/>
          </a:prstGeom>
          <a:noFill/>
          <a:ln/>
        </p:spPr>
        <p:txBody>
          <a:bodyPr wrap="square" lIns="0" tIns="0" rIns="0" bIns="0" rtlCol="0" anchor="t"/>
          <a:lstStyle/>
          <a:p>
            <a:pPr marL="342900" indent="-342900">
              <a:lnSpc>
                <a:spcPts val="2500"/>
              </a:lnSpc>
              <a:buSzPct val="100000"/>
              <a:buChar char="•"/>
            </a:pPr>
            <a:r>
              <a:rPr lang="ja-JP" altLang="en-US" sz="1550" b="1">
                <a:latin typeface="Meiryo UI" panose="020B0604030504040204" pitchFamily="34" charset="-128"/>
                <a:ea typeface="Meiryo UI" panose="020B0604030504040204" pitchFamily="34" charset="-128"/>
              </a:rPr>
              <a:t>電力・都市ガス・水道</a:t>
            </a:r>
            <a:br>
              <a:rPr lang="ja-JP" altLang="en-US" sz="1550">
                <a:latin typeface="Meiryo UI" panose="020B0604030504040204" pitchFamily="34" charset="-128"/>
                <a:ea typeface="Meiryo UI" panose="020B0604030504040204" pitchFamily="34" charset="-128"/>
              </a:rPr>
            </a:br>
            <a:r>
              <a:rPr lang="ja-JP" altLang="en-US" sz="1550">
                <a:latin typeface="Meiryo UI" panose="020B0604030504040204" pitchFamily="34" charset="-128"/>
                <a:ea typeface="Meiryo UI" panose="020B0604030504040204" pitchFamily="34" charset="-128"/>
              </a:rPr>
              <a:t>**</a:t>
            </a:r>
            <a:r>
              <a:rPr lang="en-US" altLang="ja-JP" sz="1550" dirty="0">
                <a:latin typeface="Meiryo UI" panose="020B0604030504040204" pitchFamily="34" charset="-128"/>
                <a:ea typeface="Meiryo UI" panose="020B0604030504040204" pitchFamily="34" charset="-128"/>
              </a:rPr>
              <a:t>2021</a:t>
            </a:r>
            <a:r>
              <a:rPr lang="ja-JP" altLang="en-US" sz="1550">
                <a:latin typeface="Meiryo UI" panose="020B0604030504040204" pitchFamily="34" charset="-128"/>
                <a:ea typeface="Meiryo UI" panose="020B0604030504040204" pitchFamily="34" charset="-128"/>
              </a:rPr>
              <a:t>年</a:t>
            </a:r>
            <a:r>
              <a:rPr lang="en-US" altLang="ja-JP" sz="1550" dirty="0">
                <a:latin typeface="Meiryo UI" panose="020B0604030504040204" pitchFamily="34" charset="-128"/>
                <a:ea typeface="Meiryo UI" panose="020B0604030504040204" pitchFamily="34" charset="-128"/>
              </a:rPr>
              <a:t>1</a:t>
            </a:r>
            <a:r>
              <a:rPr lang="ja-JP" altLang="en-US" sz="1550">
                <a:latin typeface="Meiryo UI" panose="020B0604030504040204" pitchFamily="34" charset="-128"/>
                <a:ea typeface="Meiryo UI" panose="020B0604030504040204" pitchFamily="34" charset="-128"/>
              </a:rPr>
              <a:t>月</a:t>
            </a:r>
            <a:r>
              <a:rPr lang="en-US" altLang="ja-JP" sz="1550" dirty="0">
                <a:latin typeface="Meiryo UI" panose="020B0604030504040204" pitchFamily="34" charset="-128"/>
                <a:ea typeface="Meiryo UI" panose="020B0604030504040204" pitchFamily="34" charset="-128"/>
              </a:rPr>
              <a:t>=90.1 → 2025</a:t>
            </a:r>
            <a:r>
              <a:rPr lang="ja-JP" altLang="en-US" sz="1550">
                <a:latin typeface="Meiryo UI" panose="020B0604030504040204" pitchFamily="34" charset="-128"/>
                <a:ea typeface="Meiryo UI" panose="020B0604030504040204" pitchFamily="34" charset="-128"/>
              </a:rPr>
              <a:t>年</a:t>
            </a:r>
            <a:r>
              <a:rPr lang="en-US" altLang="ja-JP" sz="1550" dirty="0">
                <a:latin typeface="Meiryo UI" panose="020B0604030504040204" pitchFamily="34" charset="-128"/>
                <a:ea typeface="Meiryo UI" panose="020B0604030504040204" pitchFamily="34" charset="-128"/>
              </a:rPr>
              <a:t>7</a:t>
            </a:r>
            <a:r>
              <a:rPr lang="ja-JP" altLang="en-US" sz="1550">
                <a:latin typeface="Meiryo UI" panose="020B0604030504040204" pitchFamily="34" charset="-128"/>
                <a:ea typeface="Meiryo UI" panose="020B0604030504040204" pitchFamily="34" charset="-128"/>
              </a:rPr>
              <a:t>月</a:t>
            </a:r>
            <a:r>
              <a:rPr lang="en-US" altLang="ja-JP" sz="1550" dirty="0">
                <a:latin typeface="Meiryo UI" panose="020B0604030504040204" pitchFamily="34" charset="-128"/>
                <a:ea typeface="Meiryo UI" panose="020B0604030504040204" pitchFamily="34" charset="-128"/>
              </a:rPr>
              <a:t>=138.2</a:t>
            </a:r>
            <a:r>
              <a:rPr lang="ja-JP" altLang="en-US" sz="1550">
                <a:latin typeface="Meiryo UI" panose="020B0604030504040204" pitchFamily="34" charset="-128"/>
                <a:ea typeface="Meiryo UI" panose="020B0604030504040204" pitchFamily="34" charset="-128"/>
              </a:rPr>
              <a:t>（</a:t>
            </a:r>
            <a:r>
              <a:rPr lang="en-US" altLang="ja-JP" sz="1550" b="1" dirty="0">
                <a:latin typeface="Meiryo UI" panose="020B0604030504040204" pitchFamily="34" charset="-128"/>
                <a:ea typeface="Meiryo UI" panose="020B0604030504040204" pitchFamily="34" charset="-128"/>
              </a:rPr>
              <a:t>2021</a:t>
            </a:r>
            <a:r>
              <a:rPr lang="ja-JP" altLang="en-US" sz="1550" b="1">
                <a:latin typeface="Meiryo UI" panose="020B0604030504040204" pitchFamily="34" charset="-128"/>
                <a:ea typeface="Meiryo UI" panose="020B0604030504040204" pitchFamily="34" charset="-128"/>
              </a:rPr>
              <a:t>年</a:t>
            </a:r>
            <a:r>
              <a:rPr lang="en-US" altLang="ja-JP" sz="1550" b="1" dirty="0">
                <a:latin typeface="Meiryo UI" panose="020B0604030504040204" pitchFamily="34" charset="-128"/>
                <a:ea typeface="Meiryo UI" panose="020B0604030504040204" pitchFamily="34" charset="-128"/>
              </a:rPr>
              <a:t>1</a:t>
            </a:r>
            <a:r>
              <a:rPr lang="ja-JP" altLang="en-US" sz="1550" b="1">
                <a:latin typeface="Meiryo UI" panose="020B0604030504040204" pitchFamily="34" charset="-128"/>
                <a:ea typeface="Meiryo UI" panose="020B0604030504040204" pitchFamily="34" charset="-128"/>
              </a:rPr>
              <a:t>月比 </a:t>
            </a:r>
            <a:r>
              <a:rPr lang="en-US" altLang="ja-JP" sz="1550" b="1" dirty="0">
                <a:latin typeface="Meiryo UI" panose="020B0604030504040204" pitchFamily="34" charset="-128"/>
                <a:ea typeface="Meiryo UI" panose="020B0604030504040204" pitchFamily="34" charset="-128"/>
              </a:rPr>
              <a:t>+53.3%   </a:t>
            </a:r>
            <a:r>
              <a:rPr lang="en-US" altLang="ja-JP" sz="1550" dirty="0">
                <a:latin typeface="Meiryo UI" panose="020B0604030504040204" pitchFamily="34" charset="-128"/>
                <a:ea typeface="Meiryo UI" panose="020B0604030504040204" pitchFamily="34" charset="-128"/>
              </a:rPr>
              <a:t>※</a:t>
            </a:r>
            <a:r>
              <a:rPr lang="ja-JP" altLang="en-US" sz="1550">
                <a:latin typeface="Meiryo UI" panose="020B0604030504040204" pitchFamily="34" charset="-128"/>
                <a:ea typeface="Meiryo UI" panose="020B0604030504040204" pitchFamily="34" charset="-128"/>
              </a:rPr>
              <a:t>ピーク：</a:t>
            </a:r>
            <a:r>
              <a:rPr lang="en-US" altLang="ja-JP" sz="1550" b="1" dirty="0">
                <a:latin typeface="Meiryo UI" panose="020B0604030504040204" pitchFamily="34" charset="-128"/>
                <a:ea typeface="Meiryo UI" panose="020B0604030504040204" pitchFamily="34" charset="-128"/>
              </a:rPr>
              <a:t>2023</a:t>
            </a:r>
            <a:r>
              <a:rPr lang="ja-JP" altLang="en-US" sz="1550" b="1">
                <a:latin typeface="Meiryo UI" panose="020B0604030504040204" pitchFamily="34" charset="-128"/>
                <a:ea typeface="Meiryo UI" panose="020B0604030504040204" pitchFamily="34" charset="-128"/>
              </a:rPr>
              <a:t>年</a:t>
            </a:r>
            <a:r>
              <a:rPr lang="en-US" altLang="ja-JP" sz="1550" b="1" dirty="0">
                <a:latin typeface="Meiryo UI" panose="020B0604030504040204" pitchFamily="34" charset="-128"/>
                <a:ea typeface="Meiryo UI" panose="020B0604030504040204" pitchFamily="34" charset="-128"/>
              </a:rPr>
              <a:t>1</a:t>
            </a:r>
            <a:r>
              <a:rPr lang="ja-JP" altLang="en-US" sz="1550" b="1">
                <a:latin typeface="Meiryo UI" panose="020B0604030504040204" pitchFamily="34" charset="-128"/>
                <a:ea typeface="Meiryo UI" panose="020B0604030504040204" pitchFamily="34" charset="-128"/>
              </a:rPr>
              <a:t>月</a:t>
            </a:r>
            <a:r>
              <a:rPr lang="en-US" altLang="ja-JP" sz="1550" b="1" dirty="0">
                <a:latin typeface="Meiryo UI" panose="020B0604030504040204" pitchFamily="34" charset="-128"/>
                <a:ea typeface="Meiryo UI" panose="020B0604030504040204" pitchFamily="34" charset="-128"/>
              </a:rPr>
              <a:t>=169.7</a:t>
            </a:r>
            <a:r>
              <a:rPr lang="ja-JP" altLang="en-US" sz="1550" b="1">
                <a:latin typeface="Meiryo UI" panose="020B0604030504040204" pitchFamily="34" charset="-128"/>
                <a:ea typeface="Meiryo UI" panose="020B0604030504040204" pitchFamily="34" charset="-128"/>
              </a:rPr>
              <a:t>（</a:t>
            </a:r>
            <a:r>
              <a:rPr lang="en-US" altLang="ja-JP" sz="1550" b="1" dirty="0">
                <a:latin typeface="Meiryo UI" panose="020B0604030504040204" pitchFamily="34" charset="-128"/>
                <a:ea typeface="Meiryo UI" panose="020B0604030504040204" pitchFamily="34" charset="-128"/>
              </a:rPr>
              <a:t>2021</a:t>
            </a:r>
            <a:r>
              <a:rPr lang="ja-JP" altLang="en-US" sz="1550" b="1">
                <a:latin typeface="Meiryo UI" panose="020B0604030504040204" pitchFamily="34" charset="-128"/>
                <a:ea typeface="Meiryo UI" panose="020B0604030504040204" pitchFamily="34" charset="-128"/>
              </a:rPr>
              <a:t>年</a:t>
            </a:r>
            <a:r>
              <a:rPr lang="en-US" altLang="ja-JP" sz="1550" b="1" dirty="0">
                <a:latin typeface="Meiryo UI" panose="020B0604030504040204" pitchFamily="34" charset="-128"/>
                <a:ea typeface="Meiryo UI" panose="020B0604030504040204" pitchFamily="34" charset="-128"/>
              </a:rPr>
              <a:t>1</a:t>
            </a:r>
            <a:r>
              <a:rPr lang="ja-JP" altLang="en-US" sz="1550" b="1">
                <a:latin typeface="Meiryo UI" panose="020B0604030504040204" pitchFamily="34" charset="-128"/>
                <a:ea typeface="Meiryo UI" panose="020B0604030504040204" pitchFamily="34" charset="-128"/>
              </a:rPr>
              <a:t>月比 </a:t>
            </a:r>
            <a:r>
              <a:rPr lang="en-US" altLang="ja-JP" sz="1550" b="1" dirty="0">
                <a:latin typeface="Meiryo UI" panose="020B0604030504040204" pitchFamily="34" charset="-128"/>
                <a:ea typeface="Meiryo UI" panose="020B0604030504040204" pitchFamily="34" charset="-128"/>
              </a:rPr>
              <a:t>+88.4%</a:t>
            </a:r>
            <a:r>
              <a:rPr lang="ja-JP" altLang="en-US" sz="1550" b="1">
                <a:latin typeface="Meiryo UI" panose="020B0604030504040204" pitchFamily="34" charset="-128"/>
                <a:ea typeface="Meiryo UI" panose="020B0604030504040204" pitchFamily="34" charset="-128"/>
              </a:rPr>
              <a:t>）</a:t>
            </a:r>
            <a:endParaRPr lang="en-US" sz="1550" dirty="0">
              <a:latin typeface="Meiryo UI" panose="020B0604030504040204" pitchFamily="34" charset="-128"/>
              <a:ea typeface="Meiryo UI" panose="020B0604030504040204" pitchFamily="34" charset="-128"/>
            </a:endParaRPr>
          </a:p>
        </p:txBody>
      </p:sp>
      <p:sp>
        <p:nvSpPr>
          <p:cNvPr id="17" name="Text 15"/>
          <p:cNvSpPr/>
          <p:nvPr/>
        </p:nvSpPr>
        <p:spPr>
          <a:xfrm>
            <a:off x="9819561" y="5429229"/>
            <a:ext cx="3818573" cy="1991652"/>
          </a:xfrm>
          <a:prstGeom prst="rect">
            <a:avLst/>
          </a:prstGeom>
          <a:noFill/>
          <a:ln/>
        </p:spPr>
        <p:txBody>
          <a:bodyPr wrap="square" lIns="0" tIns="0" rIns="0" bIns="0" rtlCol="0" anchor="t"/>
          <a:lstStyle/>
          <a:p>
            <a:pPr marL="342900" indent="-342900">
              <a:lnSpc>
                <a:spcPts val="2500"/>
              </a:lnSpc>
              <a:buSzPct val="100000"/>
              <a:buChar char="•"/>
            </a:pPr>
            <a:r>
              <a:rPr lang="ja-JP" altLang="en-US" sz="1550" b="1">
                <a:latin typeface="Meiryo UI" panose="020B0604030504040204" pitchFamily="34" charset="-128"/>
                <a:ea typeface="Meiryo UI" panose="020B0604030504040204" pitchFamily="34" charset="-128"/>
              </a:rPr>
              <a:t>インキ</a:t>
            </a:r>
            <a:br>
              <a:rPr lang="ja-JP" altLang="en-US" sz="1550">
                <a:latin typeface="Meiryo UI" panose="020B0604030504040204" pitchFamily="34" charset="-128"/>
                <a:ea typeface="Meiryo UI" panose="020B0604030504040204" pitchFamily="34" charset="-128"/>
              </a:rPr>
            </a:br>
            <a:r>
              <a:rPr lang="ja-JP" altLang="en-US" sz="1550">
                <a:latin typeface="Meiryo UI" panose="020B0604030504040204" pitchFamily="34" charset="-128"/>
                <a:ea typeface="Meiryo UI" panose="020B0604030504040204" pitchFamily="34" charset="-128"/>
              </a:rPr>
              <a:t>東洋インキ：</a:t>
            </a:r>
            <a:r>
              <a:rPr lang="ja-JP" altLang="en-US" sz="1550" b="1">
                <a:latin typeface="Meiryo UI" panose="020B0604030504040204" pitchFamily="34" charset="-128"/>
                <a:ea typeface="Meiryo UI" panose="020B0604030504040204" pitchFamily="34" charset="-128"/>
              </a:rPr>
              <a:t>オフ輪 </a:t>
            </a:r>
            <a:r>
              <a:rPr lang="en-US" altLang="ja-JP" sz="1550" b="1" dirty="0">
                <a:latin typeface="Meiryo UI" panose="020B0604030504040204" pitchFamily="34" charset="-128"/>
                <a:ea typeface="Meiryo UI" panose="020B0604030504040204" pitchFamily="34" charset="-128"/>
              </a:rPr>
              <a:t>+60</a:t>
            </a:r>
            <a:r>
              <a:rPr lang="ja-JP" altLang="en-US" sz="1550" b="1">
                <a:latin typeface="Meiryo UI" panose="020B0604030504040204" pitchFamily="34" charset="-128"/>
                <a:ea typeface="Meiryo UI" panose="020B0604030504040204" pitchFamily="34" charset="-128"/>
              </a:rPr>
              <a:t>円</a:t>
            </a:r>
            <a:r>
              <a:rPr lang="en-US" altLang="ja-JP" sz="1550" b="1" dirty="0">
                <a:latin typeface="Meiryo UI" panose="020B0604030504040204" pitchFamily="34" charset="-128"/>
                <a:ea typeface="Meiryo UI" panose="020B0604030504040204" pitchFamily="34" charset="-128"/>
              </a:rPr>
              <a:t>/</a:t>
            </a:r>
            <a:r>
              <a:rPr lang="en" altLang="ja-GU" sz="1550" b="1" dirty="0">
                <a:latin typeface="Meiryo UI" panose="020B0604030504040204" pitchFamily="34" charset="-128"/>
                <a:ea typeface="Meiryo UI" panose="020B0604030504040204" pitchFamily="34" charset="-128"/>
              </a:rPr>
              <a:t>kg</a:t>
            </a:r>
            <a:r>
              <a:rPr lang="ja-JP" altLang="en-US" sz="1550" b="1">
                <a:latin typeface="Meiryo UI" panose="020B0604030504040204" pitchFamily="34" charset="-128"/>
                <a:ea typeface="Meiryo UI" panose="020B0604030504040204" pitchFamily="34" charset="-128"/>
              </a:rPr>
              <a:t>以上</a:t>
            </a:r>
            <a:r>
              <a:rPr lang="en-US" altLang="ja-JP" sz="1550" b="1" dirty="0">
                <a:latin typeface="Meiryo UI" panose="020B0604030504040204" pitchFamily="34" charset="-128"/>
                <a:ea typeface="Meiryo UI" panose="020B0604030504040204" pitchFamily="34" charset="-128"/>
              </a:rPr>
              <a:t>     </a:t>
            </a:r>
            <a:r>
              <a:rPr lang="ja-JP" altLang="en-US" sz="1550" b="1">
                <a:latin typeface="Meiryo UI" panose="020B0604030504040204" pitchFamily="34" charset="-128"/>
                <a:ea typeface="Meiryo UI" panose="020B0604030504040204" pitchFamily="34" charset="-128"/>
              </a:rPr>
              <a:t>枚葉 </a:t>
            </a:r>
            <a:r>
              <a:rPr lang="en-US" altLang="ja-JP" sz="1550" b="1" dirty="0">
                <a:latin typeface="Meiryo UI" panose="020B0604030504040204" pitchFamily="34" charset="-128"/>
                <a:ea typeface="Meiryo UI" panose="020B0604030504040204" pitchFamily="34" charset="-128"/>
              </a:rPr>
              <a:t>+150</a:t>
            </a:r>
            <a:r>
              <a:rPr lang="ja-JP" altLang="en-US" sz="1550" b="1">
                <a:latin typeface="Meiryo UI" panose="020B0604030504040204" pitchFamily="34" charset="-128"/>
                <a:ea typeface="Meiryo UI" panose="020B0604030504040204" pitchFamily="34" charset="-128"/>
              </a:rPr>
              <a:t>円</a:t>
            </a:r>
            <a:r>
              <a:rPr lang="en-US" altLang="ja-JP" sz="1550" b="1" dirty="0">
                <a:latin typeface="Meiryo UI" panose="020B0604030504040204" pitchFamily="34" charset="-128"/>
                <a:ea typeface="Meiryo UI" panose="020B0604030504040204" pitchFamily="34" charset="-128"/>
              </a:rPr>
              <a:t>/</a:t>
            </a:r>
            <a:r>
              <a:rPr lang="en" altLang="ja-GU" sz="1550" b="1" dirty="0">
                <a:latin typeface="Meiryo UI" panose="020B0604030504040204" pitchFamily="34" charset="-128"/>
                <a:ea typeface="Meiryo UI" panose="020B0604030504040204" pitchFamily="34" charset="-128"/>
              </a:rPr>
              <a:t>kg</a:t>
            </a:r>
            <a:r>
              <a:rPr lang="ja-JP" altLang="en-US" sz="1550" b="1">
                <a:latin typeface="Meiryo UI" panose="020B0604030504040204" pitchFamily="34" charset="-128"/>
                <a:ea typeface="Meiryo UI" panose="020B0604030504040204" pitchFamily="34" charset="-128"/>
              </a:rPr>
              <a:t>以上、</a:t>
            </a:r>
            <a:r>
              <a:rPr lang="en" altLang="ja-GU" sz="1550" b="1" dirty="0">
                <a:latin typeface="Meiryo UI" panose="020B0604030504040204" pitchFamily="34" charset="-128"/>
                <a:ea typeface="Meiryo UI" panose="020B0604030504040204" pitchFamily="34" charset="-128"/>
              </a:rPr>
              <a:t>UV +100</a:t>
            </a:r>
            <a:r>
              <a:rPr lang="ja-JP" altLang="en-US" sz="1550" b="1">
                <a:latin typeface="Meiryo UI" panose="020B0604030504040204" pitchFamily="34" charset="-128"/>
                <a:ea typeface="Meiryo UI" panose="020B0604030504040204" pitchFamily="34" charset="-128"/>
              </a:rPr>
              <a:t>円</a:t>
            </a:r>
            <a:r>
              <a:rPr lang="en-US" altLang="ja-JP" sz="1550" b="1" dirty="0">
                <a:latin typeface="Meiryo UI" panose="020B0604030504040204" pitchFamily="34" charset="-128"/>
                <a:ea typeface="Meiryo UI" panose="020B0604030504040204" pitchFamily="34" charset="-128"/>
              </a:rPr>
              <a:t>/</a:t>
            </a:r>
            <a:r>
              <a:rPr lang="en" altLang="ja-GU" sz="1550" b="1" dirty="0">
                <a:latin typeface="Meiryo UI" panose="020B0604030504040204" pitchFamily="34" charset="-128"/>
                <a:ea typeface="Meiryo UI" panose="020B0604030504040204" pitchFamily="34" charset="-128"/>
              </a:rPr>
              <a:t>kg</a:t>
            </a:r>
            <a:r>
              <a:rPr lang="ja-JP" altLang="en-US" sz="1550" b="1">
                <a:latin typeface="Meiryo UI" panose="020B0604030504040204" pitchFamily="34" charset="-128"/>
                <a:ea typeface="Meiryo UI" panose="020B0604030504040204" pitchFamily="34" charset="-128"/>
              </a:rPr>
              <a:t>以上</a:t>
            </a:r>
            <a:r>
              <a:rPr lang="ja-JP" altLang="en-US" sz="1550">
                <a:latin typeface="Meiryo UI" panose="020B0604030504040204" pitchFamily="34" charset="-128"/>
                <a:ea typeface="Meiryo UI" panose="020B0604030504040204" pitchFamily="34" charset="-128"/>
              </a:rPr>
              <a:t>（主に</a:t>
            </a:r>
            <a:r>
              <a:rPr lang="en-US" altLang="ja-JP" sz="1550" dirty="0">
                <a:latin typeface="Meiryo UI" panose="020B0604030504040204" pitchFamily="34" charset="-128"/>
                <a:ea typeface="Meiryo UI" panose="020B0604030504040204" pitchFamily="34" charset="-128"/>
              </a:rPr>
              <a:t>2022</a:t>
            </a:r>
            <a:r>
              <a:rPr lang="ja-JP" altLang="en-US" sz="1550">
                <a:latin typeface="Meiryo UI" panose="020B0604030504040204" pitchFamily="34" charset="-128"/>
                <a:ea typeface="Meiryo UI" panose="020B0604030504040204" pitchFamily="34" charset="-128"/>
              </a:rPr>
              <a:t>年発表）</a:t>
            </a:r>
            <a:br>
              <a:rPr lang="ja-JP" altLang="en-US" sz="1550">
                <a:latin typeface="Meiryo UI" panose="020B0604030504040204" pitchFamily="34" charset="-128"/>
                <a:ea typeface="Meiryo UI" panose="020B0604030504040204" pitchFamily="34" charset="-128"/>
              </a:rPr>
            </a:br>
            <a:r>
              <a:rPr lang="en" altLang="ja-GU" sz="1550" dirty="0">
                <a:latin typeface="Meiryo UI" panose="020B0604030504040204" pitchFamily="34" charset="-128"/>
                <a:ea typeface="Meiryo UI" panose="020B0604030504040204" pitchFamily="34" charset="-128"/>
              </a:rPr>
              <a:t>DIC</a:t>
            </a:r>
            <a:r>
              <a:rPr lang="ja-GU" altLang="en" sz="1550" dirty="0">
                <a:latin typeface="Meiryo UI" panose="020B0604030504040204" pitchFamily="34" charset="-128"/>
                <a:ea typeface="Meiryo UI" panose="020B0604030504040204" pitchFamily="34" charset="-128"/>
              </a:rPr>
              <a:t>：</a:t>
            </a:r>
            <a:r>
              <a:rPr lang="en" altLang="ja-GU" sz="1550" b="1" dirty="0">
                <a:latin typeface="Meiryo UI" panose="020B0604030504040204" pitchFamily="34" charset="-128"/>
                <a:ea typeface="Meiryo UI" panose="020B0604030504040204" pitchFamily="34" charset="-128"/>
              </a:rPr>
              <a:t>+50〜100</a:t>
            </a:r>
            <a:r>
              <a:rPr lang="ja-JP" altLang="en-US" sz="1550" b="1">
                <a:latin typeface="Meiryo UI" panose="020B0604030504040204" pitchFamily="34" charset="-128"/>
                <a:ea typeface="Meiryo UI" panose="020B0604030504040204" pitchFamily="34" charset="-128"/>
              </a:rPr>
              <a:t>円</a:t>
            </a:r>
            <a:r>
              <a:rPr lang="en-US" altLang="ja-JP" sz="1550" b="1" dirty="0">
                <a:latin typeface="Meiryo UI" panose="020B0604030504040204" pitchFamily="34" charset="-128"/>
                <a:ea typeface="Meiryo UI" panose="020B0604030504040204" pitchFamily="34" charset="-128"/>
              </a:rPr>
              <a:t>/</a:t>
            </a:r>
            <a:r>
              <a:rPr lang="en" altLang="ja-GU" sz="1550" b="1" dirty="0">
                <a:latin typeface="Meiryo UI" panose="020B0604030504040204" pitchFamily="34" charset="-128"/>
                <a:ea typeface="Meiryo UI" panose="020B0604030504040204" pitchFamily="34" charset="-128"/>
              </a:rPr>
              <a:t>kg</a:t>
            </a:r>
            <a:r>
              <a:rPr lang="ja-GU" altLang="en" sz="1550" dirty="0">
                <a:latin typeface="Meiryo UI" panose="020B0604030504040204" pitchFamily="34" charset="-128"/>
                <a:ea typeface="Meiryo UI" panose="020B0604030504040204" pitchFamily="34" charset="-128"/>
              </a:rPr>
              <a:t>（</a:t>
            </a:r>
            <a:r>
              <a:rPr lang="ja-JP" altLang="en-US" sz="1550">
                <a:latin typeface="Meiryo UI" panose="020B0604030504040204" pitchFamily="34" charset="-128"/>
                <a:ea typeface="Meiryo UI" panose="020B0604030504040204" pitchFamily="34" charset="-128"/>
              </a:rPr>
              <a:t>品種による</a:t>
            </a:r>
            <a:r>
              <a:rPr lang="en-US" altLang="ja-JP" sz="1550" dirty="0">
                <a:latin typeface="Meiryo UI" panose="020B0604030504040204" pitchFamily="34" charset="-128"/>
                <a:ea typeface="Meiryo UI" panose="020B0604030504040204" pitchFamily="34" charset="-128"/>
              </a:rPr>
              <a:t>  </a:t>
            </a:r>
            <a:r>
              <a:rPr lang="ja-JP" altLang="en-US" sz="1550">
                <a:latin typeface="Meiryo UI" panose="020B0604030504040204" pitchFamily="34" charset="-128"/>
                <a:ea typeface="Meiryo UI" panose="020B0604030504040204" pitchFamily="34" charset="-128"/>
              </a:rPr>
              <a:t>主に</a:t>
            </a:r>
            <a:r>
              <a:rPr lang="en-US" altLang="ja-JP" sz="1550" dirty="0">
                <a:latin typeface="Meiryo UI" panose="020B0604030504040204" pitchFamily="34" charset="-128"/>
                <a:ea typeface="Meiryo UI" panose="020B0604030504040204" pitchFamily="34" charset="-128"/>
              </a:rPr>
              <a:t>2022</a:t>
            </a:r>
            <a:r>
              <a:rPr lang="ja-JP" altLang="en-US" sz="1550">
                <a:latin typeface="Meiryo UI" panose="020B0604030504040204" pitchFamily="34" charset="-128"/>
                <a:ea typeface="Meiryo UI" panose="020B0604030504040204" pitchFamily="34" charset="-128"/>
              </a:rPr>
              <a:t>年発表）</a:t>
            </a:r>
            <a:endParaRPr lang="en-US" sz="1550" dirty="0">
              <a:latin typeface="Meiryo UI" panose="020B0604030504040204" pitchFamily="34" charset="-128"/>
              <a:ea typeface="Meiryo UI" panose="020B0604030504040204" pitchFamily="34" charset="-128"/>
            </a:endParaRPr>
          </a:p>
        </p:txBody>
      </p:sp>
      <p:sp>
        <p:nvSpPr>
          <p:cNvPr id="18" name="Text 16"/>
          <p:cNvSpPr/>
          <p:nvPr/>
        </p:nvSpPr>
        <p:spPr>
          <a:xfrm>
            <a:off x="793671" y="7610323"/>
            <a:ext cx="13042821" cy="254079"/>
          </a:xfrm>
          <a:prstGeom prst="rect">
            <a:avLst/>
          </a:prstGeom>
          <a:noFill/>
          <a:ln/>
        </p:spPr>
        <p:txBody>
          <a:bodyPr wrap="none" lIns="0" tIns="0" rIns="0" bIns="0" rtlCol="0" anchor="t"/>
          <a:lstStyle/>
          <a:p>
            <a:pPr marL="0" indent="0" algn="r">
              <a:lnSpc>
                <a:spcPts val="2000"/>
              </a:lnSpc>
              <a:buNone/>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出荷額・事業所=JAGAT/日印産連、広告費=電通、日本の広告費2024、物価指数=日銀、インキ=メーカー発表。</a:t>
            </a:r>
            <a:endParaRPr lang="en-US" sz="1250" dirty="0">
              <a:latin typeface="Meiryo UI" panose="020B0604030504040204" pitchFamily="34" charset="-128"/>
              <a:ea typeface="Meiryo UI" panose="020B0604030504040204" pitchFamily="34" charset="-128"/>
            </a:endParaRPr>
          </a:p>
        </p:txBody>
      </p:sp>
      <p:sp>
        <p:nvSpPr>
          <p:cNvPr id="20" name="テキスト ボックス 19">
            <a:extLst>
              <a:ext uri="{FF2B5EF4-FFF2-40B4-BE49-F238E27FC236}">
                <a16:creationId xmlns:a16="http://schemas.microsoft.com/office/drawing/2014/main" id="{9F0421D5-ABD5-9C4B-06F1-3F9A186C01F7}"/>
              </a:ext>
            </a:extLst>
          </p:cNvPr>
          <p:cNvSpPr txBox="1"/>
          <p:nvPr/>
        </p:nvSpPr>
        <p:spPr>
          <a:xfrm>
            <a:off x="9819561" y="5177677"/>
            <a:ext cx="3500334" cy="253916"/>
          </a:xfrm>
          <a:prstGeom prst="rect">
            <a:avLst/>
          </a:prstGeom>
          <a:noFill/>
        </p:spPr>
        <p:txBody>
          <a:bodyPr wrap="square">
            <a:spAutoFit/>
          </a:bodyPr>
          <a:lstStyle/>
          <a:p>
            <a:r>
              <a:rPr lang="ja-JP" altLang="en-US" sz="1050">
                <a:latin typeface="Meiryo UI" panose="020B0604030504040204" pitchFamily="34" charset="-128"/>
                <a:ea typeface="Meiryo UI" panose="020B0604030504040204" pitchFamily="34" charset="-128"/>
              </a:rPr>
              <a:t> </a:t>
            </a:r>
            <a:r>
              <a:rPr lang="en-US" altLang="ja-JP" sz="1050" dirty="0">
                <a:latin typeface="Meiryo UI" panose="020B0604030504040204" pitchFamily="34" charset="-128"/>
                <a:ea typeface="Meiryo UI" panose="020B0604030504040204" pitchFamily="34" charset="-128"/>
              </a:rPr>
              <a:t>(</a:t>
            </a:r>
            <a:r>
              <a:rPr lang="ja-JP" altLang="en-US" sz="1050">
                <a:latin typeface="Meiryo UI" panose="020B0604030504040204" pitchFamily="34" charset="-128"/>
                <a:ea typeface="Meiryo UI" panose="020B0604030504040204" pitchFamily="34" charset="-128"/>
              </a:rPr>
              <a:t>メーカー公表の改定幅、比較基準＝改定直前価格比</a:t>
            </a:r>
            <a:r>
              <a:rPr lang="en-US" altLang="ja-JP" sz="1050" dirty="0">
                <a:latin typeface="Meiryo UI" panose="020B0604030504040204" pitchFamily="34" charset="-128"/>
                <a:ea typeface="Meiryo UI" panose="020B0604030504040204" pitchFamily="34" charset="-128"/>
              </a:rPr>
              <a:t>)</a:t>
            </a:r>
            <a:endParaRPr lang="ja-GU" alt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96835" y="422112"/>
            <a:ext cx="2092085" cy="261548"/>
          </a:xfrm>
          <a:prstGeom prst="rect">
            <a:avLst/>
          </a:prstGeom>
          <a:noFill/>
          <a:ln/>
        </p:spPr>
        <p:txBody>
          <a:bodyPr wrap="none" lIns="0" tIns="0" rIns="0" bIns="0" rtlCol="0" anchor="t"/>
          <a:lstStyle/>
          <a:p>
            <a:pPr marL="0" indent="0" algn="l">
              <a:lnSpc>
                <a:spcPts val="2400"/>
              </a:lnSpc>
              <a:buNone/>
            </a:pPr>
            <a:r>
              <a:rPr lang="en-US" sz="3600" b="1" dirty="0">
                <a:solidFill>
                  <a:srgbClr val="030303"/>
                </a:solidFill>
                <a:latin typeface="Meiryo UI" panose="020B0604030504040204" pitchFamily="34" charset="-128"/>
                <a:ea typeface="Meiryo UI" panose="020B0604030504040204" pitchFamily="34" charset="-128"/>
                <a:cs typeface="DM Sans Semi Bold" pitchFamily="34" charset="-120"/>
              </a:rPr>
              <a:t>業界マクロの示唆</a:t>
            </a:r>
            <a:endParaRPr lang="en-US" sz="3600" b="1" dirty="0">
              <a:latin typeface="Meiryo UI" panose="020B0604030504040204" pitchFamily="34" charset="-128"/>
              <a:ea typeface="Meiryo UI" panose="020B0604030504040204" pitchFamily="34" charset="-128"/>
            </a:endParaRPr>
          </a:p>
        </p:txBody>
      </p:sp>
      <p:sp>
        <p:nvSpPr>
          <p:cNvPr id="3" name="Text 1"/>
          <p:cNvSpPr/>
          <p:nvPr/>
        </p:nvSpPr>
        <p:spPr>
          <a:xfrm>
            <a:off x="442553" y="878639"/>
            <a:ext cx="1512261" cy="130724"/>
          </a:xfrm>
          <a:prstGeom prst="rect">
            <a:avLst/>
          </a:prstGeom>
          <a:noFill/>
          <a:ln/>
        </p:spPr>
        <p:txBody>
          <a:bodyPr wrap="none" lIns="0" tIns="0" rIns="0" bIns="0" rtlCol="0" anchor="t"/>
          <a:lstStyle/>
          <a:p>
            <a:pPr marL="0" indent="0" algn="l">
              <a:lnSpc>
                <a:spcPts val="1200"/>
              </a:lnSpc>
              <a:buNone/>
            </a:pPr>
            <a:r>
              <a:rPr lang="en-US" dirty="0" err="1">
                <a:solidFill>
                  <a:srgbClr val="030303"/>
                </a:solidFill>
                <a:latin typeface="Meiryo UI" panose="020B0604030504040204" pitchFamily="34" charset="-128"/>
                <a:ea typeface="Meiryo UI" panose="020B0604030504040204" pitchFamily="34" charset="-128"/>
                <a:cs typeface="DM Sans Semi Bold" pitchFamily="34" charset="-120"/>
              </a:rPr>
              <a:t>広告費の構造</a:t>
            </a:r>
            <a:endParaRPr lang="en-US" dirty="0">
              <a:latin typeface="Meiryo UI" panose="020B0604030504040204" pitchFamily="34" charset="-128"/>
              <a:ea typeface="Meiryo UI" panose="020B0604030504040204" pitchFamily="34" charset="-128"/>
            </a:endParaRPr>
          </a:p>
        </p:txBody>
      </p:sp>
      <p:sp>
        <p:nvSpPr>
          <p:cNvPr id="5" name="Text 2"/>
          <p:cNvSpPr/>
          <p:nvPr/>
        </p:nvSpPr>
        <p:spPr>
          <a:xfrm>
            <a:off x="396835" y="8895755"/>
            <a:ext cx="11668165" cy="107130"/>
          </a:xfrm>
          <a:prstGeom prst="rect">
            <a:avLst/>
          </a:prstGeom>
          <a:noFill/>
          <a:ln/>
        </p:spPr>
        <p:txBody>
          <a:bodyPr wrap="none" lIns="0" tIns="0" rIns="0" bIns="0" rtlCol="0" anchor="t"/>
          <a:lstStyle/>
          <a:p>
            <a:pPr marL="0" indent="0" algn="r">
              <a:lnSpc>
                <a:spcPts val="1000"/>
              </a:lnSpc>
              <a:buNone/>
            </a:pPr>
            <a:r>
              <a:rPr lang="en-US" sz="600" dirty="0">
                <a:solidFill>
                  <a:srgbClr val="464646"/>
                </a:solidFill>
                <a:latin typeface="Meiryo UI" panose="020B0604030504040204" pitchFamily="34" charset="-128"/>
                <a:ea typeface="Meiryo UI" panose="020B0604030504040204" pitchFamily="34" charset="-128"/>
                <a:cs typeface="Inter Medium" pitchFamily="34" charset="-120"/>
              </a:rPr>
              <a:t>出典：電通「2024年 日本の広告費」</a:t>
            </a:r>
            <a:endParaRPr lang="en-US" sz="600" dirty="0">
              <a:latin typeface="Meiryo UI" panose="020B0604030504040204" pitchFamily="34" charset="-128"/>
              <a:ea typeface="Meiryo UI" panose="020B0604030504040204" pitchFamily="34" charset="-128"/>
            </a:endParaRPr>
          </a:p>
        </p:txBody>
      </p:sp>
      <p:sp>
        <p:nvSpPr>
          <p:cNvPr id="6" name="Text 3"/>
          <p:cNvSpPr/>
          <p:nvPr/>
        </p:nvSpPr>
        <p:spPr>
          <a:xfrm>
            <a:off x="396834" y="1272164"/>
            <a:ext cx="2307247" cy="130724"/>
          </a:xfrm>
          <a:prstGeom prst="rect">
            <a:avLst/>
          </a:prstGeom>
          <a:noFill/>
          <a:ln/>
        </p:spPr>
        <p:txBody>
          <a:bodyPr wrap="none" lIns="0" tIns="0" rIns="0" bIns="0" rtlCol="0" anchor="t"/>
          <a:lstStyle/>
          <a:p>
            <a:pPr marL="0" indent="0" algn="l">
              <a:lnSpc>
                <a:spcPts val="1200"/>
              </a:lnSpc>
              <a:buNone/>
            </a:pPr>
            <a:r>
              <a:rPr lang="en-US" sz="1050" dirty="0">
                <a:solidFill>
                  <a:srgbClr val="030303"/>
                </a:solidFill>
                <a:latin typeface="Meiryo UI" panose="020B0604030504040204" pitchFamily="34" charset="-128"/>
                <a:ea typeface="Meiryo UI" panose="020B0604030504040204" pitchFamily="34" charset="-128"/>
                <a:cs typeface="DM Sans Semi Bold" pitchFamily="34" charset="-120"/>
              </a:rPr>
              <a:t>コスト指標の推移（相対指数、基準=2021=100）</a:t>
            </a:r>
            <a:endParaRPr lang="en-US" sz="1050" dirty="0">
              <a:latin typeface="Meiryo UI" panose="020B0604030504040204" pitchFamily="34" charset="-128"/>
              <a:ea typeface="Meiryo UI" panose="020B0604030504040204" pitchFamily="34" charset="-128"/>
            </a:endParaRPr>
          </a:p>
        </p:txBody>
      </p:sp>
      <p:sp>
        <p:nvSpPr>
          <p:cNvPr id="8" name="Shape 4"/>
          <p:cNvSpPr/>
          <p:nvPr/>
        </p:nvSpPr>
        <p:spPr>
          <a:xfrm>
            <a:off x="6979682" y="16926163"/>
            <a:ext cx="83635" cy="83635"/>
          </a:xfrm>
          <a:prstGeom prst="roundRect">
            <a:avLst>
              <a:gd name="adj" fmla="val 18439"/>
            </a:avLst>
          </a:prstGeom>
          <a:solidFill>
            <a:srgbClr val="0C4130"/>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9" name="Text 5"/>
          <p:cNvSpPr/>
          <p:nvPr/>
        </p:nvSpPr>
        <p:spPr>
          <a:xfrm>
            <a:off x="7139821" y="16926163"/>
            <a:ext cx="83635" cy="83635"/>
          </a:xfrm>
          <a:prstGeom prst="rect">
            <a:avLst/>
          </a:prstGeom>
          <a:noFill/>
          <a:ln/>
        </p:spPr>
        <p:txBody>
          <a:bodyPr wrap="none" lIns="0" tIns="0" rIns="0" bIns="0" rtlCol="0" anchor="t"/>
          <a:lstStyle/>
          <a:p>
            <a:pPr marL="0" indent="0" algn="l">
              <a:lnSpc>
                <a:spcPts val="750"/>
              </a:lnSpc>
              <a:buNone/>
            </a:pPr>
            <a:r>
              <a:rPr lang="en-US" sz="750" dirty="0">
                <a:solidFill>
                  <a:srgbClr val="464646"/>
                </a:solidFill>
                <a:latin typeface="Meiryo UI" panose="020B0604030504040204" pitchFamily="34" charset="-128"/>
                <a:ea typeface="Meiryo UI" panose="020B0604030504040204" pitchFamily="34" charset="-128"/>
                <a:cs typeface="Inter Medium" pitchFamily="34" charset="-120"/>
              </a:rPr>
              <a:t>紙</a:t>
            </a:r>
            <a:endParaRPr lang="en-US" sz="750" dirty="0">
              <a:latin typeface="Meiryo UI" panose="020B0604030504040204" pitchFamily="34" charset="-128"/>
              <a:ea typeface="Meiryo UI" panose="020B0604030504040204" pitchFamily="34" charset="-128"/>
            </a:endParaRPr>
          </a:p>
        </p:txBody>
      </p:sp>
      <p:sp>
        <p:nvSpPr>
          <p:cNvPr id="10" name="Shape 6"/>
          <p:cNvSpPr/>
          <p:nvPr/>
        </p:nvSpPr>
        <p:spPr>
          <a:xfrm>
            <a:off x="7391400" y="16926163"/>
            <a:ext cx="83635" cy="83635"/>
          </a:xfrm>
          <a:prstGeom prst="roundRect">
            <a:avLst>
              <a:gd name="adj" fmla="val 18439"/>
            </a:avLst>
          </a:prstGeom>
          <a:solidFill>
            <a:srgbClr val="157255"/>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11" name="Text 7"/>
          <p:cNvSpPr/>
          <p:nvPr/>
        </p:nvSpPr>
        <p:spPr>
          <a:xfrm>
            <a:off x="7551540" y="16926163"/>
            <a:ext cx="669082" cy="83635"/>
          </a:xfrm>
          <a:prstGeom prst="rect">
            <a:avLst/>
          </a:prstGeom>
          <a:noFill/>
          <a:ln/>
        </p:spPr>
        <p:txBody>
          <a:bodyPr wrap="none" lIns="0" tIns="0" rIns="0" bIns="0" rtlCol="0" anchor="t"/>
          <a:lstStyle/>
          <a:p>
            <a:pPr marL="0" indent="0" algn="l">
              <a:lnSpc>
                <a:spcPts val="750"/>
              </a:lnSpc>
              <a:buNone/>
            </a:pPr>
            <a:r>
              <a:rPr lang="en-US" sz="750" dirty="0">
                <a:solidFill>
                  <a:srgbClr val="464646"/>
                </a:solidFill>
                <a:latin typeface="Meiryo UI" panose="020B0604030504040204" pitchFamily="34" charset="-128"/>
                <a:ea typeface="Meiryo UI" panose="020B0604030504040204" pitchFamily="34" charset="-128"/>
                <a:cs typeface="Inter Medium" pitchFamily="34" charset="-120"/>
              </a:rPr>
              <a:t>電力・ガス・水道</a:t>
            </a:r>
            <a:endParaRPr lang="en-US" sz="750" dirty="0">
              <a:latin typeface="Meiryo UI" panose="020B0604030504040204" pitchFamily="34" charset="-128"/>
              <a:ea typeface="Meiryo UI" panose="020B0604030504040204" pitchFamily="34" charset="-128"/>
            </a:endParaRPr>
          </a:p>
        </p:txBody>
      </p:sp>
      <p:sp>
        <p:nvSpPr>
          <p:cNvPr id="12" name="Text 8"/>
          <p:cNvSpPr/>
          <p:nvPr/>
        </p:nvSpPr>
        <p:spPr>
          <a:xfrm>
            <a:off x="396835" y="17335501"/>
            <a:ext cx="11668165" cy="133736"/>
          </a:xfrm>
          <a:prstGeom prst="rect">
            <a:avLst/>
          </a:prstGeom>
          <a:noFill/>
          <a:ln/>
        </p:spPr>
        <p:txBody>
          <a:bodyPr wrap="none" lIns="0" tIns="0" rIns="0" bIns="0" rtlCol="0" anchor="t"/>
          <a:lstStyle/>
          <a:p>
            <a:pPr marL="0" indent="0" algn="l">
              <a:lnSpc>
                <a:spcPts val="1250"/>
              </a:lnSpc>
              <a:buNone/>
            </a:pPr>
            <a:r>
              <a:rPr lang="en-US" sz="750" dirty="0">
                <a:solidFill>
                  <a:srgbClr val="464646"/>
                </a:solidFill>
                <a:latin typeface="Meiryo UI" panose="020B0604030504040204" pitchFamily="34" charset="-128"/>
                <a:ea typeface="Meiryo UI" panose="020B0604030504040204" pitchFamily="34" charset="-128"/>
                <a:cs typeface="Inter Medium" pitchFamily="34" charset="-120"/>
              </a:rPr>
              <a:t>インキ：指数化困難のため表示せず（</a:t>
            </a:r>
            <a:r>
              <a:rPr lang="en-US" sz="750" b="1" dirty="0">
                <a:solidFill>
                  <a:srgbClr val="464646"/>
                </a:solidFill>
                <a:latin typeface="Meiryo UI" panose="020B0604030504040204" pitchFamily="34" charset="-128"/>
                <a:ea typeface="Meiryo UI" panose="020B0604030504040204" pitchFamily="34" charset="-128"/>
                <a:cs typeface="Inter Medium" pitchFamily="34" charset="-120"/>
              </a:rPr>
              <a:t>+60〜150円/kg</a:t>
            </a:r>
            <a:r>
              <a:rPr lang="en-US" sz="750" dirty="0">
                <a:solidFill>
                  <a:srgbClr val="464646"/>
                </a:solidFill>
                <a:latin typeface="Meiryo UI" panose="020B0604030504040204" pitchFamily="34" charset="-128"/>
                <a:ea typeface="Meiryo UI" panose="020B0604030504040204" pitchFamily="34" charset="-128"/>
                <a:cs typeface="Inter Medium" pitchFamily="34" charset="-120"/>
              </a:rPr>
              <a:t>等の改定幅）</a:t>
            </a:r>
            <a:endParaRPr lang="en-US" sz="750" dirty="0">
              <a:latin typeface="Meiryo UI" panose="020B0604030504040204" pitchFamily="34" charset="-128"/>
              <a:ea typeface="Meiryo UI" panose="020B0604030504040204" pitchFamily="34" charset="-128"/>
            </a:endParaRPr>
          </a:p>
        </p:txBody>
      </p:sp>
      <p:sp>
        <p:nvSpPr>
          <p:cNvPr id="13" name="Text 9"/>
          <p:cNvSpPr/>
          <p:nvPr/>
        </p:nvSpPr>
        <p:spPr>
          <a:xfrm>
            <a:off x="396835" y="17605653"/>
            <a:ext cx="11668165" cy="107130"/>
          </a:xfrm>
          <a:prstGeom prst="rect">
            <a:avLst/>
          </a:prstGeom>
          <a:noFill/>
          <a:ln/>
        </p:spPr>
        <p:txBody>
          <a:bodyPr wrap="none" lIns="0" tIns="0" rIns="0" bIns="0" rtlCol="0" anchor="t"/>
          <a:lstStyle/>
          <a:p>
            <a:pPr marL="0" indent="0" algn="r">
              <a:lnSpc>
                <a:spcPts val="1000"/>
              </a:lnSpc>
              <a:buNone/>
            </a:pPr>
            <a:r>
              <a:rPr lang="en-US" sz="600" dirty="0">
                <a:solidFill>
                  <a:srgbClr val="464646"/>
                </a:solidFill>
                <a:latin typeface="Meiryo UI" panose="020B0604030504040204" pitchFamily="34" charset="-128"/>
                <a:ea typeface="Meiryo UI" panose="020B0604030504040204" pitchFamily="34" charset="-128"/>
                <a:cs typeface="Inter Medium" pitchFamily="34" charset="-120"/>
              </a:rPr>
              <a:t>出典：日銀・各社発表</a:t>
            </a:r>
            <a:endParaRPr lang="en-US" sz="600" dirty="0">
              <a:latin typeface="Meiryo UI" panose="020B0604030504040204" pitchFamily="34" charset="-128"/>
              <a:ea typeface="Meiryo UI" panose="020B0604030504040204" pitchFamily="34" charset="-128"/>
            </a:endParaRPr>
          </a:p>
        </p:txBody>
      </p:sp>
      <p:sp>
        <p:nvSpPr>
          <p:cNvPr id="14" name="Text 10"/>
          <p:cNvSpPr/>
          <p:nvPr/>
        </p:nvSpPr>
        <p:spPr>
          <a:xfrm>
            <a:off x="396836" y="17881522"/>
            <a:ext cx="1045992" cy="130724"/>
          </a:xfrm>
          <a:prstGeom prst="rect">
            <a:avLst/>
          </a:prstGeom>
          <a:noFill/>
          <a:ln/>
        </p:spPr>
        <p:txBody>
          <a:bodyPr wrap="none" lIns="0" tIns="0" rIns="0" bIns="0" rtlCol="0" anchor="t"/>
          <a:lstStyle/>
          <a:p>
            <a:pPr marL="0" indent="0" algn="l">
              <a:lnSpc>
                <a:spcPts val="1200"/>
              </a:lnSpc>
              <a:buNone/>
            </a:pPr>
            <a:r>
              <a:rPr lang="en-US" sz="950" dirty="0">
                <a:solidFill>
                  <a:srgbClr val="030303"/>
                </a:solidFill>
                <a:latin typeface="Meiryo UI" panose="020B0604030504040204" pitchFamily="34" charset="-128"/>
                <a:ea typeface="Meiryo UI" panose="020B0604030504040204" pitchFamily="34" charset="-128"/>
                <a:cs typeface="DM Sans Semi Bold" pitchFamily="34" charset="-120"/>
              </a:rPr>
              <a:t>成長期待セグメント</a:t>
            </a:r>
            <a:endParaRPr lang="en-US" sz="950" dirty="0">
              <a:latin typeface="Meiryo UI" panose="020B0604030504040204" pitchFamily="34" charset="-128"/>
              <a:ea typeface="Meiryo UI" panose="020B0604030504040204" pitchFamily="34" charset="-128"/>
            </a:endParaRPr>
          </a:p>
        </p:txBody>
      </p:sp>
      <p:sp>
        <p:nvSpPr>
          <p:cNvPr id="15" name="Shape 11"/>
          <p:cNvSpPr/>
          <p:nvPr/>
        </p:nvSpPr>
        <p:spPr>
          <a:xfrm>
            <a:off x="396835" y="18185368"/>
            <a:ext cx="3833564" cy="507635"/>
          </a:xfrm>
          <a:prstGeom prst="roundRect">
            <a:avLst>
              <a:gd name="adj" fmla="val 2473"/>
            </a:avLst>
          </a:prstGeom>
          <a:solidFill>
            <a:srgbClr val="FFFFFF"/>
          </a:solidFill>
          <a:ln w="15240">
            <a:solidFill>
              <a:srgbClr val="1C9770"/>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16" name="Shape 12"/>
          <p:cNvSpPr/>
          <p:nvPr/>
        </p:nvSpPr>
        <p:spPr>
          <a:xfrm>
            <a:off x="396834" y="18185368"/>
            <a:ext cx="45719" cy="902950"/>
          </a:xfrm>
          <a:prstGeom prst="roundRect">
            <a:avLst>
              <a:gd name="adj" fmla="val 48837"/>
            </a:avLst>
          </a:prstGeom>
          <a:solidFill>
            <a:srgbClr val="1C9770"/>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17" name="Text 13"/>
          <p:cNvSpPr/>
          <p:nvPr/>
        </p:nvSpPr>
        <p:spPr>
          <a:xfrm>
            <a:off x="541735" y="18299788"/>
            <a:ext cx="1045992" cy="130724"/>
          </a:xfrm>
          <a:prstGeom prst="rect">
            <a:avLst/>
          </a:prstGeom>
          <a:noFill/>
          <a:ln/>
        </p:spPr>
        <p:txBody>
          <a:bodyPr wrap="none" lIns="0" tIns="0" rIns="0" bIns="0" rtlCol="0" anchor="t"/>
          <a:lstStyle/>
          <a:p>
            <a:pPr marL="0" indent="0" algn="l">
              <a:lnSpc>
                <a:spcPts val="1200"/>
              </a:lnSpc>
              <a:buNone/>
            </a:pPr>
            <a:r>
              <a:rPr lang="en-US" sz="950" dirty="0">
                <a:solidFill>
                  <a:srgbClr val="464646"/>
                </a:solidFill>
                <a:latin typeface="Meiryo UI" panose="020B0604030504040204" pitchFamily="34" charset="-128"/>
                <a:ea typeface="Meiryo UI" panose="020B0604030504040204" pitchFamily="34" charset="-128"/>
                <a:cs typeface="DM Sans Semi Bold" pitchFamily="34" charset="-120"/>
              </a:rPr>
              <a:t>包装・ラベル</a:t>
            </a:r>
            <a:endParaRPr lang="en-US" sz="950" dirty="0">
              <a:latin typeface="Meiryo UI" panose="020B0604030504040204" pitchFamily="34" charset="-128"/>
              <a:ea typeface="Meiryo UI" panose="020B0604030504040204" pitchFamily="34" charset="-128"/>
            </a:endParaRPr>
          </a:p>
        </p:txBody>
      </p:sp>
      <p:sp>
        <p:nvSpPr>
          <p:cNvPr id="18" name="Text 14"/>
          <p:cNvSpPr/>
          <p:nvPr/>
        </p:nvSpPr>
        <p:spPr>
          <a:xfrm>
            <a:off x="541734" y="18514339"/>
            <a:ext cx="3614888" cy="133736"/>
          </a:xfrm>
          <a:prstGeom prst="rect">
            <a:avLst/>
          </a:prstGeom>
          <a:noFill/>
          <a:ln/>
        </p:spPr>
        <p:txBody>
          <a:bodyPr wrap="none" lIns="0" tIns="0" rIns="0" bIns="0" rtlCol="0" anchor="t"/>
          <a:lstStyle/>
          <a:p>
            <a:pPr marL="0" indent="0" algn="l">
              <a:lnSpc>
                <a:spcPts val="1250"/>
              </a:lnSpc>
              <a:buNone/>
            </a:pPr>
            <a:r>
              <a:rPr lang="en-US" sz="750" b="1" dirty="0">
                <a:solidFill>
                  <a:srgbClr val="464646"/>
                </a:solidFill>
                <a:latin typeface="Meiryo UI" panose="020B0604030504040204" pitchFamily="34" charset="-128"/>
                <a:ea typeface="Meiryo UI" panose="020B0604030504040204" pitchFamily="34" charset="-128"/>
                <a:cs typeface="Inter Medium" pitchFamily="34" charset="-120"/>
              </a:rPr>
              <a:t>上向き</a:t>
            </a:r>
            <a:r>
              <a:rPr lang="en-US" sz="750" dirty="0">
                <a:solidFill>
                  <a:srgbClr val="464646"/>
                </a:solidFill>
                <a:latin typeface="Meiryo UI" panose="020B0604030504040204" pitchFamily="34" charset="-128"/>
                <a:ea typeface="Meiryo UI" panose="020B0604030504040204" pitchFamily="34" charset="-128"/>
                <a:cs typeface="Inter Medium" pitchFamily="34" charset="-120"/>
              </a:rPr>
              <a:t>（デジタル包装印刷 </a:t>
            </a:r>
            <a:r>
              <a:rPr lang="en-US" sz="750" b="1" dirty="0">
                <a:solidFill>
                  <a:srgbClr val="464646"/>
                </a:solidFill>
                <a:latin typeface="Meiryo UI" panose="020B0604030504040204" pitchFamily="34" charset="-128"/>
                <a:ea typeface="Meiryo UI" panose="020B0604030504040204" pitchFamily="34" charset="-128"/>
                <a:cs typeface="Inter Medium" pitchFamily="34" charset="-120"/>
              </a:rPr>
              <a:t>2025年約220億ドル→2030年約369億ドル</a:t>
            </a:r>
            <a:r>
              <a:rPr lang="en-US" sz="750" dirty="0">
                <a:solidFill>
                  <a:srgbClr val="464646"/>
                </a:solidFill>
                <a:latin typeface="Meiryo UI" panose="020B0604030504040204" pitchFamily="34" charset="-128"/>
                <a:ea typeface="Meiryo UI" panose="020B0604030504040204" pitchFamily="34" charset="-128"/>
                <a:cs typeface="Inter Medium" pitchFamily="34" charset="-120"/>
              </a:rPr>
              <a:t>）</a:t>
            </a:r>
            <a:endParaRPr lang="en-US" sz="750" dirty="0">
              <a:latin typeface="Meiryo UI" panose="020B0604030504040204" pitchFamily="34" charset="-128"/>
              <a:ea typeface="Meiryo UI" panose="020B0604030504040204" pitchFamily="34" charset="-128"/>
            </a:endParaRPr>
          </a:p>
        </p:txBody>
      </p:sp>
      <p:sp>
        <p:nvSpPr>
          <p:cNvPr id="19" name="Shape 15"/>
          <p:cNvSpPr/>
          <p:nvPr/>
        </p:nvSpPr>
        <p:spPr>
          <a:xfrm>
            <a:off x="5042059" y="18185368"/>
            <a:ext cx="3833665" cy="507635"/>
          </a:xfrm>
          <a:prstGeom prst="roundRect">
            <a:avLst>
              <a:gd name="adj" fmla="val 2473"/>
            </a:avLst>
          </a:prstGeom>
          <a:solidFill>
            <a:srgbClr val="FFFFFF"/>
          </a:solidFill>
          <a:ln w="15240">
            <a:solidFill>
              <a:srgbClr val="93CB52"/>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20" name="Shape 16"/>
          <p:cNvSpPr/>
          <p:nvPr/>
        </p:nvSpPr>
        <p:spPr>
          <a:xfrm>
            <a:off x="5042058" y="18185368"/>
            <a:ext cx="45719" cy="902950"/>
          </a:xfrm>
          <a:prstGeom prst="roundRect">
            <a:avLst>
              <a:gd name="adj" fmla="val 48837"/>
            </a:avLst>
          </a:prstGeom>
          <a:solidFill>
            <a:srgbClr val="93CB52"/>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21" name="Text 17"/>
          <p:cNvSpPr/>
          <p:nvPr/>
        </p:nvSpPr>
        <p:spPr>
          <a:xfrm>
            <a:off x="5186959" y="18299788"/>
            <a:ext cx="1045992" cy="130724"/>
          </a:xfrm>
          <a:prstGeom prst="rect">
            <a:avLst/>
          </a:prstGeom>
          <a:noFill/>
          <a:ln/>
        </p:spPr>
        <p:txBody>
          <a:bodyPr wrap="none" lIns="0" tIns="0" rIns="0" bIns="0" rtlCol="0" anchor="t"/>
          <a:lstStyle/>
          <a:p>
            <a:pPr marL="0" indent="0" algn="l">
              <a:lnSpc>
                <a:spcPts val="1200"/>
              </a:lnSpc>
              <a:buNone/>
            </a:pPr>
            <a:r>
              <a:rPr lang="en-US" sz="950" dirty="0">
                <a:solidFill>
                  <a:srgbClr val="464646"/>
                </a:solidFill>
                <a:latin typeface="Meiryo UI" panose="020B0604030504040204" pitchFamily="34" charset="-128"/>
                <a:ea typeface="Meiryo UI" panose="020B0604030504040204" pitchFamily="34" charset="-128"/>
                <a:cs typeface="DM Sans Semi Bold" pitchFamily="34" charset="-120"/>
              </a:rPr>
              <a:t>商業印刷</a:t>
            </a:r>
            <a:endParaRPr lang="en-US" sz="950" dirty="0">
              <a:latin typeface="Meiryo UI" panose="020B0604030504040204" pitchFamily="34" charset="-128"/>
              <a:ea typeface="Meiryo UI" panose="020B0604030504040204" pitchFamily="34" charset="-128"/>
            </a:endParaRPr>
          </a:p>
        </p:txBody>
      </p:sp>
      <p:sp>
        <p:nvSpPr>
          <p:cNvPr id="22" name="Text 18"/>
          <p:cNvSpPr/>
          <p:nvPr/>
        </p:nvSpPr>
        <p:spPr>
          <a:xfrm>
            <a:off x="5186959" y="18514339"/>
            <a:ext cx="3614988" cy="133736"/>
          </a:xfrm>
          <a:prstGeom prst="rect">
            <a:avLst/>
          </a:prstGeom>
          <a:noFill/>
          <a:ln/>
        </p:spPr>
        <p:txBody>
          <a:bodyPr wrap="none" lIns="0" tIns="0" rIns="0" bIns="0" rtlCol="0" anchor="t"/>
          <a:lstStyle/>
          <a:p>
            <a:pPr marL="0" indent="0" algn="l">
              <a:lnSpc>
                <a:spcPts val="1250"/>
              </a:lnSpc>
              <a:buNone/>
            </a:pPr>
            <a:r>
              <a:rPr lang="en-US" sz="750" b="1" dirty="0">
                <a:solidFill>
                  <a:srgbClr val="464646"/>
                </a:solidFill>
                <a:latin typeface="Meiryo UI" panose="020B0604030504040204" pitchFamily="34" charset="-128"/>
                <a:ea typeface="Meiryo UI" panose="020B0604030504040204" pitchFamily="34" charset="-128"/>
                <a:cs typeface="Inter Medium" pitchFamily="34" charset="-120"/>
              </a:rPr>
              <a:t>横ばい〜やや下</a:t>
            </a:r>
            <a:r>
              <a:rPr lang="en-US" sz="750" dirty="0">
                <a:solidFill>
                  <a:srgbClr val="464646"/>
                </a:solidFill>
                <a:latin typeface="Meiryo UI" panose="020B0604030504040204" pitchFamily="34" charset="-128"/>
                <a:ea typeface="Meiryo UI" panose="020B0604030504040204" pitchFamily="34" charset="-128"/>
                <a:cs typeface="Inter Medium" pitchFamily="34" charset="-120"/>
              </a:rPr>
              <a:t>（短納期・可変対応が鍵）</a:t>
            </a:r>
            <a:endParaRPr lang="en-US" sz="750" dirty="0">
              <a:latin typeface="Meiryo UI" panose="020B0604030504040204" pitchFamily="34" charset="-128"/>
              <a:ea typeface="Meiryo UI" panose="020B0604030504040204" pitchFamily="34" charset="-128"/>
            </a:endParaRPr>
          </a:p>
        </p:txBody>
      </p:sp>
      <p:sp>
        <p:nvSpPr>
          <p:cNvPr id="23" name="Shape 19"/>
          <p:cNvSpPr/>
          <p:nvPr/>
        </p:nvSpPr>
        <p:spPr>
          <a:xfrm>
            <a:off x="9687401" y="18185368"/>
            <a:ext cx="3833665" cy="507635"/>
          </a:xfrm>
          <a:prstGeom prst="roundRect">
            <a:avLst>
              <a:gd name="adj" fmla="val 2473"/>
            </a:avLst>
          </a:prstGeom>
          <a:solidFill>
            <a:srgbClr val="FFFFFF"/>
          </a:solidFill>
          <a:ln w="15240">
            <a:solidFill>
              <a:srgbClr val="D8D4D4"/>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24" name="Shape 20"/>
          <p:cNvSpPr/>
          <p:nvPr/>
        </p:nvSpPr>
        <p:spPr>
          <a:xfrm>
            <a:off x="9687400" y="18185368"/>
            <a:ext cx="45719" cy="902950"/>
          </a:xfrm>
          <a:prstGeom prst="roundRect">
            <a:avLst>
              <a:gd name="adj" fmla="val 48837"/>
            </a:avLst>
          </a:prstGeom>
          <a:solidFill>
            <a:srgbClr val="1C9770"/>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25" name="Text 21"/>
          <p:cNvSpPr/>
          <p:nvPr/>
        </p:nvSpPr>
        <p:spPr>
          <a:xfrm>
            <a:off x="9832301" y="18299788"/>
            <a:ext cx="1045992" cy="130724"/>
          </a:xfrm>
          <a:prstGeom prst="rect">
            <a:avLst/>
          </a:prstGeom>
          <a:noFill/>
          <a:ln/>
        </p:spPr>
        <p:txBody>
          <a:bodyPr wrap="none" lIns="0" tIns="0" rIns="0" bIns="0" rtlCol="0" anchor="t"/>
          <a:lstStyle/>
          <a:p>
            <a:pPr marL="0" indent="0" algn="l">
              <a:lnSpc>
                <a:spcPts val="1200"/>
              </a:lnSpc>
              <a:buNone/>
            </a:pPr>
            <a:r>
              <a:rPr lang="en-US" sz="950" dirty="0">
                <a:solidFill>
                  <a:srgbClr val="464646"/>
                </a:solidFill>
                <a:latin typeface="Meiryo UI" panose="020B0604030504040204" pitchFamily="34" charset="-128"/>
                <a:ea typeface="Meiryo UI" panose="020B0604030504040204" pitchFamily="34" charset="-128"/>
                <a:cs typeface="DM Sans Semi Bold" pitchFamily="34" charset="-120"/>
              </a:rPr>
              <a:t>出版印刷</a:t>
            </a:r>
            <a:endParaRPr lang="en-US" sz="950" dirty="0">
              <a:latin typeface="Meiryo UI" panose="020B0604030504040204" pitchFamily="34" charset="-128"/>
              <a:ea typeface="Meiryo UI" panose="020B0604030504040204" pitchFamily="34" charset="-128"/>
            </a:endParaRPr>
          </a:p>
        </p:txBody>
      </p:sp>
      <p:sp>
        <p:nvSpPr>
          <p:cNvPr id="26" name="Text 22"/>
          <p:cNvSpPr/>
          <p:nvPr/>
        </p:nvSpPr>
        <p:spPr>
          <a:xfrm>
            <a:off x="9832301" y="18514339"/>
            <a:ext cx="3614988" cy="133736"/>
          </a:xfrm>
          <a:prstGeom prst="rect">
            <a:avLst/>
          </a:prstGeom>
          <a:noFill/>
          <a:ln/>
        </p:spPr>
        <p:txBody>
          <a:bodyPr wrap="none" lIns="0" tIns="0" rIns="0" bIns="0" rtlCol="0" anchor="t"/>
          <a:lstStyle/>
          <a:p>
            <a:pPr marL="0" indent="0" algn="l">
              <a:lnSpc>
                <a:spcPts val="1250"/>
              </a:lnSpc>
              <a:buNone/>
            </a:pPr>
            <a:r>
              <a:rPr lang="en-US" sz="750" b="1" dirty="0">
                <a:solidFill>
                  <a:srgbClr val="464646"/>
                </a:solidFill>
                <a:latin typeface="Meiryo UI" panose="020B0604030504040204" pitchFamily="34" charset="-128"/>
                <a:ea typeface="Meiryo UI" panose="020B0604030504040204" pitchFamily="34" charset="-128"/>
                <a:cs typeface="Inter Medium" pitchFamily="34" charset="-120"/>
              </a:rPr>
              <a:t>下向き</a:t>
            </a:r>
            <a:r>
              <a:rPr lang="en-US" sz="750" dirty="0">
                <a:solidFill>
                  <a:srgbClr val="464646"/>
                </a:solidFill>
                <a:latin typeface="Meiryo UI" panose="020B0604030504040204" pitchFamily="34" charset="-128"/>
                <a:ea typeface="Meiryo UI" panose="020B0604030504040204" pitchFamily="34" charset="-128"/>
                <a:cs typeface="Inter Medium" pitchFamily="34" charset="-120"/>
              </a:rPr>
              <a:t>（電子化継続）</a:t>
            </a:r>
            <a:endParaRPr lang="en-US" sz="750" dirty="0">
              <a:latin typeface="Meiryo UI" panose="020B0604030504040204" pitchFamily="34" charset="-128"/>
              <a:ea typeface="Meiryo UI" panose="020B0604030504040204" pitchFamily="34" charset="-128"/>
            </a:endParaRPr>
          </a:p>
        </p:txBody>
      </p:sp>
      <p:sp>
        <p:nvSpPr>
          <p:cNvPr id="27" name="Text 23"/>
          <p:cNvSpPr/>
          <p:nvPr/>
        </p:nvSpPr>
        <p:spPr>
          <a:xfrm>
            <a:off x="396835" y="18898910"/>
            <a:ext cx="11668165" cy="107130"/>
          </a:xfrm>
          <a:prstGeom prst="rect">
            <a:avLst/>
          </a:prstGeom>
          <a:noFill/>
          <a:ln/>
        </p:spPr>
        <p:txBody>
          <a:bodyPr wrap="none" lIns="0" tIns="0" rIns="0" bIns="0" rtlCol="0" anchor="t"/>
          <a:lstStyle/>
          <a:p>
            <a:pPr marL="0" indent="0" algn="r">
              <a:lnSpc>
                <a:spcPts val="1000"/>
              </a:lnSpc>
              <a:buNone/>
            </a:pPr>
            <a:r>
              <a:rPr lang="en-US" sz="600" dirty="0">
                <a:solidFill>
                  <a:srgbClr val="464646"/>
                </a:solidFill>
                <a:latin typeface="Meiryo UI" panose="020B0604030504040204" pitchFamily="34" charset="-128"/>
                <a:ea typeface="Meiryo UI" panose="020B0604030504040204" pitchFamily="34" charset="-128"/>
                <a:cs typeface="Inter Medium" pitchFamily="34" charset="-120"/>
              </a:rPr>
              <a:t>出典：Smithers 要旨</a:t>
            </a:r>
            <a:endParaRPr lang="en-US" sz="600" dirty="0">
              <a:latin typeface="Meiryo UI" panose="020B0604030504040204" pitchFamily="34" charset="-128"/>
              <a:ea typeface="Meiryo UI" panose="020B0604030504040204" pitchFamily="34" charset="-128"/>
            </a:endParaRPr>
          </a:p>
        </p:txBody>
      </p:sp>
      <p:pic>
        <p:nvPicPr>
          <p:cNvPr id="1026" name="Picture 2">
            <a:extLst>
              <a:ext uri="{FF2B5EF4-FFF2-40B4-BE49-F238E27FC236}">
                <a16:creationId xmlns:a16="http://schemas.microsoft.com/office/drawing/2014/main" id="{915DC45D-980A-8CC5-5E3C-7CB978CA51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8683" y="-125667"/>
            <a:ext cx="13176830" cy="8678003"/>
          </a:xfrm>
          <a:prstGeom prst="rect">
            <a:avLst/>
          </a:prstGeom>
          <a:noFill/>
          <a:extLst>
            <a:ext uri="{909E8E84-426E-40DD-AFC4-6F175D3DCCD1}">
              <a14:hiddenFill xmlns:a14="http://schemas.microsoft.com/office/drawing/2010/main">
                <a:solidFill>
                  <a:srgbClr val="FFFFFF"/>
                </a:solidFill>
              </a14:hiddenFill>
            </a:ext>
          </a:extLst>
        </p:spPr>
      </p:pic>
      <p:sp>
        <p:nvSpPr>
          <p:cNvPr id="7" name="正方形/長方形 6">
            <a:extLst>
              <a:ext uri="{FF2B5EF4-FFF2-40B4-BE49-F238E27FC236}">
                <a16:creationId xmlns:a16="http://schemas.microsoft.com/office/drawing/2014/main" id="{07041061-4EF9-E34C-C2A0-4664A51B50BC}"/>
              </a:ext>
            </a:extLst>
          </p:cNvPr>
          <p:cNvSpPr/>
          <p:nvPr/>
        </p:nvSpPr>
        <p:spPr>
          <a:xfrm>
            <a:off x="10568006" y="8788629"/>
            <a:ext cx="2781299" cy="4459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U"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538883"/>
            <a:ext cx="6945987" cy="620078"/>
          </a:xfrm>
          <a:prstGeom prst="rect">
            <a:avLst/>
          </a:prstGeom>
          <a:noFill/>
          <a:ln/>
        </p:spPr>
        <p:txBody>
          <a:bodyPr wrap="none" lIns="0" tIns="0" rIns="0" bIns="0" rtlCol="0" anchor="t"/>
          <a:lstStyle/>
          <a:p>
            <a:pPr marL="0" indent="0" algn="l">
              <a:lnSpc>
                <a:spcPts val="4850"/>
              </a:lnSpc>
              <a:buNone/>
            </a:pPr>
            <a:r>
              <a:rPr lang="en-US" sz="4400" b="1" dirty="0">
                <a:solidFill>
                  <a:srgbClr val="030303"/>
                </a:solidFill>
                <a:latin typeface="Meiryo UI" panose="020B0604030504040204" pitchFamily="34" charset="-128"/>
                <a:ea typeface="Meiryo UI" panose="020B0604030504040204" pitchFamily="34" charset="-128"/>
                <a:cs typeface="DM Sans Semi Bold" pitchFamily="34" charset="-120"/>
              </a:rPr>
              <a:t>競合状況（会社規模別マップ）</a:t>
            </a:r>
            <a:endParaRPr lang="en-US" sz="4400" b="1" dirty="0">
              <a:latin typeface="Meiryo UI" panose="020B0604030504040204" pitchFamily="34" charset="-128"/>
              <a:ea typeface="Meiryo UI" panose="020B0604030504040204" pitchFamily="34" charset="-128"/>
            </a:endParaRPr>
          </a:p>
        </p:txBody>
      </p:sp>
      <p:sp>
        <p:nvSpPr>
          <p:cNvPr id="3" name="Text 1"/>
          <p:cNvSpPr/>
          <p:nvPr/>
        </p:nvSpPr>
        <p:spPr>
          <a:xfrm>
            <a:off x="793790" y="2555796"/>
            <a:ext cx="13042821" cy="254079"/>
          </a:xfrm>
          <a:prstGeom prst="rect">
            <a:avLst/>
          </a:prstGeom>
          <a:noFill/>
          <a:ln/>
        </p:spPr>
        <p:txBody>
          <a:bodyPr wrap="none" lIns="0" tIns="0" rIns="0" bIns="0" rtlCol="0" anchor="t"/>
          <a:lstStyle/>
          <a:p>
            <a:pPr marL="0" indent="0" algn="l">
              <a:lnSpc>
                <a:spcPts val="2000"/>
              </a:lnSpc>
              <a:buNone/>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凡例：売上=直近公表／従業員=公表値。中小域は「製造品出荷額」を売上目安として表記。</a:t>
            </a:r>
            <a:endParaRPr lang="en-US" sz="1250" dirty="0">
              <a:latin typeface="Meiryo UI" panose="020B0604030504040204" pitchFamily="34" charset="-128"/>
              <a:ea typeface="Meiryo UI" panose="020B0604030504040204" pitchFamily="34" charset="-128"/>
            </a:endParaRPr>
          </a:p>
        </p:txBody>
      </p:sp>
      <p:sp>
        <p:nvSpPr>
          <p:cNvPr id="4" name="Shape 2"/>
          <p:cNvSpPr/>
          <p:nvPr/>
        </p:nvSpPr>
        <p:spPr>
          <a:xfrm>
            <a:off x="793790" y="3033117"/>
            <a:ext cx="4215289" cy="3545482"/>
          </a:xfrm>
          <a:prstGeom prst="roundRect">
            <a:avLst>
              <a:gd name="adj" fmla="val 936"/>
            </a:avLst>
          </a:prstGeom>
          <a:solidFill>
            <a:srgbClr val="F2EEEE"/>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5" name="Text 3"/>
          <p:cNvSpPr/>
          <p:nvPr/>
        </p:nvSpPr>
        <p:spPr>
          <a:xfrm>
            <a:off x="992148" y="3231475"/>
            <a:ext cx="2480905" cy="310158"/>
          </a:xfrm>
          <a:prstGeom prst="rect">
            <a:avLst/>
          </a:prstGeom>
          <a:noFill/>
          <a:ln/>
        </p:spPr>
        <p:txBody>
          <a:bodyPr wrap="none" lIns="0" tIns="0" rIns="0" bIns="0" rtlCol="0" anchor="t"/>
          <a:lstStyle/>
          <a:p>
            <a:pPr marL="0" indent="0" algn="l">
              <a:lnSpc>
                <a:spcPts val="2400"/>
              </a:lnSpc>
              <a:buNone/>
            </a:pPr>
            <a:r>
              <a:rPr lang="en-US" sz="1950" dirty="0" err="1">
                <a:solidFill>
                  <a:srgbClr val="464646"/>
                </a:solidFill>
                <a:latin typeface="Meiryo UI" panose="020B0604030504040204" pitchFamily="34" charset="-128"/>
                <a:ea typeface="Meiryo UI" panose="020B0604030504040204" pitchFamily="34" charset="-128"/>
                <a:cs typeface="DM Sans Semi Bold" pitchFamily="34" charset="-120"/>
              </a:rPr>
              <a:t>超大手・多角化</a:t>
            </a:r>
            <a:endParaRPr lang="en-US" sz="1950" dirty="0">
              <a:solidFill>
                <a:srgbClr val="464646"/>
              </a:solidFill>
              <a:latin typeface="Meiryo UI" panose="020B0604030504040204" pitchFamily="34" charset="-128"/>
              <a:ea typeface="Meiryo UI" panose="020B0604030504040204" pitchFamily="34" charset="-128"/>
              <a:cs typeface="DM Sans Semi Bold" pitchFamily="34" charset="-120"/>
            </a:endParaRPr>
          </a:p>
          <a:p>
            <a:pPr marL="0" indent="0" algn="l">
              <a:lnSpc>
                <a:spcPts val="2400"/>
              </a:lnSpc>
              <a:buNone/>
            </a:pPr>
            <a:endParaRPr lang="en-US" sz="1950" dirty="0">
              <a:solidFill>
                <a:srgbClr val="464646"/>
              </a:solidFill>
              <a:latin typeface="Meiryo UI" panose="020B0604030504040204" pitchFamily="34" charset="-128"/>
              <a:ea typeface="Meiryo UI" panose="020B0604030504040204" pitchFamily="34" charset="-128"/>
            </a:endParaRPr>
          </a:p>
          <a:p>
            <a:pPr marL="0" indent="0" algn="l">
              <a:lnSpc>
                <a:spcPts val="2400"/>
              </a:lnSpc>
              <a:buNone/>
            </a:pPr>
            <a:endParaRPr lang="en-US" sz="1950" dirty="0">
              <a:solidFill>
                <a:srgbClr val="464646"/>
              </a:solidFill>
              <a:latin typeface="Meiryo UI" panose="020B0604030504040204" pitchFamily="34" charset="-128"/>
              <a:ea typeface="Meiryo UI" panose="020B0604030504040204" pitchFamily="34" charset="-128"/>
            </a:endParaRPr>
          </a:p>
          <a:p>
            <a:pPr marL="0" indent="0" algn="l">
              <a:lnSpc>
                <a:spcPts val="2400"/>
              </a:lnSpc>
              <a:buNone/>
            </a:pPr>
            <a:endParaRPr lang="en-US" sz="1950" dirty="0">
              <a:latin typeface="Meiryo UI" panose="020B0604030504040204" pitchFamily="34" charset="-128"/>
              <a:ea typeface="Meiryo UI" panose="020B0604030504040204" pitchFamily="34" charset="-128"/>
            </a:endParaRPr>
          </a:p>
        </p:txBody>
      </p:sp>
      <p:sp>
        <p:nvSpPr>
          <p:cNvPr id="6" name="Text 4"/>
          <p:cNvSpPr/>
          <p:nvPr/>
        </p:nvSpPr>
        <p:spPr>
          <a:xfrm>
            <a:off x="992148" y="3970853"/>
            <a:ext cx="3818573"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err="1">
                <a:solidFill>
                  <a:srgbClr val="464646"/>
                </a:solidFill>
                <a:latin typeface="Meiryo UI" panose="020B0604030504040204" pitchFamily="34" charset="-128"/>
                <a:ea typeface="Meiryo UI" panose="020B0604030504040204" pitchFamily="34" charset="-128"/>
                <a:cs typeface="Inter Medium" pitchFamily="34" charset="-120"/>
              </a:rPr>
              <a:t>TOPPANホールディングス</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a:t>
            </a:r>
          </a:p>
          <a:p>
            <a:pPr algn="l">
              <a:lnSpc>
                <a:spcPts val="2500"/>
              </a:lnSpc>
              <a:buSzPct val="100000"/>
            </a:pPr>
            <a:r>
              <a:rPr lang="en-US" sz="1550" dirty="0" err="1">
                <a:solidFill>
                  <a:srgbClr val="464646"/>
                </a:solidFill>
                <a:latin typeface="Meiryo UI" panose="020B0604030504040204" pitchFamily="34" charset="-128"/>
                <a:ea typeface="Meiryo UI" panose="020B0604030504040204" pitchFamily="34" charset="-128"/>
                <a:cs typeface="Inter Medium" pitchFamily="34" charset="-120"/>
              </a:rPr>
              <a:t>売上</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 </a:t>
            </a: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1兆6,782億円</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（2024/3期）</a:t>
            </a:r>
            <a:endParaRPr lang="en-US" sz="1550" dirty="0">
              <a:latin typeface="Meiryo UI" panose="020B0604030504040204" pitchFamily="34" charset="-128"/>
              <a:ea typeface="Meiryo UI" panose="020B0604030504040204" pitchFamily="34" charset="-128"/>
            </a:endParaRPr>
          </a:p>
        </p:txBody>
      </p:sp>
      <p:sp>
        <p:nvSpPr>
          <p:cNvPr id="7" name="Text 5"/>
          <p:cNvSpPr/>
          <p:nvPr/>
        </p:nvSpPr>
        <p:spPr>
          <a:xfrm>
            <a:off x="992148" y="4675345"/>
            <a:ext cx="3818573"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err="1">
                <a:solidFill>
                  <a:srgbClr val="464646"/>
                </a:solidFill>
                <a:latin typeface="Meiryo UI" panose="020B0604030504040204" pitchFamily="34" charset="-128"/>
                <a:ea typeface="Meiryo UI" panose="020B0604030504040204" pitchFamily="34" charset="-128"/>
                <a:cs typeface="Inter Medium" pitchFamily="34" charset="-120"/>
              </a:rPr>
              <a:t>大日本印刷（DNP</a:t>
            </a: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a:t>
            </a:r>
          </a:p>
          <a:p>
            <a:pPr algn="l">
              <a:lnSpc>
                <a:spcPts val="2500"/>
              </a:lnSpc>
              <a:buSzPct val="100000"/>
            </a:pPr>
            <a:r>
              <a:rPr lang="en-US" sz="1550" dirty="0" err="1">
                <a:solidFill>
                  <a:srgbClr val="464646"/>
                </a:solidFill>
                <a:latin typeface="Meiryo UI" panose="020B0604030504040204" pitchFamily="34" charset="-128"/>
                <a:ea typeface="Meiryo UI" panose="020B0604030504040204" pitchFamily="34" charset="-128"/>
                <a:cs typeface="Inter Medium" pitchFamily="34" charset="-120"/>
              </a:rPr>
              <a:t>売上</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 </a:t>
            </a: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1兆4,576億円</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（2025/3期）</a:t>
            </a:r>
            <a:endParaRPr lang="en-US" sz="1550" dirty="0">
              <a:latin typeface="Meiryo UI" panose="020B0604030504040204" pitchFamily="34" charset="-128"/>
              <a:ea typeface="Meiryo UI" panose="020B0604030504040204" pitchFamily="34" charset="-128"/>
            </a:endParaRPr>
          </a:p>
        </p:txBody>
      </p:sp>
      <p:sp>
        <p:nvSpPr>
          <p:cNvPr id="8" name="Shape 6"/>
          <p:cNvSpPr/>
          <p:nvPr/>
        </p:nvSpPr>
        <p:spPr>
          <a:xfrm>
            <a:off x="5207437" y="3033117"/>
            <a:ext cx="4215408" cy="3545482"/>
          </a:xfrm>
          <a:prstGeom prst="roundRect">
            <a:avLst>
              <a:gd name="adj" fmla="val 936"/>
            </a:avLst>
          </a:prstGeom>
          <a:solidFill>
            <a:srgbClr val="F2EEEE"/>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9" name="Text 7"/>
          <p:cNvSpPr/>
          <p:nvPr/>
        </p:nvSpPr>
        <p:spPr>
          <a:xfrm>
            <a:off x="5405795" y="3231475"/>
            <a:ext cx="3818692" cy="620316"/>
          </a:xfrm>
          <a:prstGeom prst="rect">
            <a:avLst/>
          </a:prstGeom>
          <a:noFill/>
          <a:ln/>
        </p:spPr>
        <p:txBody>
          <a:bodyPr wrap="square" lIns="0" tIns="0" rIns="0" bIns="0" rtlCol="0" anchor="t"/>
          <a:lstStyle/>
          <a:p>
            <a:pPr marL="0" indent="0" algn="l">
              <a:lnSpc>
                <a:spcPts val="2400"/>
              </a:lnSpc>
              <a:buNone/>
            </a:pPr>
            <a:r>
              <a:rPr lang="en-US" sz="1950" dirty="0">
                <a:solidFill>
                  <a:srgbClr val="464646"/>
                </a:solidFill>
                <a:latin typeface="Meiryo UI" panose="020B0604030504040204" pitchFamily="34" charset="-128"/>
                <a:ea typeface="Meiryo UI" panose="020B0604030504040204" pitchFamily="34" charset="-128"/>
                <a:cs typeface="DM Sans Semi Bold" pitchFamily="34" charset="-120"/>
              </a:rPr>
              <a:t>オンライン印刷（ECプラットフォーム）</a:t>
            </a:r>
            <a:endParaRPr lang="en-US" sz="1950" dirty="0">
              <a:latin typeface="Meiryo UI" panose="020B0604030504040204" pitchFamily="34" charset="-128"/>
              <a:ea typeface="Meiryo UI" panose="020B0604030504040204" pitchFamily="34" charset="-128"/>
            </a:endParaRPr>
          </a:p>
        </p:txBody>
      </p:sp>
      <p:sp>
        <p:nvSpPr>
          <p:cNvPr id="10" name="Text 8"/>
          <p:cNvSpPr/>
          <p:nvPr/>
        </p:nvSpPr>
        <p:spPr>
          <a:xfrm>
            <a:off x="5405795" y="3970853"/>
            <a:ext cx="3818692"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ラクスル</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：売上 </a:t>
            </a: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511億円</a:t>
            </a:r>
          </a:p>
          <a:p>
            <a:pPr algn="l">
              <a:lnSpc>
                <a:spcPts val="2500"/>
              </a:lnSpc>
              <a:buSzPct val="100000"/>
            </a:pP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(2024/7期、連結)</a:t>
            </a:r>
            <a:endParaRPr lang="en-US" sz="1550" dirty="0">
              <a:latin typeface="Meiryo UI" panose="020B0604030504040204" pitchFamily="34" charset="-128"/>
              <a:ea typeface="Meiryo UI" panose="020B0604030504040204" pitchFamily="34" charset="-128"/>
            </a:endParaRPr>
          </a:p>
        </p:txBody>
      </p:sp>
      <p:sp>
        <p:nvSpPr>
          <p:cNvPr id="11" name="Text 9"/>
          <p:cNvSpPr/>
          <p:nvPr/>
        </p:nvSpPr>
        <p:spPr>
          <a:xfrm>
            <a:off x="5405795" y="4675346"/>
            <a:ext cx="3818692"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err="1">
                <a:solidFill>
                  <a:srgbClr val="464646"/>
                </a:solidFill>
                <a:latin typeface="Meiryo UI" panose="020B0604030504040204" pitchFamily="34" charset="-128"/>
                <a:ea typeface="Meiryo UI" panose="020B0604030504040204" pitchFamily="34" charset="-128"/>
                <a:cs typeface="Inter Medium" pitchFamily="34" charset="-120"/>
              </a:rPr>
              <a:t>プリントパック</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a:t>
            </a:r>
          </a:p>
          <a:p>
            <a:pPr algn="l">
              <a:lnSpc>
                <a:spcPts val="2500"/>
              </a:lnSpc>
              <a:buSzPct val="100000"/>
            </a:pPr>
            <a:r>
              <a:rPr lang="en-US" sz="1550" dirty="0" err="1">
                <a:solidFill>
                  <a:srgbClr val="464646"/>
                </a:solidFill>
                <a:latin typeface="Meiryo UI" panose="020B0604030504040204" pitchFamily="34" charset="-128"/>
                <a:ea typeface="Meiryo UI" panose="020B0604030504040204" pitchFamily="34" charset="-128"/>
                <a:cs typeface="Inter Medium" pitchFamily="34" charset="-120"/>
              </a:rPr>
              <a:t>売上</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 </a:t>
            </a: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422億円</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（2024年4月期）</a:t>
            </a:r>
            <a:endParaRPr lang="en-US" sz="1550" dirty="0">
              <a:latin typeface="Meiryo UI" panose="020B0604030504040204" pitchFamily="34" charset="-128"/>
              <a:ea typeface="Meiryo UI" panose="020B0604030504040204" pitchFamily="34" charset="-128"/>
            </a:endParaRPr>
          </a:p>
        </p:txBody>
      </p:sp>
      <p:sp>
        <p:nvSpPr>
          <p:cNvPr id="12" name="Text 10"/>
          <p:cNvSpPr/>
          <p:nvPr/>
        </p:nvSpPr>
        <p:spPr>
          <a:xfrm>
            <a:off x="5405795" y="5379839"/>
            <a:ext cx="3818692"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グラフィック</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：売上 </a:t>
            </a: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371億円</a:t>
            </a:r>
            <a:endParaRPr lang="en-US" sz="1550" dirty="0">
              <a:solidFill>
                <a:srgbClr val="464646"/>
              </a:solidFill>
              <a:latin typeface="Meiryo UI" panose="020B0604030504040204" pitchFamily="34" charset="-128"/>
              <a:ea typeface="Meiryo UI" panose="020B0604030504040204" pitchFamily="34" charset="-128"/>
              <a:cs typeface="Inter Medium" pitchFamily="34" charset="-120"/>
            </a:endParaRPr>
          </a:p>
          <a:p>
            <a:pPr algn="l">
              <a:lnSpc>
                <a:spcPts val="2500"/>
              </a:lnSpc>
              <a:buSzPct val="100000"/>
            </a:pPr>
            <a:r>
              <a:rPr lang="en-US" sz="1550" dirty="0" err="1">
                <a:solidFill>
                  <a:srgbClr val="464646"/>
                </a:solidFill>
                <a:latin typeface="Meiryo UI" panose="020B0604030504040204" pitchFamily="34" charset="-128"/>
                <a:ea typeface="Meiryo UI" panose="020B0604030504040204" pitchFamily="34" charset="-128"/>
                <a:cs typeface="Inter Medium" pitchFamily="34" charset="-120"/>
              </a:rPr>
              <a:t>従業員</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 </a:t>
            </a: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1,186名</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（2024年）</a:t>
            </a:r>
            <a:endParaRPr lang="en-US" sz="1550" dirty="0">
              <a:latin typeface="Meiryo UI" panose="020B0604030504040204" pitchFamily="34" charset="-128"/>
              <a:ea typeface="Meiryo UI" panose="020B0604030504040204" pitchFamily="34" charset="-128"/>
            </a:endParaRPr>
          </a:p>
        </p:txBody>
      </p:sp>
      <p:sp>
        <p:nvSpPr>
          <p:cNvPr id="13" name="Shape 11"/>
          <p:cNvSpPr/>
          <p:nvPr/>
        </p:nvSpPr>
        <p:spPr>
          <a:xfrm>
            <a:off x="9621203" y="3033116"/>
            <a:ext cx="4215289" cy="3545483"/>
          </a:xfrm>
          <a:prstGeom prst="roundRect">
            <a:avLst>
              <a:gd name="adj" fmla="val 936"/>
            </a:avLst>
          </a:prstGeom>
          <a:solidFill>
            <a:srgbClr val="1C9770"/>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14" name="Text 12"/>
          <p:cNvSpPr/>
          <p:nvPr/>
        </p:nvSpPr>
        <p:spPr>
          <a:xfrm>
            <a:off x="9819561" y="3231475"/>
            <a:ext cx="3818573" cy="620316"/>
          </a:xfrm>
          <a:prstGeom prst="rect">
            <a:avLst/>
          </a:prstGeom>
          <a:noFill/>
          <a:ln/>
        </p:spPr>
        <p:txBody>
          <a:bodyPr wrap="square" lIns="0" tIns="0" rIns="0" bIns="0" rtlCol="0" anchor="t"/>
          <a:lstStyle/>
          <a:p>
            <a:pPr marL="0" indent="0" algn="l">
              <a:lnSpc>
                <a:spcPts val="2400"/>
              </a:lnSpc>
              <a:buNone/>
            </a:pPr>
            <a:r>
              <a:rPr lang="en-US" sz="1950" dirty="0">
                <a:solidFill>
                  <a:srgbClr val="FFFFFF"/>
                </a:solidFill>
                <a:latin typeface="Meiryo UI" panose="020B0604030504040204" pitchFamily="34" charset="-128"/>
                <a:ea typeface="Meiryo UI" panose="020B0604030504040204" pitchFamily="34" charset="-128"/>
                <a:cs typeface="DM Sans Semi Bold" pitchFamily="34" charset="-120"/>
              </a:rPr>
              <a:t>地域フルサービス型（目安レンジ）</a:t>
            </a:r>
            <a:endParaRPr lang="en-US" sz="1950" dirty="0">
              <a:latin typeface="Meiryo UI" panose="020B0604030504040204" pitchFamily="34" charset="-128"/>
              <a:ea typeface="Meiryo UI" panose="020B0604030504040204" pitchFamily="34" charset="-128"/>
            </a:endParaRPr>
          </a:p>
        </p:txBody>
      </p:sp>
      <p:sp>
        <p:nvSpPr>
          <p:cNvPr id="15" name="Text 13"/>
          <p:cNvSpPr/>
          <p:nvPr/>
        </p:nvSpPr>
        <p:spPr>
          <a:xfrm>
            <a:off x="9819561" y="3966606"/>
            <a:ext cx="3818573"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FFFFFF"/>
                </a:solidFill>
                <a:latin typeface="Meiryo UI" panose="020B0604030504040204" pitchFamily="34" charset="-128"/>
                <a:ea typeface="Meiryo UI" panose="020B0604030504040204" pitchFamily="34" charset="-128"/>
                <a:cs typeface="Inter Medium" pitchFamily="34" charset="-120"/>
              </a:rPr>
              <a:t>1人当たり出荷額 </a:t>
            </a:r>
          </a:p>
          <a:p>
            <a:pPr lvl="1">
              <a:lnSpc>
                <a:spcPts val="2500"/>
              </a:lnSpc>
              <a:buSzPct val="100000"/>
            </a:pPr>
            <a:r>
              <a:rPr lang="en-US" sz="1550" b="1" dirty="0">
                <a:solidFill>
                  <a:srgbClr val="FFFFFF"/>
                </a:solidFill>
                <a:latin typeface="Meiryo UI" panose="020B0604030504040204" pitchFamily="34" charset="-128"/>
                <a:ea typeface="Meiryo UI" panose="020B0604030504040204" pitchFamily="34" charset="-128"/>
                <a:cs typeface="Inter Medium" pitchFamily="34" charset="-120"/>
              </a:rPr>
              <a:t>約2,036万円</a:t>
            </a:r>
            <a:r>
              <a:rPr lang="en-US" sz="1550" dirty="0">
                <a:solidFill>
                  <a:srgbClr val="FFFFFF"/>
                </a:solidFill>
                <a:latin typeface="Meiryo UI" panose="020B0604030504040204" pitchFamily="34" charset="-128"/>
                <a:ea typeface="Meiryo UI" panose="020B0604030504040204" pitchFamily="34" charset="-128"/>
                <a:cs typeface="Inter Medium" pitchFamily="34" charset="-120"/>
              </a:rPr>
              <a:t>（2022年）</a:t>
            </a:r>
            <a:endParaRPr lang="en-US" sz="1550" dirty="0">
              <a:latin typeface="Meiryo UI" panose="020B0604030504040204" pitchFamily="34" charset="-128"/>
              <a:ea typeface="Meiryo UI" panose="020B0604030504040204" pitchFamily="34" charset="-128"/>
            </a:endParaRPr>
          </a:p>
        </p:txBody>
      </p:sp>
      <p:sp>
        <p:nvSpPr>
          <p:cNvPr id="16" name="Text 14"/>
          <p:cNvSpPr/>
          <p:nvPr/>
        </p:nvSpPr>
        <p:spPr>
          <a:xfrm>
            <a:off x="9819561" y="4675346"/>
            <a:ext cx="3818573"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FFFFFF"/>
                </a:solidFill>
                <a:latin typeface="Meiryo UI" panose="020B0604030504040204" pitchFamily="34" charset="-128"/>
                <a:ea typeface="Meiryo UI" panose="020B0604030504040204" pitchFamily="34" charset="-128"/>
                <a:cs typeface="Inter Medium" pitchFamily="34" charset="-120"/>
              </a:rPr>
              <a:t>従業者 </a:t>
            </a:r>
            <a:r>
              <a:rPr lang="en-US" sz="1550" b="1" dirty="0">
                <a:solidFill>
                  <a:srgbClr val="FFFFFF"/>
                </a:solidFill>
                <a:latin typeface="Meiryo UI" panose="020B0604030504040204" pitchFamily="34" charset="-128"/>
                <a:ea typeface="Meiryo UI" panose="020B0604030504040204" pitchFamily="34" charset="-128"/>
                <a:cs typeface="Inter Medium" pitchFamily="34" charset="-120"/>
              </a:rPr>
              <a:t>50〜300名</a:t>
            </a:r>
            <a:r>
              <a:rPr lang="en-US" sz="1550" dirty="0">
                <a:solidFill>
                  <a:srgbClr val="FFFFFF"/>
                </a:solidFill>
                <a:latin typeface="Meiryo UI" panose="020B0604030504040204" pitchFamily="34" charset="-128"/>
                <a:ea typeface="Meiryo UI" panose="020B0604030504040204" pitchFamily="34" charset="-128"/>
                <a:cs typeface="Inter Medium" pitchFamily="34" charset="-120"/>
              </a:rPr>
              <a:t>で</a:t>
            </a:r>
          </a:p>
          <a:p>
            <a:pPr lvl="1">
              <a:lnSpc>
                <a:spcPts val="2500"/>
              </a:lnSpc>
              <a:buSzPct val="100000"/>
            </a:pPr>
            <a:r>
              <a:rPr lang="en-US" sz="1550" b="1" dirty="0">
                <a:solidFill>
                  <a:srgbClr val="FFFFFF"/>
                </a:solidFill>
                <a:latin typeface="Meiryo UI" panose="020B0604030504040204" pitchFamily="34" charset="-128"/>
                <a:ea typeface="Meiryo UI" panose="020B0604030504040204" pitchFamily="34" charset="-128"/>
                <a:cs typeface="Inter Medium" pitchFamily="34" charset="-120"/>
              </a:rPr>
              <a:t>約10.2〜61.1億円</a:t>
            </a:r>
            <a:r>
              <a:rPr lang="en-US" sz="1550" dirty="0">
                <a:solidFill>
                  <a:srgbClr val="FFFFFF"/>
                </a:solidFill>
                <a:latin typeface="Meiryo UI" panose="020B0604030504040204" pitchFamily="34" charset="-128"/>
                <a:ea typeface="Meiryo UI" panose="020B0604030504040204" pitchFamily="34" charset="-128"/>
                <a:cs typeface="Inter Medium" pitchFamily="34" charset="-120"/>
              </a:rPr>
              <a:t>規模相当</a:t>
            </a:r>
            <a:endParaRPr lang="en-US" sz="1550" dirty="0">
              <a:latin typeface="Meiryo UI" panose="020B0604030504040204" pitchFamily="34" charset="-128"/>
              <a:ea typeface="Meiryo UI" panose="020B0604030504040204" pitchFamily="34" charset="-128"/>
            </a:endParaRPr>
          </a:p>
        </p:txBody>
      </p:sp>
      <p:sp>
        <p:nvSpPr>
          <p:cNvPr id="17" name="Text 15"/>
          <p:cNvSpPr/>
          <p:nvPr/>
        </p:nvSpPr>
        <p:spPr>
          <a:xfrm>
            <a:off x="9819561" y="5379839"/>
            <a:ext cx="3818573" cy="995561"/>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FFFFFF"/>
                </a:solidFill>
                <a:latin typeface="Meiryo UI" panose="020B0604030504040204" pitchFamily="34" charset="-128"/>
                <a:ea typeface="Meiryo UI" panose="020B0604030504040204" pitchFamily="34" charset="-128"/>
                <a:cs typeface="Inter Medium" pitchFamily="34" charset="-120"/>
              </a:rPr>
              <a:t>平均事業所：従業者 </a:t>
            </a:r>
            <a:r>
              <a:rPr lang="en-US" sz="1550" b="1" dirty="0">
                <a:solidFill>
                  <a:srgbClr val="FFFFFF"/>
                </a:solidFill>
                <a:latin typeface="Meiryo UI" panose="020B0604030504040204" pitchFamily="34" charset="-128"/>
                <a:ea typeface="Meiryo UI" panose="020B0604030504040204" pitchFamily="34" charset="-128"/>
                <a:cs typeface="Inter Medium" pitchFamily="34" charset="-120"/>
              </a:rPr>
              <a:t>18.3人</a:t>
            </a:r>
            <a:r>
              <a:rPr lang="en-US" sz="1550" dirty="0">
                <a:solidFill>
                  <a:srgbClr val="FFFFFF"/>
                </a:solidFill>
                <a:latin typeface="Meiryo UI" panose="020B0604030504040204" pitchFamily="34" charset="-128"/>
                <a:ea typeface="Meiryo UI" panose="020B0604030504040204" pitchFamily="34" charset="-128"/>
                <a:cs typeface="Inter Medium" pitchFamily="34" charset="-120"/>
              </a:rPr>
              <a:t>、</a:t>
            </a:r>
          </a:p>
          <a:p>
            <a:pPr marL="342900" indent="-342900" algn="l">
              <a:lnSpc>
                <a:spcPts val="2500"/>
              </a:lnSpc>
              <a:buSzPct val="100000"/>
              <a:buChar char="•"/>
            </a:pPr>
            <a:r>
              <a:rPr lang="en-US" sz="1550" dirty="0">
                <a:solidFill>
                  <a:srgbClr val="FFFFFF"/>
                </a:solidFill>
                <a:latin typeface="Meiryo UI" panose="020B0604030504040204" pitchFamily="34" charset="-128"/>
                <a:ea typeface="Meiryo UI" panose="020B0604030504040204" pitchFamily="34" charset="-128"/>
                <a:cs typeface="Inter Medium" pitchFamily="34" charset="-120"/>
              </a:rPr>
              <a:t>1事業所あたり出荷額</a:t>
            </a:r>
          </a:p>
          <a:p>
            <a:pPr lvl="1">
              <a:lnSpc>
                <a:spcPts val="2500"/>
              </a:lnSpc>
              <a:buSzPct val="100000"/>
            </a:pPr>
            <a:r>
              <a:rPr lang="en-US" sz="1550" b="1" dirty="0">
                <a:solidFill>
                  <a:srgbClr val="FFFFFF"/>
                </a:solidFill>
                <a:latin typeface="Meiryo UI" panose="020B0604030504040204" pitchFamily="34" charset="-128"/>
                <a:ea typeface="Meiryo UI" panose="020B0604030504040204" pitchFamily="34" charset="-128"/>
                <a:cs typeface="Inter Medium" pitchFamily="34" charset="-120"/>
              </a:rPr>
              <a:t>約3.73億円(</a:t>
            </a:r>
            <a:r>
              <a:rPr lang="en-US" sz="1550" dirty="0">
                <a:solidFill>
                  <a:srgbClr val="FFFFFF"/>
                </a:solidFill>
                <a:latin typeface="Meiryo UI" panose="020B0604030504040204" pitchFamily="34" charset="-128"/>
                <a:ea typeface="Meiryo UI" panose="020B0604030504040204" pitchFamily="34" charset="-128"/>
                <a:cs typeface="Inter Medium" pitchFamily="34" charset="-120"/>
              </a:rPr>
              <a:t>2022年)</a:t>
            </a:r>
            <a:endParaRPr lang="en-US" sz="1550" dirty="0">
              <a:latin typeface="Meiryo UI" panose="020B0604030504040204" pitchFamily="34" charset="-128"/>
              <a:ea typeface="Meiryo UI" panose="020B0604030504040204" pitchFamily="34" charset="-128"/>
            </a:endParaRPr>
          </a:p>
        </p:txBody>
      </p:sp>
      <p:sp>
        <p:nvSpPr>
          <p:cNvPr id="18" name="Text 16"/>
          <p:cNvSpPr/>
          <p:nvPr/>
        </p:nvSpPr>
        <p:spPr>
          <a:xfrm>
            <a:off x="793671" y="6713815"/>
            <a:ext cx="13042821" cy="254079"/>
          </a:xfrm>
          <a:prstGeom prst="rect">
            <a:avLst/>
          </a:prstGeom>
          <a:noFill/>
          <a:ln/>
        </p:spPr>
        <p:txBody>
          <a:bodyPr wrap="none" lIns="0" tIns="0" rIns="0" bIns="0" rtlCol="0" anchor="t"/>
          <a:lstStyle/>
          <a:p>
            <a:pPr marL="0" indent="0" algn="r">
              <a:lnSpc>
                <a:spcPts val="2000"/>
              </a:lnSpc>
              <a:buNone/>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出典：各社IR／会社情報、JAGAT</a:t>
            </a:r>
            <a:endParaRPr lang="en-US" sz="1250" dirty="0">
              <a:latin typeface="Meiryo UI" panose="020B0604030504040204" pitchFamily="34" charset="-128"/>
              <a:ea typeface="Meiryo UI" panose="020B0604030504040204" pitchFamily="34"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7695" y="432078"/>
            <a:ext cx="3798451" cy="474702"/>
          </a:xfrm>
          <a:prstGeom prst="rect">
            <a:avLst/>
          </a:prstGeom>
          <a:noFill/>
          <a:ln/>
        </p:spPr>
        <p:txBody>
          <a:bodyPr wrap="none" lIns="0" tIns="0" rIns="0" bIns="0" rtlCol="0" anchor="t"/>
          <a:lstStyle/>
          <a:p>
            <a:pPr marL="0" indent="0" algn="l">
              <a:lnSpc>
                <a:spcPts val="3700"/>
              </a:lnSpc>
              <a:buNone/>
            </a:pPr>
            <a:r>
              <a:rPr lang="en-US" sz="3600" b="1" dirty="0">
                <a:solidFill>
                  <a:srgbClr val="030303"/>
                </a:solidFill>
                <a:latin typeface="Meiryo UI" panose="020B0604030504040204" pitchFamily="34" charset="-128"/>
                <a:ea typeface="Meiryo UI" panose="020B0604030504040204" pitchFamily="34" charset="-128"/>
                <a:cs typeface="DM Sans Semi Bold" pitchFamily="34" charset="-120"/>
              </a:rPr>
              <a:t>競合の代表的な戦略</a:t>
            </a:r>
            <a:endParaRPr lang="en-US" sz="3600" b="1" dirty="0">
              <a:latin typeface="Meiryo UI" panose="020B0604030504040204" pitchFamily="34" charset="-128"/>
              <a:ea typeface="Meiryo UI" panose="020B0604030504040204" pitchFamily="34" charset="-128"/>
            </a:endParaRPr>
          </a:p>
        </p:txBody>
      </p:sp>
      <p:sp>
        <p:nvSpPr>
          <p:cNvPr id="3" name="Shape 1"/>
          <p:cNvSpPr/>
          <p:nvPr/>
        </p:nvSpPr>
        <p:spPr>
          <a:xfrm>
            <a:off x="607695" y="1305520"/>
            <a:ext cx="6522244" cy="2287786"/>
          </a:xfrm>
          <a:prstGeom prst="roundRect">
            <a:avLst>
              <a:gd name="adj" fmla="val 996"/>
            </a:avLst>
          </a:prstGeom>
          <a:solidFill>
            <a:srgbClr val="FFFFFF"/>
          </a:solidFill>
          <a:ln w="15240">
            <a:solidFill>
              <a:srgbClr val="D8D4D4"/>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4" name="Text 2"/>
          <p:cNvSpPr/>
          <p:nvPr/>
        </p:nvSpPr>
        <p:spPr>
          <a:xfrm>
            <a:off x="774859" y="1472684"/>
            <a:ext cx="2797493" cy="237292"/>
          </a:xfrm>
          <a:prstGeom prst="rect">
            <a:avLst/>
          </a:prstGeom>
          <a:noFill/>
          <a:ln/>
        </p:spPr>
        <p:txBody>
          <a:bodyPr wrap="none" lIns="0" tIns="0" rIns="0" bIns="0" rtlCol="0" anchor="t"/>
          <a:lstStyle/>
          <a:p>
            <a:pPr marL="0" indent="0" algn="l">
              <a:lnSpc>
                <a:spcPts val="1850"/>
              </a:lnSpc>
              <a:buNone/>
            </a:pPr>
            <a:r>
              <a:rPr lang="en-US" dirty="0">
                <a:solidFill>
                  <a:srgbClr val="464646"/>
                </a:solidFill>
                <a:latin typeface="Meiryo UI" panose="020B0604030504040204" pitchFamily="34" charset="-128"/>
                <a:ea typeface="Meiryo UI" panose="020B0604030504040204" pitchFamily="34" charset="-128"/>
                <a:cs typeface="DM Sans Semi Bold" pitchFamily="34" charset="-120"/>
              </a:rPr>
              <a:t>標準化×製造：ネット印刷／W2P</a:t>
            </a:r>
            <a:endParaRPr lang="en-US" dirty="0">
              <a:latin typeface="Meiryo UI" panose="020B0604030504040204" pitchFamily="34" charset="-128"/>
              <a:ea typeface="Meiryo UI" panose="020B0604030504040204" pitchFamily="34" charset="-128"/>
            </a:endParaRPr>
          </a:p>
        </p:txBody>
      </p:sp>
      <p:sp>
        <p:nvSpPr>
          <p:cNvPr id="5" name="Text 3"/>
          <p:cNvSpPr/>
          <p:nvPr/>
        </p:nvSpPr>
        <p:spPr>
          <a:xfrm>
            <a:off x="774859" y="1861899"/>
            <a:ext cx="6187916" cy="486013"/>
          </a:xfrm>
          <a:prstGeom prst="rect">
            <a:avLst/>
          </a:prstGeom>
          <a:noFill/>
          <a:ln/>
        </p:spPr>
        <p:txBody>
          <a:bodyPr wrap="square" lIns="0" tIns="0" rIns="0" bIns="0" rtlCol="0" anchor="t"/>
          <a:lstStyle/>
          <a:p>
            <a:pPr marL="342900" indent="-342900" algn="l">
              <a:lnSpc>
                <a:spcPts val="1900"/>
              </a:lnSpc>
              <a:buSzPct val="100000"/>
              <a:buChar char="•"/>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代表：</a:t>
            </a:r>
            <a:r>
              <a:rPr lang="en-US" sz="1250" b="1" dirty="0">
                <a:solidFill>
                  <a:srgbClr val="464646"/>
                </a:solidFill>
                <a:latin typeface="Meiryo UI" panose="020B0604030504040204" pitchFamily="34" charset="-128"/>
                <a:ea typeface="Meiryo UI" panose="020B0604030504040204" pitchFamily="34" charset="-128"/>
                <a:cs typeface="Inter Medium" pitchFamily="34" charset="-120"/>
              </a:rPr>
              <a:t>プリントパック（売上422億円／2024年）</a:t>
            </a:r>
            <a:endParaRPr lang="en-US" sz="1250" dirty="0">
              <a:solidFill>
                <a:srgbClr val="464646"/>
              </a:solidFill>
              <a:latin typeface="Meiryo UI" panose="020B0604030504040204" pitchFamily="34" charset="-128"/>
              <a:ea typeface="Meiryo UI" panose="020B0604030504040204" pitchFamily="34" charset="-128"/>
              <a:cs typeface="Inter Medium" pitchFamily="34" charset="-120"/>
            </a:endParaRPr>
          </a:p>
          <a:p>
            <a:pPr lvl="1">
              <a:lnSpc>
                <a:spcPts val="1900"/>
              </a:lnSpc>
              <a:buSzPct val="100000"/>
            </a:pPr>
            <a:r>
              <a:rPr lang="en-US" sz="1250" b="1" dirty="0">
                <a:solidFill>
                  <a:srgbClr val="464646"/>
                </a:solidFill>
                <a:latin typeface="Meiryo UI" panose="020B0604030504040204" pitchFamily="34" charset="-128"/>
                <a:ea typeface="Meiryo UI" panose="020B0604030504040204" pitchFamily="34" charset="-128"/>
                <a:cs typeface="Inter Medium" pitchFamily="34" charset="-120"/>
              </a:rPr>
              <a:t>グラフィック（371億円／1,186名／2024年）</a:t>
            </a: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a:t>
            </a:r>
            <a:r>
              <a:rPr lang="en-US" sz="1250" b="1" dirty="0">
                <a:solidFill>
                  <a:srgbClr val="464646"/>
                </a:solidFill>
                <a:latin typeface="Meiryo UI" panose="020B0604030504040204" pitchFamily="34" charset="-128"/>
                <a:ea typeface="Meiryo UI" panose="020B0604030504040204" pitchFamily="34" charset="-128"/>
                <a:cs typeface="Inter Medium" pitchFamily="34" charset="-120"/>
              </a:rPr>
              <a:t>ラクスル（511億円／2024年）</a:t>
            </a:r>
            <a:endParaRPr lang="en-US" sz="1250" dirty="0">
              <a:latin typeface="Meiryo UI" panose="020B0604030504040204" pitchFamily="34" charset="-128"/>
              <a:ea typeface="Meiryo UI" panose="020B0604030504040204" pitchFamily="34" charset="-128"/>
            </a:endParaRPr>
          </a:p>
        </p:txBody>
      </p:sp>
      <p:sp>
        <p:nvSpPr>
          <p:cNvPr id="6" name="Text 4"/>
          <p:cNvSpPr/>
          <p:nvPr/>
        </p:nvSpPr>
        <p:spPr>
          <a:xfrm>
            <a:off x="774859" y="2401014"/>
            <a:ext cx="6187916" cy="486013"/>
          </a:xfrm>
          <a:prstGeom prst="rect">
            <a:avLst/>
          </a:prstGeom>
          <a:noFill/>
          <a:ln/>
        </p:spPr>
        <p:txBody>
          <a:bodyPr wrap="square" lIns="0" tIns="0" rIns="0" bIns="0" rtlCol="0" anchor="t"/>
          <a:lstStyle/>
          <a:p>
            <a:pPr marL="342900" indent="-342900" algn="l">
              <a:lnSpc>
                <a:spcPts val="1900"/>
              </a:lnSpc>
              <a:buSzPct val="100000"/>
              <a:buChar char="•"/>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主な戦術：テンプレ入稿／</a:t>
            </a:r>
            <a:r>
              <a:rPr lang="en-US" sz="1250" b="1" dirty="0">
                <a:solidFill>
                  <a:srgbClr val="464646"/>
                </a:solidFill>
                <a:latin typeface="Meiryo UI" panose="020B0604030504040204" pitchFamily="34" charset="-128"/>
                <a:ea typeface="Meiryo UI" panose="020B0604030504040204" pitchFamily="34" charset="-128"/>
                <a:cs typeface="Inter Medium" pitchFamily="34" charset="-120"/>
              </a:rPr>
              <a:t>AI自動見積</a:t>
            </a: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／面付・スケジューリング自動化／24/</a:t>
            </a:r>
          </a:p>
          <a:p>
            <a:pPr lvl="1">
              <a:lnSpc>
                <a:spcPts val="1900"/>
              </a:lnSpc>
              <a:buSzPct val="100000"/>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365稼働／</a:t>
            </a:r>
            <a:r>
              <a:rPr lang="en-US" sz="1250" b="1" dirty="0">
                <a:solidFill>
                  <a:srgbClr val="464646"/>
                </a:solidFill>
                <a:latin typeface="Meiryo UI" panose="020B0604030504040204" pitchFamily="34" charset="-128"/>
                <a:ea typeface="Meiryo UI" panose="020B0604030504040204" pitchFamily="34" charset="-128"/>
                <a:cs typeface="Inter Medium" pitchFamily="34" charset="-120"/>
              </a:rPr>
              <a:t>広告投資重視（営業0人型）</a:t>
            </a:r>
            <a:endParaRPr lang="en-US" sz="1250" dirty="0">
              <a:latin typeface="Meiryo UI" panose="020B0604030504040204" pitchFamily="34" charset="-128"/>
              <a:ea typeface="Meiryo UI" panose="020B0604030504040204" pitchFamily="34" charset="-128"/>
            </a:endParaRPr>
          </a:p>
        </p:txBody>
      </p:sp>
      <p:sp>
        <p:nvSpPr>
          <p:cNvPr id="7" name="Text 5"/>
          <p:cNvSpPr/>
          <p:nvPr/>
        </p:nvSpPr>
        <p:spPr>
          <a:xfrm>
            <a:off x="774859" y="2940129"/>
            <a:ext cx="6187916" cy="486013"/>
          </a:xfrm>
          <a:prstGeom prst="rect">
            <a:avLst/>
          </a:prstGeom>
          <a:noFill/>
          <a:ln/>
        </p:spPr>
        <p:txBody>
          <a:bodyPr wrap="square" lIns="0" tIns="0" rIns="0" bIns="0" rtlCol="0" anchor="t"/>
          <a:lstStyle/>
          <a:p>
            <a:pPr marL="342900" indent="-342900" algn="l">
              <a:lnSpc>
                <a:spcPts val="1900"/>
              </a:lnSpc>
              <a:buSzPct val="100000"/>
              <a:buChar char="•"/>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代表KPI例：</a:t>
            </a:r>
            <a:r>
              <a:rPr lang="en-US" sz="1250" b="1" dirty="0">
                <a:solidFill>
                  <a:srgbClr val="464646"/>
                </a:solidFill>
                <a:latin typeface="Meiryo UI" panose="020B0604030504040204" pitchFamily="34" charset="-128"/>
                <a:ea typeface="Meiryo UI" panose="020B0604030504040204" pitchFamily="34" charset="-128"/>
                <a:cs typeface="Inter Medium" pitchFamily="34" charset="-120"/>
              </a:rPr>
              <a:t>受注件数/日（例：プリントパック約1.1万件）</a:t>
            </a:r>
          </a:p>
          <a:p>
            <a:pPr lvl="1">
              <a:lnSpc>
                <a:spcPts val="1900"/>
              </a:lnSpc>
              <a:buSzPct val="100000"/>
            </a:pPr>
            <a:r>
              <a:rPr lang="en-US" sz="1250" dirty="0" err="1">
                <a:solidFill>
                  <a:srgbClr val="464646"/>
                </a:solidFill>
                <a:latin typeface="Meiryo UI" panose="020B0604030504040204" pitchFamily="34" charset="-128"/>
                <a:ea typeface="Meiryo UI" panose="020B0604030504040204" pitchFamily="34" charset="-128"/>
                <a:cs typeface="Inter Medium" pitchFamily="34" charset="-120"/>
              </a:rPr>
              <a:t>当日</a:t>
            </a: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a:t>
            </a:r>
            <a:r>
              <a:rPr lang="en-US" sz="1250" dirty="0" err="1">
                <a:solidFill>
                  <a:srgbClr val="464646"/>
                </a:solidFill>
                <a:latin typeface="Meiryo UI" panose="020B0604030504040204" pitchFamily="34" charset="-128"/>
                <a:ea typeface="Meiryo UI" panose="020B0604030504040204" pitchFamily="34" charset="-128"/>
                <a:cs typeface="Inter Medium" pitchFamily="34" charset="-120"/>
              </a:rPr>
              <a:t>翌日出荷率、CPA最適化</a:t>
            </a:r>
            <a:endParaRPr lang="en-US" sz="1250" dirty="0">
              <a:latin typeface="Meiryo UI" panose="020B0604030504040204" pitchFamily="34" charset="-128"/>
              <a:ea typeface="Meiryo UI" panose="020B0604030504040204" pitchFamily="34" charset="-128"/>
            </a:endParaRPr>
          </a:p>
        </p:txBody>
      </p:sp>
      <p:sp>
        <p:nvSpPr>
          <p:cNvPr id="8" name="Shape 6"/>
          <p:cNvSpPr/>
          <p:nvPr/>
        </p:nvSpPr>
        <p:spPr>
          <a:xfrm>
            <a:off x="607695" y="3745230"/>
            <a:ext cx="6522244" cy="2044779"/>
          </a:xfrm>
          <a:prstGeom prst="roundRect">
            <a:avLst>
              <a:gd name="adj" fmla="val 1265"/>
            </a:avLst>
          </a:prstGeom>
          <a:solidFill>
            <a:srgbClr val="FFFFFF"/>
          </a:solidFill>
          <a:ln w="15240">
            <a:solidFill>
              <a:srgbClr val="D8D4D4"/>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9" name="Text 7"/>
          <p:cNvSpPr/>
          <p:nvPr/>
        </p:nvSpPr>
        <p:spPr>
          <a:xfrm>
            <a:off x="774859" y="3912394"/>
            <a:ext cx="2957632" cy="237292"/>
          </a:xfrm>
          <a:prstGeom prst="rect">
            <a:avLst/>
          </a:prstGeom>
          <a:noFill/>
          <a:ln/>
        </p:spPr>
        <p:txBody>
          <a:bodyPr wrap="none" lIns="0" tIns="0" rIns="0" bIns="0" rtlCol="0" anchor="t"/>
          <a:lstStyle/>
          <a:p>
            <a:pPr marL="0" indent="0" algn="l">
              <a:lnSpc>
                <a:spcPts val="1850"/>
              </a:lnSpc>
              <a:buNone/>
            </a:pPr>
            <a:r>
              <a:rPr lang="en-US" dirty="0">
                <a:solidFill>
                  <a:srgbClr val="464646"/>
                </a:solidFill>
                <a:latin typeface="Meiryo UI" panose="020B0604030504040204" pitchFamily="34" charset="-128"/>
                <a:ea typeface="Meiryo UI" panose="020B0604030504040204" pitchFamily="34" charset="-128"/>
                <a:cs typeface="DM Sans Semi Bold" pitchFamily="34" charset="-120"/>
              </a:rPr>
              <a:t>標準化×課題解決：量産販促・BPO</a:t>
            </a:r>
            <a:endParaRPr lang="en-US" dirty="0">
              <a:latin typeface="Meiryo UI" panose="020B0604030504040204" pitchFamily="34" charset="-128"/>
              <a:ea typeface="Meiryo UI" panose="020B0604030504040204" pitchFamily="34" charset="-128"/>
            </a:endParaRPr>
          </a:p>
        </p:txBody>
      </p:sp>
      <p:sp>
        <p:nvSpPr>
          <p:cNvPr id="10" name="Text 8"/>
          <p:cNvSpPr/>
          <p:nvPr/>
        </p:nvSpPr>
        <p:spPr>
          <a:xfrm>
            <a:off x="774859" y="4301609"/>
            <a:ext cx="6187916" cy="243007"/>
          </a:xfrm>
          <a:prstGeom prst="rect">
            <a:avLst/>
          </a:prstGeom>
          <a:noFill/>
          <a:ln/>
        </p:spPr>
        <p:txBody>
          <a:bodyPr wrap="none" lIns="0" tIns="0" rIns="0" bIns="0" rtlCol="0" anchor="t"/>
          <a:lstStyle/>
          <a:p>
            <a:pPr marL="342900" indent="-342900" algn="l">
              <a:lnSpc>
                <a:spcPts val="1900"/>
              </a:lnSpc>
              <a:buSzPct val="100000"/>
              <a:buChar char="•"/>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代表：</a:t>
            </a:r>
            <a:r>
              <a:rPr lang="en-US" sz="1250" b="1" dirty="0">
                <a:solidFill>
                  <a:srgbClr val="464646"/>
                </a:solidFill>
                <a:latin typeface="Meiryo UI" panose="020B0604030504040204" pitchFamily="34" charset="-128"/>
                <a:ea typeface="Meiryo UI" panose="020B0604030504040204" pitchFamily="34" charset="-128"/>
                <a:cs typeface="Inter Medium" pitchFamily="34" charset="-120"/>
              </a:rPr>
              <a:t>TOPPAN Edge</a:t>
            </a: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a:t>
            </a:r>
            <a:r>
              <a:rPr lang="en-US" sz="1250" b="1" dirty="0">
                <a:solidFill>
                  <a:srgbClr val="464646"/>
                </a:solidFill>
                <a:latin typeface="Meiryo UI" panose="020B0604030504040204" pitchFamily="34" charset="-128"/>
                <a:ea typeface="Meiryo UI" panose="020B0604030504040204" pitchFamily="34" charset="-128"/>
                <a:cs typeface="Inter Medium" pitchFamily="34" charset="-120"/>
              </a:rPr>
              <a:t>共同印刷</a:t>
            </a: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 等</a:t>
            </a:r>
            <a:endParaRPr lang="en-US" sz="1250" dirty="0">
              <a:latin typeface="Meiryo UI" panose="020B0604030504040204" pitchFamily="34" charset="-128"/>
              <a:ea typeface="Meiryo UI" panose="020B0604030504040204" pitchFamily="34" charset="-128"/>
            </a:endParaRPr>
          </a:p>
        </p:txBody>
      </p:sp>
      <p:sp>
        <p:nvSpPr>
          <p:cNvPr id="11" name="Text 9"/>
          <p:cNvSpPr/>
          <p:nvPr/>
        </p:nvSpPr>
        <p:spPr>
          <a:xfrm>
            <a:off x="774859" y="4597718"/>
            <a:ext cx="6187916" cy="486013"/>
          </a:xfrm>
          <a:prstGeom prst="rect">
            <a:avLst/>
          </a:prstGeom>
          <a:noFill/>
          <a:ln/>
        </p:spPr>
        <p:txBody>
          <a:bodyPr wrap="square" lIns="0" tIns="0" rIns="0" bIns="0" rtlCol="0" anchor="t"/>
          <a:lstStyle/>
          <a:p>
            <a:pPr marL="342900" indent="-342900" algn="l">
              <a:lnSpc>
                <a:spcPts val="1900"/>
              </a:lnSpc>
              <a:buSzPct val="100000"/>
              <a:buChar char="•"/>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主な戦術：</a:t>
            </a:r>
            <a:r>
              <a:rPr lang="en-US" sz="1250" b="1" dirty="0">
                <a:solidFill>
                  <a:srgbClr val="464646"/>
                </a:solidFill>
                <a:latin typeface="Meiryo UI" panose="020B0604030504040204" pitchFamily="34" charset="-128"/>
                <a:ea typeface="Meiryo UI" panose="020B0604030504040204" pitchFamily="34" charset="-128"/>
                <a:cs typeface="Inter Medium" pitchFamily="34" charset="-120"/>
              </a:rPr>
              <a:t>ID/</a:t>
            </a:r>
            <a:r>
              <a:rPr lang="en-US" sz="1250" b="1" dirty="0" err="1">
                <a:solidFill>
                  <a:srgbClr val="464646"/>
                </a:solidFill>
                <a:latin typeface="Meiryo UI" panose="020B0604030504040204" pitchFamily="34" charset="-128"/>
                <a:ea typeface="Meiryo UI" panose="020B0604030504040204" pitchFamily="34" charset="-128"/>
                <a:cs typeface="Inter Medium" pitchFamily="34" charset="-120"/>
              </a:rPr>
              <a:t>IC・セキュリティ</a:t>
            </a:r>
            <a:r>
              <a:rPr lang="en-US" sz="1250" dirty="0" err="1">
                <a:solidFill>
                  <a:srgbClr val="464646"/>
                </a:solidFill>
                <a:latin typeface="Meiryo UI" panose="020B0604030504040204" pitchFamily="34" charset="-128"/>
                <a:ea typeface="Meiryo UI" panose="020B0604030504040204" pitchFamily="34" charset="-128"/>
                <a:cs typeface="Inter Medium" pitchFamily="34" charset="-120"/>
              </a:rPr>
              <a:t>、大量販促の在庫一元化／店舗什器・キット化</a:t>
            </a:r>
            <a:endParaRPr lang="en-US" sz="1250" dirty="0">
              <a:solidFill>
                <a:srgbClr val="464646"/>
              </a:solidFill>
              <a:latin typeface="Meiryo UI" panose="020B0604030504040204" pitchFamily="34" charset="-128"/>
              <a:ea typeface="Meiryo UI" panose="020B0604030504040204" pitchFamily="34" charset="-128"/>
              <a:cs typeface="Inter Medium" pitchFamily="34" charset="-120"/>
            </a:endParaRPr>
          </a:p>
          <a:p>
            <a:pPr algn="l">
              <a:lnSpc>
                <a:spcPts val="1900"/>
              </a:lnSpc>
              <a:buSzPct val="100000"/>
            </a:pPr>
            <a:r>
              <a:rPr lang="en-US" sz="1250" b="1" dirty="0">
                <a:solidFill>
                  <a:srgbClr val="464646"/>
                </a:solidFill>
                <a:latin typeface="Meiryo UI" panose="020B0604030504040204" pitchFamily="34" charset="-128"/>
                <a:ea typeface="Meiryo UI" panose="020B0604030504040204" pitchFamily="34" charset="-128"/>
                <a:cs typeface="Inter Medium" pitchFamily="34" charset="-120"/>
              </a:rPr>
              <a:t>	</a:t>
            </a:r>
            <a:r>
              <a:rPr lang="en-US" sz="1250" b="1" dirty="0" err="1">
                <a:solidFill>
                  <a:srgbClr val="464646"/>
                </a:solidFill>
                <a:latin typeface="Meiryo UI" panose="020B0604030504040204" pitchFamily="34" charset="-128"/>
                <a:ea typeface="Meiryo UI" panose="020B0604030504040204" pitchFamily="34" charset="-128"/>
                <a:cs typeface="Inter Medium" pitchFamily="34" charset="-120"/>
              </a:rPr>
              <a:t>BPO受託</a:t>
            </a:r>
            <a:r>
              <a:rPr lang="en-US" sz="1250" dirty="0" err="1">
                <a:solidFill>
                  <a:srgbClr val="464646"/>
                </a:solidFill>
                <a:latin typeface="Meiryo UI" panose="020B0604030504040204" pitchFamily="34" charset="-128"/>
                <a:ea typeface="Meiryo UI" panose="020B0604030504040204" pitchFamily="34" charset="-128"/>
                <a:cs typeface="Inter Medium" pitchFamily="34" charset="-120"/>
              </a:rPr>
              <a:t>、配送・ロジ連携</a:t>
            </a:r>
            <a:endParaRPr lang="en-US" sz="1250" dirty="0">
              <a:latin typeface="Meiryo UI" panose="020B0604030504040204" pitchFamily="34" charset="-128"/>
              <a:ea typeface="Meiryo UI" panose="020B0604030504040204" pitchFamily="34" charset="-128"/>
            </a:endParaRPr>
          </a:p>
        </p:txBody>
      </p:sp>
      <p:sp>
        <p:nvSpPr>
          <p:cNvPr id="12" name="Text 10"/>
          <p:cNvSpPr/>
          <p:nvPr/>
        </p:nvSpPr>
        <p:spPr>
          <a:xfrm>
            <a:off x="774859" y="5136833"/>
            <a:ext cx="6187916" cy="243007"/>
          </a:xfrm>
          <a:prstGeom prst="rect">
            <a:avLst/>
          </a:prstGeom>
          <a:noFill/>
          <a:ln/>
        </p:spPr>
        <p:txBody>
          <a:bodyPr wrap="none" lIns="0" tIns="0" rIns="0" bIns="0" rtlCol="0" anchor="t"/>
          <a:lstStyle/>
          <a:p>
            <a:pPr marL="342900" indent="-342900" algn="l">
              <a:lnSpc>
                <a:spcPts val="1900"/>
              </a:lnSpc>
              <a:buSzPct val="100000"/>
              <a:buChar char="•"/>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代表KPI例：在庫回転率、誤送率、SLA遵守率、センター処理コスト/件</a:t>
            </a:r>
            <a:endParaRPr lang="en-US" sz="1250" dirty="0">
              <a:latin typeface="Meiryo UI" panose="020B0604030504040204" pitchFamily="34" charset="-128"/>
              <a:ea typeface="Meiryo UI" panose="020B0604030504040204" pitchFamily="34" charset="-128"/>
            </a:endParaRPr>
          </a:p>
        </p:txBody>
      </p:sp>
      <p:sp>
        <p:nvSpPr>
          <p:cNvPr id="13" name="Shape 11"/>
          <p:cNvSpPr/>
          <p:nvPr/>
        </p:nvSpPr>
        <p:spPr>
          <a:xfrm>
            <a:off x="7508081" y="1305520"/>
            <a:ext cx="6522244" cy="2268855"/>
          </a:xfrm>
          <a:prstGeom prst="roundRect">
            <a:avLst>
              <a:gd name="adj" fmla="val 1265"/>
            </a:avLst>
          </a:prstGeom>
          <a:solidFill>
            <a:srgbClr val="FFFFFF"/>
          </a:solidFill>
          <a:ln w="15240">
            <a:solidFill>
              <a:srgbClr val="D8D4D4"/>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14" name="Text 12"/>
          <p:cNvSpPr/>
          <p:nvPr/>
        </p:nvSpPr>
        <p:spPr>
          <a:xfrm>
            <a:off x="7675245" y="1472684"/>
            <a:ext cx="3904178" cy="237292"/>
          </a:xfrm>
          <a:prstGeom prst="rect">
            <a:avLst/>
          </a:prstGeom>
          <a:noFill/>
          <a:ln/>
        </p:spPr>
        <p:txBody>
          <a:bodyPr wrap="none" lIns="0" tIns="0" rIns="0" bIns="0" rtlCol="0" anchor="t"/>
          <a:lstStyle/>
          <a:p>
            <a:pPr marL="0" indent="0" algn="l">
              <a:lnSpc>
                <a:spcPts val="1850"/>
              </a:lnSpc>
              <a:buNone/>
            </a:pPr>
            <a:r>
              <a:rPr lang="en-US" dirty="0">
                <a:solidFill>
                  <a:srgbClr val="464646"/>
                </a:solidFill>
                <a:latin typeface="Meiryo UI" panose="020B0604030504040204" pitchFamily="34" charset="-128"/>
                <a:ea typeface="Meiryo UI" panose="020B0604030504040204" pitchFamily="34" charset="-128"/>
                <a:cs typeface="DM Sans Semi Bold" pitchFamily="34" charset="-120"/>
              </a:rPr>
              <a:t>個別最適×製造：地域工場／包装・ラベル特化</a:t>
            </a:r>
            <a:endParaRPr lang="en-US" dirty="0">
              <a:latin typeface="Meiryo UI" panose="020B0604030504040204" pitchFamily="34" charset="-128"/>
              <a:ea typeface="Meiryo UI" panose="020B0604030504040204" pitchFamily="34" charset="-128"/>
            </a:endParaRPr>
          </a:p>
        </p:txBody>
      </p:sp>
      <p:sp>
        <p:nvSpPr>
          <p:cNvPr id="15" name="Text 13"/>
          <p:cNvSpPr/>
          <p:nvPr/>
        </p:nvSpPr>
        <p:spPr>
          <a:xfrm>
            <a:off x="7675245" y="1877140"/>
            <a:ext cx="6187916" cy="243007"/>
          </a:xfrm>
          <a:prstGeom prst="rect">
            <a:avLst/>
          </a:prstGeom>
          <a:noFill/>
          <a:ln/>
        </p:spPr>
        <p:txBody>
          <a:bodyPr wrap="none" lIns="0" tIns="0" rIns="0" bIns="0" rtlCol="0" anchor="t"/>
          <a:lstStyle/>
          <a:p>
            <a:pPr marL="342900" indent="-342900" algn="l">
              <a:lnSpc>
                <a:spcPts val="1900"/>
              </a:lnSpc>
              <a:buSzPct val="100000"/>
              <a:buChar char="•"/>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代表：地域中堅（例：パッケ・ラベル特化）、</a:t>
            </a:r>
            <a:r>
              <a:rPr lang="en-US" sz="1250" b="1" dirty="0">
                <a:solidFill>
                  <a:srgbClr val="464646"/>
                </a:solidFill>
                <a:latin typeface="Meiryo UI" panose="020B0604030504040204" pitchFamily="34" charset="-128"/>
                <a:ea typeface="Meiryo UI" panose="020B0604030504040204" pitchFamily="34" charset="-128"/>
                <a:cs typeface="Inter Medium" pitchFamily="34" charset="-120"/>
              </a:rPr>
              <a:t>SCREEN GS導入先</a:t>
            </a: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 など</a:t>
            </a:r>
            <a:endParaRPr lang="en-US" sz="1250" dirty="0">
              <a:latin typeface="Meiryo UI" panose="020B0604030504040204" pitchFamily="34" charset="-128"/>
              <a:ea typeface="Meiryo UI" panose="020B0604030504040204" pitchFamily="34" charset="-128"/>
            </a:endParaRPr>
          </a:p>
        </p:txBody>
      </p:sp>
      <p:sp>
        <p:nvSpPr>
          <p:cNvPr id="16" name="Text 14"/>
          <p:cNvSpPr/>
          <p:nvPr/>
        </p:nvSpPr>
        <p:spPr>
          <a:xfrm>
            <a:off x="7675245" y="2173249"/>
            <a:ext cx="6187916" cy="486013"/>
          </a:xfrm>
          <a:prstGeom prst="rect">
            <a:avLst/>
          </a:prstGeom>
          <a:noFill/>
          <a:ln/>
        </p:spPr>
        <p:txBody>
          <a:bodyPr wrap="square" lIns="0" tIns="0" rIns="0" bIns="0" rtlCol="0" anchor="t"/>
          <a:lstStyle/>
          <a:p>
            <a:pPr marL="342900" indent="-342900" algn="l">
              <a:lnSpc>
                <a:spcPts val="1900"/>
              </a:lnSpc>
              <a:buSzPct val="100000"/>
              <a:buChar char="•"/>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主な戦術：</a:t>
            </a:r>
            <a:r>
              <a:rPr lang="en-US" sz="1250" b="1" dirty="0">
                <a:solidFill>
                  <a:srgbClr val="464646"/>
                </a:solidFill>
                <a:latin typeface="Meiryo UI" panose="020B0604030504040204" pitchFamily="34" charset="-128"/>
                <a:ea typeface="Meiryo UI" panose="020B0604030504040204" pitchFamily="34" charset="-128"/>
                <a:cs typeface="Inter Medium" pitchFamily="34" charset="-120"/>
              </a:rPr>
              <a:t>可変印刷（VDP）</a:t>
            </a: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a:t>
            </a:r>
            <a:r>
              <a:rPr lang="en-US" sz="1250" dirty="0" err="1">
                <a:solidFill>
                  <a:srgbClr val="464646"/>
                </a:solidFill>
                <a:latin typeface="Meiryo UI" panose="020B0604030504040204" pitchFamily="34" charset="-128"/>
                <a:ea typeface="Meiryo UI" panose="020B0604030504040204" pitchFamily="34" charset="-128"/>
                <a:cs typeface="Inter Medium" pitchFamily="34" charset="-120"/>
              </a:rPr>
              <a:t>短納期の</a:t>
            </a:r>
            <a:r>
              <a:rPr lang="en-US" sz="1250" b="1" dirty="0" err="1">
                <a:solidFill>
                  <a:srgbClr val="464646"/>
                </a:solidFill>
                <a:latin typeface="Meiryo UI" panose="020B0604030504040204" pitchFamily="34" charset="-128"/>
                <a:ea typeface="Meiryo UI" panose="020B0604030504040204" pitchFamily="34" charset="-128"/>
                <a:cs typeface="Inter Medium" pitchFamily="34" charset="-120"/>
              </a:rPr>
              <a:t>段取り最適化</a:t>
            </a:r>
            <a:r>
              <a:rPr lang="en-US" sz="1250" dirty="0" err="1">
                <a:solidFill>
                  <a:srgbClr val="464646"/>
                </a:solidFill>
                <a:latin typeface="Meiryo UI" panose="020B0604030504040204" pitchFamily="34" charset="-128"/>
                <a:ea typeface="Meiryo UI" panose="020B0604030504040204" pitchFamily="34" charset="-128"/>
                <a:cs typeface="Inter Medium" pitchFamily="34" charset="-120"/>
              </a:rPr>
              <a:t>、</a:t>
            </a:r>
            <a:r>
              <a:rPr lang="en-US" sz="1250" b="1" dirty="0" err="1">
                <a:solidFill>
                  <a:srgbClr val="464646"/>
                </a:solidFill>
                <a:latin typeface="Meiryo UI" panose="020B0604030504040204" pitchFamily="34" charset="-128"/>
                <a:ea typeface="Meiryo UI" panose="020B0604030504040204" pitchFamily="34" charset="-128"/>
                <a:cs typeface="Inter Medium" pitchFamily="34" charset="-120"/>
              </a:rPr>
              <a:t>外観検査AI</a:t>
            </a:r>
            <a:endParaRPr lang="en-US" sz="1250" b="1" dirty="0">
              <a:solidFill>
                <a:srgbClr val="464646"/>
              </a:solidFill>
              <a:latin typeface="Meiryo UI" panose="020B0604030504040204" pitchFamily="34" charset="-128"/>
              <a:ea typeface="Meiryo UI" panose="020B0604030504040204" pitchFamily="34" charset="-128"/>
              <a:cs typeface="Inter Medium" pitchFamily="34" charset="-120"/>
            </a:endParaRPr>
          </a:p>
          <a:p>
            <a:pPr algn="l">
              <a:lnSpc>
                <a:spcPts val="1900"/>
              </a:lnSpc>
              <a:buSzPct val="100000"/>
            </a:pPr>
            <a:r>
              <a:rPr lang="en-US" sz="1250" b="1" dirty="0">
                <a:solidFill>
                  <a:srgbClr val="464646"/>
                </a:solidFill>
                <a:latin typeface="Meiryo UI" panose="020B0604030504040204" pitchFamily="34" charset="-128"/>
                <a:ea typeface="Meiryo UI" panose="020B0604030504040204" pitchFamily="34" charset="-128"/>
                <a:cs typeface="Inter Medium" pitchFamily="34" charset="-120"/>
              </a:rPr>
              <a:t>	</a:t>
            </a:r>
            <a:r>
              <a:rPr lang="en-US" sz="1250" dirty="0" err="1">
                <a:solidFill>
                  <a:srgbClr val="464646"/>
                </a:solidFill>
                <a:latin typeface="Meiryo UI" panose="020B0604030504040204" pitchFamily="34" charset="-128"/>
                <a:ea typeface="Meiryo UI" panose="020B0604030504040204" pitchFamily="34" charset="-128"/>
                <a:cs typeface="Inter Medium" pitchFamily="34" charset="-120"/>
              </a:rPr>
              <a:t>色管理標準化、</a:t>
            </a:r>
            <a:r>
              <a:rPr lang="en-US" sz="1250" b="1" dirty="0" err="1">
                <a:solidFill>
                  <a:srgbClr val="464646"/>
                </a:solidFill>
                <a:latin typeface="Meiryo UI" panose="020B0604030504040204" pitchFamily="34" charset="-128"/>
                <a:ea typeface="Meiryo UI" panose="020B0604030504040204" pitchFamily="34" charset="-128"/>
                <a:cs typeface="Inter Medium" pitchFamily="34" charset="-120"/>
              </a:rPr>
              <a:t>少量多品種</a:t>
            </a:r>
            <a:endParaRPr lang="en-US" sz="1250" dirty="0">
              <a:latin typeface="Meiryo UI" panose="020B0604030504040204" pitchFamily="34" charset="-128"/>
              <a:ea typeface="Meiryo UI" panose="020B0604030504040204" pitchFamily="34" charset="-128"/>
            </a:endParaRPr>
          </a:p>
        </p:txBody>
      </p:sp>
      <p:sp>
        <p:nvSpPr>
          <p:cNvPr id="17" name="Text 15"/>
          <p:cNvSpPr/>
          <p:nvPr/>
        </p:nvSpPr>
        <p:spPr>
          <a:xfrm>
            <a:off x="7675245" y="2712364"/>
            <a:ext cx="6187916" cy="243007"/>
          </a:xfrm>
          <a:prstGeom prst="rect">
            <a:avLst/>
          </a:prstGeom>
          <a:noFill/>
          <a:ln/>
        </p:spPr>
        <p:txBody>
          <a:bodyPr wrap="none" lIns="0" tIns="0" rIns="0" bIns="0" rtlCol="0" anchor="t"/>
          <a:lstStyle/>
          <a:p>
            <a:pPr marL="342900" indent="-342900" algn="l">
              <a:lnSpc>
                <a:spcPts val="1900"/>
              </a:lnSpc>
              <a:buSzPct val="100000"/>
              <a:buChar char="•"/>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代表KPI例：段取り時間、</a:t>
            </a:r>
            <a:r>
              <a:rPr lang="en-US" sz="1250" b="1" dirty="0">
                <a:solidFill>
                  <a:srgbClr val="464646"/>
                </a:solidFill>
                <a:latin typeface="Meiryo UI" panose="020B0604030504040204" pitchFamily="34" charset="-128"/>
                <a:ea typeface="Meiryo UI" panose="020B0604030504040204" pitchFamily="34" charset="-128"/>
                <a:cs typeface="Inter Medium" pitchFamily="34" charset="-120"/>
              </a:rPr>
              <a:t>初回合格率</a:t>
            </a: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、再校回数、不良率、稼働率</a:t>
            </a:r>
            <a:endParaRPr lang="en-US" sz="1250" dirty="0">
              <a:latin typeface="Meiryo UI" panose="020B0604030504040204" pitchFamily="34" charset="-128"/>
              <a:ea typeface="Meiryo UI" panose="020B0604030504040204" pitchFamily="34" charset="-128"/>
            </a:endParaRPr>
          </a:p>
        </p:txBody>
      </p:sp>
      <p:sp>
        <p:nvSpPr>
          <p:cNvPr id="18" name="Shape 16"/>
          <p:cNvSpPr/>
          <p:nvPr/>
        </p:nvSpPr>
        <p:spPr>
          <a:xfrm>
            <a:off x="7508081" y="3745230"/>
            <a:ext cx="6522244" cy="2044779"/>
          </a:xfrm>
          <a:prstGeom prst="roundRect">
            <a:avLst>
              <a:gd name="adj" fmla="val 1115"/>
            </a:avLst>
          </a:prstGeom>
          <a:solidFill>
            <a:srgbClr val="FFFFFF"/>
          </a:solidFill>
          <a:ln w="15240">
            <a:solidFill>
              <a:srgbClr val="1C9770"/>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19" name="Text 17"/>
          <p:cNvSpPr/>
          <p:nvPr/>
        </p:nvSpPr>
        <p:spPr>
          <a:xfrm>
            <a:off x="7675245" y="3912394"/>
            <a:ext cx="5464969" cy="237292"/>
          </a:xfrm>
          <a:prstGeom prst="rect">
            <a:avLst/>
          </a:prstGeom>
          <a:noFill/>
          <a:ln/>
        </p:spPr>
        <p:txBody>
          <a:bodyPr wrap="none" lIns="0" tIns="0" rIns="0" bIns="0" rtlCol="0" anchor="t"/>
          <a:lstStyle/>
          <a:p>
            <a:pPr marL="0" indent="0" algn="l">
              <a:lnSpc>
                <a:spcPts val="1850"/>
              </a:lnSpc>
              <a:buNone/>
            </a:pPr>
            <a:r>
              <a:rPr lang="en-US" dirty="0" err="1">
                <a:solidFill>
                  <a:srgbClr val="464646"/>
                </a:solidFill>
                <a:latin typeface="Meiryo UI" panose="020B0604030504040204" pitchFamily="34" charset="-128"/>
                <a:ea typeface="Meiryo UI" panose="020B0604030504040204" pitchFamily="34" charset="-128"/>
                <a:cs typeface="DM Sans Semi Bold" pitchFamily="34" charset="-120"/>
              </a:rPr>
              <a:t>個別最適×課題解決：メガのソリューション／地域コンサル型</a:t>
            </a:r>
            <a:r>
              <a:rPr lang="en-US" dirty="0">
                <a:solidFill>
                  <a:srgbClr val="464646"/>
                </a:solidFill>
                <a:latin typeface="Meiryo UI" panose="020B0604030504040204" pitchFamily="34" charset="-128"/>
                <a:ea typeface="Meiryo UI" panose="020B0604030504040204" pitchFamily="34" charset="-128"/>
                <a:cs typeface="DM Sans Semi Bold" pitchFamily="34" charset="-120"/>
              </a:rPr>
              <a:t> ★</a:t>
            </a:r>
            <a:endParaRPr lang="en-US" dirty="0">
              <a:latin typeface="Meiryo UI" panose="020B0604030504040204" pitchFamily="34" charset="-128"/>
              <a:ea typeface="Meiryo UI" panose="020B0604030504040204" pitchFamily="34" charset="-128"/>
            </a:endParaRPr>
          </a:p>
        </p:txBody>
      </p:sp>
      <p:sp>
        <p:nvSpPr>
          <p:cNvPr id="20" name="Text 18"/>
          <p:cNvSpPr/>
          <p:nvPr/>
        </p:nvSpPr>
        <p:spPr>
          <a:xfrm>
            <a:off x="7675245" y="4301609"/>
            <a:ext cx="6187916" cy="486013"/>
          </a:xfrm>
          <a:prstGeom prst="rect">
            <a:avLst/>
          </a:prstGeom>
          <a:noFill/>
          <a:ln/>
        </p:spPr>
        <p:txBody>
          <a:bodyPr wrap="square" lIns="0" tIns="0" rIns="0" bIns="0" rtlCol="0" anchor="t"/>
          <a:lstStyle/>
          <a:p>
            <a:pPr marL="342900" indent="-342900" algn="l">
              <a:lnSpc>
                <a:spcPts val="1900"/>
              </a:lnSpc>
              <a:buSzPct val="100000"/>
              <a:buChar char="•"/>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代表：</a:t>
            </a:r>
            <a:r>
              <a:rPr lang="en-US" sz="1250" b="1" dirty="0">
                <a:solidFill>
                  <a:srgbClr val="464646"/>
                </a:solidFill>
                <a:latin typeface="Meiryo UI" panose="020B0604030504040204" pitchFamily="34" charset="-128"/>
                <a:ea typeface="Meiryo UI" panose="020B0604030504040204" pitchFamily="34" charset="-128"/>
                <a:cs typeface="Inter Medium" pitchFamily="34" charset="-120"/>
              </a:rPr>
              <a:t>DNP（売上1兆4,576億円／2025年）</a:t>
            </a:r>
            <a:endParaRPr lang="en-US" sz="1250" dirty="0">
              <a:solidFill>
                <a:srgbClr val="464646"/>
              </a:solidFill>
              <a:latin typeface="Meiryo UI" panose="020B0604030504040204" pitchFamily="34" charset="-128"/>
              <a:ea typeface="Meiryo UI" panose="020B0604030504040204" pitchFamily="34" charset="-128"/>
              <a:cs typeface="Inter Medium" pitchFamily="34" charset="-120"/>
            </a:endParaRPr>
          </a:p>
          <a:p>
            <a:pPr algn="l">
              <a:lnSpc>
                <a:spcPts val="1900"/>
              </a:lnSpc>
              <a:buSzPct val="100000"/>
            </a:pPr>
            <a:r>
              <a:rPr lang="en-US" sz="1250" b="1" dirty="0">
                <a:solidFill>
                  <a:srgbClr val="464646"/>
                </a:solidFill>
                <a:latin typeface="Meiryo UI" panose="020B0604030504040204" pitchFamily="34" charset="-128"/>
                <a:ea typeface="Meiryo UI" panose="020B0604030504040204" pitchFamily="34" charset="-128"/>
                <a:cs typeface="Inter Medium" pitchFamily="34" charset="-120"/>
              </a:rPr>
              <a:t>	TOPPAN HD（1兆6,782億円／2024年）</a:t>
            </a: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、地域総合（コンサル＆制作）</a:t>
            </a:r>
            <a:endParaRPr lang="en-US" sz="1250" dirty="0">
              <a:latin typeface="Meiryo UI" panose="020B0604030504040204" pitchFamily="34" charset="-128"/>
              <a:ea typeface="Meiryo UI" panose="020B0604030504040204" pitchFamily="34" charset="-128"/>
            </a:endParaRPr>
          </a:p>
        </p:txBody>
      </p:sp>
      <p:sp>
        <p:nvSpPr>
          <p:cNvPr id="21" name="Text 19"/>
          <p:cNvSpPr/>
          <p:nvPr/>
        </p:nvSpPr>
        <p:spPr>
          <a:xfrm>
            <a:off x="7675245" y="4840724"/>
            <a:ext cx="6187916" cy="486013"/>
          </a:xfrm>
          <a:prstGeom prst="rect">
            <a:avLst/>
          </a:prstGeom>
          <a:noFill/>
          <a:ln/>
        </p:spPr>
        <p:txBody>
          <a:bodyPr wrap="square" lIns="0" tIns="0" rIns="0" bIns="0" rtlCol="0" anchor="t"/>
          <a:lstStyle/>
          <a:p>
            <a:pPr marL="342900" indent="-342900" algn="l">
              <a:lnSpc>
                <a:spcPts val="1900"/>
              </a:lnSpc>
              <a:buSzPct val="100000"/>
              <a:buChar char="•"/>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主な戦術：</a:t>
            </a:r>
            <a:r>
              <a:rPr lang="en-US" sz="1250" b="1" dirty="0">
                <a:solidFill>
                  <a:srgbClr val="464646"/>
                </a:solidFill>
                <a:latin typeface="Meiryo UI" panose="020B0604030504040204" pitchFamily="34" charset="-128"/>
                <a:ea typeface="Meiryo UI" panose="020B0604030504040204" pitchFamily="34" charset="-128"/>
                <a:cs typeface="Inter Medium" pitchFamily="34" charset="-120"/>
              </a:rPr>
              <a:t>ブランディング/</a:t>
            </a:r>
            <a:r>
              <a:rPr lang="en-US" sz="1250" b="1" dirty="0" err="1">
                <a:solidFill>
                  <a:srgbClr val="464646"/>
                </a:solidFill>
                <a:latin typeface="Meiryo UI" panose="020B0604030504040204" pitchFamily="34" charset="-128"/>
                <a:ea typeface="Meiryo UI" panose="020B0604030504040204" pitchFamily="34" charset="-128"/>
                <a:cs typeface="Inter Medium" pitchFamily="34" charset="-120"/>
              </a:rPr>
              <a:t>CI</a:t>
            </a:r>
            <a:r>
              <a:rPr lang="en-US" sz="1250" dirty="0" err="1">
                <a:solidFill>
                  <a:srgbClr val="464646"/>
                </a:solidFill>
                <a:latin typeface="Meiryo UI" panose="020B0604030504040204" pitchFamily="34" charset="-128"/>
                <a:ea typeface="Meiryo UI" panose="020B0604030504040204" pitchFamily="34" charset="-128"/>
                <a:cs typeface="Inter Medium" pitchFamily="34" charset="-120"/>
              </a:rPr>
              <a:t>、</a:t>
            </a:r>
            <a:r>
              <a:rPr lang="en-US" sz="1250" b="1" dirty="0" err="1">
                <a:solidFill>
                  <a:srgbClr val="464646"/>
                </a:solidFill>
                <a:latin typeface="Meiryo UI" panose="020B0604030504040204" pitchFamily="34" charset="-128"/>
                <a:ea typeface="Meiryo UI" panose="020B0604030504040204" pitchFamily="34" charset="-128"/>
                <a:cs typeface="Inter Medium" pitchFamily="34" charset="-120"/>
              </a:rPr>
              <a:t>CRM×可変DM</a:t>
            </a:r>
            <a:r>
              <a:rPr lang="en-US" sz="1250" dirty="0" err="1">
                <a:solidFill>
                  <a:srgbClr val="464646"/>
                </a:solidFill>
                <a:latin typeface="Meiryo UI" panose="020B0604030504040204" pitchFamily="34" charset="-128"/>
                <a:ea typeface="Meiryo UI" panose="020B0604030504040204" pitchFamily="34" charset="-128"/>
                <a:cs typeface="Inter Medium" pitchFamily="34" charset="-120"/>
              </a:rPr>
              <a:t>、データ基盤</a:t>
            </a: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a:t>
            </a:r>
          </a:p>
          <a:p>
            <a:pPr algn="l">
              <a:lnSpc>
                <a:spcPts val="1900"/>
              </a:lnSpc>
              <a:buSzPct val="100000"/>
            </a:pPr>
            <a:r>
              <a:rPr lang="en-US" sz="1250" b="1" dirty="0">
                <a:solidFill>
                  <a:srgbClr val="464646"/>
                </a:solidFill>
                <a:latin typeface="Meiryo UI" panose="020B0604030504040204" pitchFamily="34" charset="-128"/>
                <a:ea typeface="Meiryo UI" panose="020B0604030504040204" pitchFamily="34" charset="-128"/>
                <a:cs typeface="Inter Medium" pitchFamily="34" charset="-120"/>
              </a:rPr>
              <a:t>	</a:t>
            </a:r>
            <a:r>
              <a:rPr lang="en-US" sz="1250" b="1" dirty="0" err="1">
                <a:solidFill>
                  <a:srgbClr val="464646"/>
                </a:solidFill>
                <a:latin typeface="Meiryo UI" panose="020B0604030504040204" pitchFamily="34" charset="-128"/>
                <a:ea typeface="Meiryo UI" panose="020B0604030504040204" pitchFamily="34" charset="-128"/>
                <a:cs typeface="Inter Medium" pitchFamily="34" charset="-120"/>
              </a:rPr>
              <a:t>Hybrid-BPO</a:t>
            </a:r>
            <a:r>
              <a:rPr lang="en-US" sz="1250" dirty="0" err="1">
                <a:solidFill>
                  <a:srgbClr val="464646"/>
                </a:solidFill>
                <a:latin typeface="Meiryo UI" panose="020B0604030504040204" pitchFamily="34" charset="-128"/>
                <a:ea typeface="Meiryo UI" panose="020B0604030504040204" pitchFamily="34" charset="-128"/>
                <a:cs typeface="Inter Medium" pitchFamily="34" charset="-120"/>
              </a:rPr>
              <a:t>、</a:t>
            </a:r>
            <a:r>
              <a:rPr lang="en-US" sz="1250" b="1" dirty="0" err="1">
                <a:solidFill>
                  <a:srgbClr val="464646"/>
                </a:solidFill>
                <a:latin typeface="Meiryo UI" panose="020B0604030504040204" pitchFamily="34" charset="-128"/>
                <a:ea typeface="Meiryo UI" panose="020B0604030504040204" pitchFamily="34" charset="-128"/>
                <a:cs typeface="Inter Medium" pitchFamily="34" charset="-120"/>
              </a:rPr>
              <a:t>ESG・CO₂可視化</a:t>
            </a:r>
            <a:r>
              <a:rPr lang="en-US" sz="1250" dirty="0" err="1">
                <a:solidFill>
                  <a:srgbClr val="464646"/>
                </a:solidFill>
                <a:latin typeface="Meiryo UI" panose="020B0604030504040204" pitchFamily="34" charset="-128"/>
                <a:ea typeface="Meiryo UI" panose="020B0604030504040204" pitchFamily="34" charset="-128"/>
                <a:cs typeface="Inter Medium" pitchFamily="34" charset="-120"/>
              </a:rPr>
              <a:t>、行政・地域連携</a:t>
            </a:r>
            <a:endParaRPr lang="en-US" sz="1250" dirty="0">
              <a:latin typeface="Meiryo UI" panose="020B0604030504040204" pitchFamily="34" charset="-128"/>
              <a:ea typeface="Meiryo UI" panose="020B0604030504040204" pitchFamily="34" charset="-128"/>
            </a:endParaRPr>
          </a:p>
        </p:txBody>
      </p:sp>
      <p:sp>
        <p:nvSpPr>
          <p:cNvPr id="22" name="Text 20"/>
          <p:cNvSpPr/>
          <p:nvPr/>
        </p:nvSpPr>
        <p:spPr>
          <a:xfrm>
            <a:off x="7675245" y="5379839"/>
            <a:ext cx="6187916" cy="243007"/>
          </a:xfrm>
          <a:prstGeom prst="rect">
            <a:avLst/>
          </a:prstGeom>
          <a:noFill/>
          <a:ln/>
        </p:spPr>
        <p:txBody>
          <a:bodyPr wrap="none" lIns="0" tIns="0" rIns="0" bIns="0" rtlCol="0" anchor="t"/>
          <a:lstStyle/>
          <a:p>
            <a:pPr marL="342900" indent="-342900" algn="l">
              <a:lnSpc>
                <a:spcPts val="1900"/>
              </a:lnSpc>
              <a:buSzPct val="100000"/>
              <a:buChar char="•"/>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代表KPI例：提案単価、受注化率、</a:t>
            </a:r>
            <a:r>
              <a:rPr lang="en-US" sz="1250" b="1" dirty="0">
                <a:solidFill>
                  <a:srgbClr val="464646"/>
                </a:solidFill>
                <a:latin typeface="Meiryo UI" panose="020B0604030504040204" pitchFamily="34" charset="-128"/>
                <a:ea typeface="Meiryo UI" panose="020B0604030504040204" pitchFamily="34" charset="-128"/>
                <a:cs typeface="Inter Medium" pitchFamily="34" charset="-120"/>
              </a:rPr>
              <a:t>LTV</a:t>
            </a: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、CO₂/案件、顧客満足度</a:t>
            </a:r>
            <a:endParaRPr lang="en-US" sz="1250" dirty="0">
              <a:latin typeface="Meiryo UI" panose="020B0604030504040204" pitchFamily="34" charset="-128"/>
              <a:ea typeface="Meiryo UI" panose="020B0604030504040204" pitchFamily="34" charset="-128"/>
            </a:endParaRPr>
          </a:p>
        </p:txBody>
      </p:sp>
      <p:sp>
        <p:nvSpPr>
          <p:cNvPr id="23" name="Shape 21"/>
          <p:cNvSpPr/>
          <p:nvPr/>
        </p:nvSpPr>
        <p:spPr>
          <a:xfrm>
            <a:off x="607695" y="5888712"/>
            <a:ext cx="13415010" cy="1543407"/>
          </a:xfrm>
          <a:prstGeom prst="roundRect">
            <a:avLst>
              <a:gd name="adj" fmla="val 1477"/>
            </a:avLst>
          </a:prstGeom>
          <a:solidFill>
            <a:srgbClr val="B6D6FC"/>
          </a:solidFill>
          <a:ln/>
        </p:spPr>
        <p:txBody>
          <a:bodyPr/>
          <a:lstStyle/>
          <a:p>
            <a:endParaRPr lang="ja-GU" altLang="en-US">
              <a:latin typeface="Meiryo UI" panose="020B0604030504040204" pitchFamily="34" charset="-128"/>
              <a:ea typeface="Meiryo UI" panose="020B0604030504040204" pitchFamily="34" charset="-128"/>
            </a:endParaRPr>
          </a:p>
        </p:txBody>
      </p:sp>
      <p:pic>
        <p:nvPicPr>
          <p:cNvPr id="24" name="Image 0" descr="preencoded.png"/>
          <p:cNvPicPr>
            <a:picLocks noChangeAspect="1"/>
          </p:cNvPicPr>
          <p:nvPr/>
        </p:nvPicPr>
        <p:blipFill>
          <a:blip r:embed="rId3"/>
          <a:stretch>
            <a:fillRect/>
          </a:stretch>
        </p:blipFill>
        <p:spPr>
          <a:xfrm>
            <a:off x="759619" y="6095286"/>
            <a:ext cx="237292" cy="189905"/>
          </a:xfrm>
          <a:prstGeom prst="rect">
            <a:avLst/>
          </a:prstGeom>
        </p:spPr>
      </p:pic>
      <p:sp>
        <p:nvSpPr>
          <p:cNvPr id="25" name="Text 22"/>
          <p:cNvSpPr/>
          <p:nvPr/>
        </p:nvSpPr>
        <p:spPr>
          <a:xfrm>
            <a:off x="1148834" y="6078617"/>
            <a:ext cx="4156353" cy="237292"/>
          </a:xfrm>
          <a:prstGeom prst="rect">
            <a:avLst/>
          </a:prstGeom>
          <a:noFill/>
          <a:ln/>
        </p:spPr>
        <p:txBody>
          <a:bodyPr wrap="none" lIns="0" tIns="0" rIns="0" bIns="0" rtlCol="0" anchor="t"/>
          <a:lstStyle/>
          <a:p>
            <a:pPr marL="0" indent="0" algn="l">
              <a:lnSpc>
                <a:spcPts val="1850"/>
              </a:lnSpc>
              <a:buNone/>
            </a:pPr>
            <a:r>
              <a:rPr lang="en-US" sz="1600" dirty="0">
                <a:solidFill>
                  <a:srgbClr val="000000"/>
                </a:solidFill>
                <a:latin typeface="Meiryo UI" panose="020B0604030504040204" pitchFamily="34" charset="-128"/>
                <a:ea typeface="Meiryo UI" panose="020B0604030504040204" pitchFamily="34" charset="-128"/>
                <a:cs typeface="DM Sans Semi Bold" pitchFamily="34" charset="-120"/>
              </a:rPr>
              <a:t>スマイディア様の推奨ポジション（差別化の芯）</a:t>
            </a:r>
            <a:endParaRPr lang="en-US" sz="1600" dirty="0">
              <a:latin typeface="Meiryo UI" panose="020B0604030504040204" pitchFamily="34" charset="-128"/>
              <a:ea typeface="Meiryo UI" panose="020B0604030504040204" pitchFamily="34" charset="-128"/>
            </a:endParaRPr>
          </a:p>
        </p:txBody>
      </p:sp>
      <p:sp>
        <p:nvSpPr>
          <p:cNvPr id="26" name="Text 23"/>
          <p:cNvSpPr/>
          <p:nvPr/>
        </p:nvSpPr>
        <p:spPr>
          <a:xfrm>
            <a:off x="1148834" y="6467832"/>
            <a:ext cx="12721947" cy="243007"/>
          </a:xfrm>
          <a:prstGeom prst="rect">
            <a:avLst/>
          </a:prstGeom>
          <a:noFill/>
          <a:ln/>
        </p:spPr>
        <p:txBody>
          <a:bodyPr wrap="none" lIns="0" tIns="0" rIns="0" bIns="0" rtlCol="0" anchor="t"/>
          <a:lstStyle/>
          <a:p>
            <a:pPr marL="342900" indent="-342900" algn="l">
              <a:lnSpc>
                <a:spcPts val="1900"/>
              </a:lnSpc>
              <a:buSzPct val="100000"/>
              <a:buChar char="•"/>
            </a:pPr>
            <a:r>
              <a:rPr lang="en-US" sz="1250" dirty="0">
                <a:solidFill>
                  <a:srgbClr val="000000"/>
                </a:solidFill>
                <a:latin typeface="Meiryo UI" panose="020B0604030504040204" pitchFamily="34" charset="-128"/>
                <a:ea typeface="Meiryo UI" panose="020B0604030504040204" pitchFamily="34" charset="-128"/>
                <a:cs typeface="Inter Medium" pitchFamily="34" charset="-120"/>
              </a:rPr>
              <a:t>象限：</a:t>
            </a:r>
            <a:r>
              <a:rPr lang="en-US" sz="1250" b="1" dirty="0">
                <a:solidFill>
                  <a:srgbClr val="000000"/>
                </a:solidFill>
                <a:latin typeface="Meiryo UI" panose="020B0604030504040204" pitchFamily="34" charset="-128"/>
                <a:ea typeface="Meiryo UI" panose="020B0604030504040204" pitchFamily="34" charset="-128"/>
                <a:cs typeface="Inter Medium" pitchFamily="34" charset="-120"/>
              </a:rPr>
              <a:t>個別最適×課題解決（地域・中堅）</a:t>
            </a:r>
            <a:endParaRPr lang="en-US" sz="1250" dirty="0">
              <a:latin typeface="Meiryo UI" panose="020B0604030504040204" pitchFamily="34" charset="-128"/>
              <a:ea typeface="Meiryo UI" panose="020B0604030504040204" pitchFamily="34" charset="-128"/>
            </a:endParaRPr>
          </a:p>
        </p:txBody>
      </p:sp>
      <p:sp>
        <p:nvSpPr>
          <p:cNvPr id="27" name="Text 24"/>
          <p:cNvSpPr/>
          <p:nvPr/>
        </p:nvSpPr>
        <p:spPr>
          <a:xfrm>
            <a:off x="1148834" y="6763941"/>
            <a:ext cx="12721947" cy="243007"/>
          </a:xfrm>
          <a:prstGeom prst="rect">
            <a:avLst/>
          </a:prstGeom>
          <a:noFill/>
          <a:ln/>
        </p:spPr>
        <p:txBody>
          <a:bodyPr wrap="none" lIns="0" tIns="0" rIns="0" bIns="0" rtlCol="0" anchor="t"/>
          <a:lstStyle/>
          <a:p>
            <a:pPr marL="342900" indent="-342900" algn="l">
              <a:lnSpc>
                <a:spcPts val="1900"/>
              </a:lnSpc>
              <a:buSzPct val="100000"/>
              <a:buChar char="•"/>
            </a:pPr>
            <a:r>
              <a:rPr lang="en-US" sz="1250" dirty="0">
                <a:solidFill>
                  <a:srgbClr val="000000"/>
                </a:solidFill>
                <a:latin typeface="Meiryo UI" panose="020B0604030504040204" pitchFamily="34" charset="-128"/>
                <a:ea typeface="Meiryo UI" panose="020B0604030504040204" pitchFamily="34" charset="-128"/>
                <a:cs typeface="Inter Medium" pitchFamily="34" charset="-120"/>
              </a:rPr>
              <a:t>勝ち筋：</a:t>
            </a:r>
            <a:r>
              <a:rPr lang="en-US" sz="1250" b="1" dirty="0">
                <a:solidFill>
                  <a:srgbClr val="000000"/>
                </a:solidFill>
                <a:latin typeface="Meiryo UI" panose="020B0604030504040204" pitchFamily="34" charset="-128"/>
                <a:ea typeface="Meiryo UI" panose="020B0604030504040204" pitchFamily="34" charset="-128"/>
                <a:cs typeface="Inter Medium" pitchFamily="34" charset="-120"/>
              </a:rPr>
              <a:t>受付→見積のたたき台最短化</a:t>
            </a:r>
            <a:r>
              <a:rPr lang="en-US" sz="1250" dirty="0">
                <a:solidFill>
                  <a:srgbClr val="000000"/>
                </a:solidFill>
                <a:latin typeface="Meiryo UI" panose="020B0604030504040204" pitchFamily="34" charset="-128"/>
                <a:ea typeface="Meiryo UI" panose="020B0604030504040204" pitchFamily="34" charset="-128"/>
                <a:cs typeface="Inter Medium" pitchFamily="34" charset="-120"/>
              </a:rPr>
              <a:t>／"定型の非定型"の</a:t>
            </a:r>
            <a:r>
              <a:rPr lang="en-US" sz="1250" b="1" dirty="0">
                <a:solidFill>
                  <a:srgbClr val="000000"/>
                </a:solidFill>
                <a:latin typeface="Meiryo UI" panose="020B0604030504040204" pitchFamily="34" charset="-128"/>
                <a:ea typeface="Meiryo UI" panose="020B0604030504040204" pitchFamily="34" charset="-128"/>
                <a:cs typeface="Inter Medium" pitchFamily="34" charset="-120"/>
              </a:rPr>
              <a:t>型化</a:t>
            </a:r>
            <a:r>
              <a:rPr lang="en-US" sz="1250" dirty="0">
                <a:solidFill>
                  <a:srgbClr val="000000"/>
                </a:solidFill>
                <a:latin typeface="Meiryo UI" panose="020B0604030504040204" pitchFamily="34" charset="-128"/>
                <a:ea typeface="Meiryo UI" panose="020B0604030504040204" pitchFamily="34" charset="-128"/>
                <a:cs typeface="Inter Medium" pitchFamily="34" charset="-120"/>
              </a:rPr>
              <a:t>（色合わせ・再校・機械設定）／</a:t>
            </a:r>
            <a:r>
              <a:rPr lang="en-US" sz="1250" b="1" dirty="0">
                <a:solidFill>
                  <a:srgbClr val="000000"/>
                </a:solidFill>
                <a:latin typeface="Meiryo UI" panose="020B0604030504040204" pitchFamily="34" charset="-128"/>
                <a:ea typeface="Meiryo UI" panose="020B0604030504040204" pitchFamily="34" charset="-128"/>
                <a:cs typeface="Inter Medium" pitchFamily="34" charset="-120"/>
              </a:rPr>
              <a:t>可変DM×LP小実験</a:t>
            </a:r>
            <a:r>
              <a:rPr lang="en-US" sz="1250" dirty="0">
                <a:solidFill>
                  <a:srgbClr val="000000"/>
                </a:solidFill>
                <a:latin typeface="Meiryo UI" panose="020B0604030504040204" pitchFamily="34" charset="-128"/>
                <a:ea typeface="Meiryo UI" panose="020B0604030504040204" pitchFamily="34" charset="-128"/>
                <a:cs typeface="Inter Medium" pitchFamily="34" charset="-120"/>
              </a:rPr>
              <a:t>／</a:t>
            </a:r>
            <a:r>
              <a:rPr lang="en-US" sz="1250" b="1" dirty="0">
                <a:solidFill>
                  <a:srgbClr val="000000"/>
                </a:solidFill>
                <a:latin typeface="Meiryo UI" panose="020B0604030504040204" pitchFamily="34" charset="-128"/>
                <a:ea typeface="Meiryo UI" panose="020B0604030504040204" pitchFamily="34" charset="-128"/>
                <a:cs typeface="Inter Medium" pitchFamily="34" charset="-120"/>
              </a:rPr>
              <a:t>サステナの発注根拠化</a:t>
            </a:r>
            <a:endParaRPr lang="en-US" sz="1250" dirty="0">
              <a:latin typeface="Meiryo UI" panose="020B0604030504040204" pitchFamily="34" charset="-128"/>
              <a:ea typeface="Meiryo UI" panose="020B0604030504040204" pitchFamily="34" charset="-128"/>
            </a:endParaRPr>
          </a:p>
        </p:txBody>
      </p:sp>
      <p:sp>
        <p:nvSpPr>
          <p:cNvPr id="28" name="Text 25"/>
          <p:cNvSpPr/>
          <p:nvPr/>
        </p:nvSpPr>
        <p:spPr>
          <a:xfrm>
            <a:off x="1148834" y="7060049"/>
            <a:ext cx="12721947" cy="243007"/>
          </a:xfrm>
          <a:prstGeom prst="rect">
            <a:avLst/>
          </a:prstGeom>
          <a:noFill/>
          <a:ln/>
        </p:spPr>
        <p:txBody>
          <a:bodyPr wrap="none" lIns="0" tIns="0" rIns="0" bIns="0" rtlCol="0" anchor="t"/>
          <a:lstStyle/>
          <a:p>
            <a:pPr marL="342900" indent="-342900" algn="l">
              <a:lnSpc>
                <a:spcPts val="1900"/>
              </a:lnSpc>
              <a:buSzPct val="100000"/>
              <a:buChar char="•"/>
            </a:pPr>
            <a:r>
              <a:rPr lang="en-US" sz="1250" dirty="0">
                <a:solidFill>
                  <a:srgbClr val="000000"/>
                </a:solidFill>
                <a:latin typeface="Meiryo UI" panose="020B0604030504040204" pitchFamily="34" charset="-128"/>
                <a:ea typeface="Meiryo UI" panose="020B0604030504040204" pitchFamily="34" charset="-128"/>
                <a:cs typeface="Inter Medium" pitchFamily="34" charset="-120"/>
              </a:rPr>
              <a:t>何で勝つ：</a:t>
            </a:r>
            <a:r>
              <a:rPr lang="en-US" sz="1250" b="1" dirty="0">
                <a:solidFill>
                  <a:srgbClr val="000000"/>
                </a:solidFill>
                <a:latin typeface="Meiryo UI" panose="020B0604030504040204" pitchFamily="34" charset="-128"/>
                <a:ea typeface="Meiryo UI" panose="020B0604030504040204" pitchFamily="34" charset="-128"/>
                <a:cs typeface="Inter Medium" pitchFamily="34" charset="-120"/>
              </a:rPr>
              <a:t>伴走支援</a:t>
            </a:r>
            <a:r>
              <a:rPr lang="en-US" sz="1250" dirty="0">
                <a:solidFill>
                  <a:srgbClr val="000000"/>
                </a:solidFill>
                <a:latin typeface="Meiryo UI" panose="020B0604030504040204" pitchFamily="34" charset="-128"/>
                <a:ea typeface="Meiryo UI" panose="020B0604030504040204" pitchFamily="34" charset="-128"/>
                <a:cs typeface="Inter Medium" pitchFamily="34" charset="-120"/>
              </a:rPr>
              <a:t>・現場密着・提案速度・地域ネットワーク</a:t>
            </a:r>
            <a:endParaRPr lang="en-US" sz="1250" dirty="0">
              <a:latin typeface="Meiryo UI" panose="020B0604030504040204" pitchFamily="34" charset="-128"/>
              <a:ea typeface="Meiryo UI" panose="020B0604030504040204" pitchFamily="34" charset="-128"/>
            </a:endParaRPr>
          </a:p>
        </p:txBody>
      </p:sp>
      <p:sp>
        <p:nvSpPr>
          <p:cNvPr id="29" name="Text 26"/>
          <p:cNvSpPr/>
          <p:nvPr/>
        </p:nvSpPr>
        <p:spPr>
          <a:xfrm>
            <a:off x="607695" y="7602974"/>
            <a:ext cx="13415010" cy="194429"/>
          </a:xfrm>
          <a:prstGeom prst="rect">
            <a:avLst/>
          </a:prstGeom>
          <a:noFill/>
          <a:ln/>
        </p:spPr>
        <p:txBody>
          <a:bodyPr wrap="none" lIns="0" tIns="0" rIns="0" bIns="0" rtlCol="0" anchor="t"/>
          <a:lstStyle/>
          <a:p>
            <a:pPr marL="0" indent="0" algn="l">
              <a:lnSpc>
                <a:spcPts val="1500"/>
              </a:lnSpc>
              <a:buNone/>
            </a:pPr>
            <a:r>
              <a:rPr lang="en-US" sz="1050" dirty="0">
                <a:solidFill>
                  <a:srgbClr val="464646"/>
                </a:solidFill>
                <a:latin typeface="Meiryo UI" panose="020B0604030504040204" pitchFamily="34" charset="-128"/>
                <a:ea typeface="Meiryo UI" panose="020B0604030504040204" pitchFamily="34" charset="-128"/>
                <a:cs typeface="Inter Medium" pitchFamily="34" charset="-120"/>
              </a:rPr>
              <a:t>用語注釈：標準化＝仕様を固定し同じ形で大量生産／個別最適＝案件ごとに要件に合わせて最適化。</a:t>
            </a:r>
            <a:endParaRPr lang="en-US" sz="1050" dirty="0">
              <a:latin typeface="Meiryo UI" panose="020B0604030504040204" pitchFamily="34" charset="-128"/>
              <a:ea typeface="Meiryo UI" panose="020B0604030504040204" pitchFamily="34"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920591"/>
            <a:ext cx="7798356" cy="620078"/>
          </a:xfrm>
          <a:prstGeom prst="rect">
            <a:avLst/>
          </a:prstGeom>
          <a:noFill/>
          <a:ln/>
        </p:spPr>
        <p:txBody>
          <a:bodyPr wrap="none" lIns="0" tIns="0" rIns="0" bIns="0" rtlCol="0" anchor="t"/>
          <a:lstStyle/>
          <a:p>
            <a:pPr marL="0" indent="0" algn="l">
              <a:lnSpc>
                <a:spcPts val="4850"/>
              </a:lnSpc>
              <a:buNone/>
            </a:pPr>
            <a:r>
              <a:rPr lang="en-US" sz="4000" b="1" dirty="0">
                <a:solidFill>
                  <a:srgbClr val="030303"/>
                </a:solidFill>
                <a:latin typeface="Meiryo UI" panose="020B0604030504040204" pitchFamily="34" charset="-128"/>
                <a:ea typeface="Meiryo UI" panose="020B0604030504040204" pitchFamily="34" charset="-128"/>
                <a:cs typeface="DM Sans Semi Bold" pitchFamily="34" charset="-120"/>
              </a:rPr>
              <a:t>成長企業の具体施策（DX/自動化）</a:t>
            </a:r>
            <a:endParaRPr lang="en-US" sz="4000" b="1" dirty="0">
              <a:latin typeface="Meiryo UI" panose="020B0604030504040204" pitchFamily="34" charset="-128"/>
              <a:ea typeface="Meiryo UI" panose="020B0604030504040204" pitchFamily="34" charset="-128"/>
            </a:endParaRPr>
          </a:p>
        </p:txBody>
      </p:sp>
      <p:pic>
        <p:nvPicPr>
          <p:cNvPr id="3" name="Image 0" descr="preencoded.png"/>
          <p:cNvPicPr>
            <a:picLocks noChangeAspect="1"/>
          </p:cNvPicPr>
          <p:nvPr/>
        </p:nvPicPr>
        <p:blipFill>
          <a:blip r:embed="rId3"/>
          <a:stretch>
            <a:fillRect/>
          </a:stretch>
        </p:blipFill>
        <p:spPr>
          <a:xfrm>
            <a:off x="793790" y="2162056"/>
            <a:ext cx="496133" cy="496133"/>
          </a:xfrm>
          <a:prstGeom prst="rect">
            <a:avLst/>
          </a:prstGeom>
        </p:spPr>
      </p:pic>
      <p:sp>
        <p:nvSpPr>
          <p:cNvPr id="4" name="Text 1"/>
          <p:cNvSpPr/>
          <p:nvPr/>
        </p:nvSpPr>
        <p:spPr>
          <a:xfrm>
            <a:off x="793790" y="2906197"/>
            <a:ext cx="2480905" cy="310158"/>
          </a:xfrm>
          <a:prstGeom prst="rect">
            <a:avLst/>
          </a:prstGeom>
          <a:noFill/>
          <a:ln/>
        </p:spPr>
        <p:txBody>
          <a:bodyPr wrap="none" lIns="0" tIns="0" rIns="0" bIns="0" rtlCol="0" anchor="t"/>
          <a:lstStyle/>
          <a:p>
            <a:pPr marL="0" indent="0" algn="l">
              <a:lnSpc>
                <a:spcPts val="2400"/>
              </a:lnSpc>
              <a:buNone/>
            </a:pPr>
            <a:r>
              <a:rPr lang="en-US" sz="2400" dirty="0">
                <a:solidFill>
                  <a:srgbClr val="464646"/>
                </a:solidFill>
                <a:latin typeface="Meiryo UI" panose="020B0604030504040204" pitchFamily="34" charset="-128"/>
                <a:ea typeface="Meiryo UI" panose="020B0604030504040204" pitchFamily="34" charset="-128"/>
                <a:cs typeface="DM Sans Semi Bold" pitchFamily="34" charset="-120"/>
              </a:rPr>
              <a:t>プリプレス</a:t>
            </a:r>
            <a:endParaRPr lang="en-US" sz="2400" dirty="0">
              <a:latin typeface="Meiryo UI" panose="020B0604030504040204" pitchFamily="34" charset="-128"/>
              <a:ea typeface="Meiryo UI" panose="020B0604030504040204" pitchFamily="34" charset="-128"/>
            </a:endParaRPr>
          </a:p>
        </p:txBody>
      </p:sp>
      <p:sp>
        <p:nvSpPr>
          <p:cNvPr id="5" name="Text 2"/>
          <p:cNvSpPr/>
          <p:nvPr/>
        </p:nvSpPr>
        <p:spPr>
          <a:xfrm>
            <a:off x="793790" y="3335417"/>
            <a:ext cx="6397347" cy="317540"/>
          </a:xfrm>
          <a:prstGeom prst="rect">
            <a:avLst/>
          </a:prstGeom>
          <a:noFill/>
          <a:ln/>
        </p:spPr>
        <p:txBody>
          <a:bodyPr wrap="none" lIns="0" tIns="0" rIns="0" bIns="0" rtlCol="0" anchor="t"/>
          <a:lstStyle/>
          <a:p>
            <a:pPr marL="0" indent="0" algn="l">
              <a:lnSpc>
                <a:spcPts val="2500"/>
              </a:lnSpc>
              <a:buNone/>
            </a:pPr>
            <a:r>
              <a:rPr lang="en-US" dirty="0">
                <a:solidFill>
                  <a:srgbClr val="464646"/>
                </a:solidFill>
                <a:latin typeface="Meiryo UI" panose="020B0604030504040204" pitchFamily="34" charset="-128"/>
                <a:ea typeface="Meiryo UI" panose="020B0604030504040204" pitchFamily="34" charset="-128"/>
                <a:cs typeface="Inter Medium" pitchFamily="34" charset="-120"/>
              </a:rPr>
              <a:t>OCR→自動校正→</a:t>
            </a:r>
            <a:r>
              <a:rPr lang="en-US" b="1" dirty="0">
                <a:solidFill>
                  <a:srgbClr val="464646"/>
                </a:solidFill>
                <a:latin typeface="Meiryo UI" panose="020B0604030504040204" pitchFamily="34" charset="-128"/>
                <a:ea typeface="Meiryo UI" panose="020B0604030504040204" pitchFamily="34" charset="-128"/>
                <a:cs typeface="Inter Medium" pitchFamily="34" charset="-120"/>
              </a:rPr>
              <a:t>自動組版</a:t>
            </a:r>
            <a:endParaRPr lang="en-US" dirty="0">
              <a:latin typeface="Meiryo UI" panose="020B0604030504040204" pitchFamily="34" charset="-128"/>
              <a:ea typeface="Meiryo UI" panose="020B0604030504040204" pitchFamily="34" charset="-128"/>
            </a:endParaRPr>
          </a:p>
        </p:txBody>
      </p:sp>
      <p:pic>
        <p:nvPicPr>
          <p:cNvPr id="6" name="Image 1" descr="preencoded.png"/>
          <p:cNvPicPr>
            <a:picLocks noChangeAspect="1"/>
          </p:cNvPicPr>
          <p:nvPr/>
        </p:nvPicPr>
        <p:blipFill>
          <a:blip r:embed="rId4"/>
          <a:stretch>
            <a:fillRect/>
          </a:stretch>
        </p:blipFill>
        <p:spPr>
          <a:xfrm>
            <a:off x="7439144" y="2162056"/>
            <a:ext cx="496133" cy="496133"/>
          </a:xfrm>
          <a:prstGeom prst="rect">
            <a:avLst/>
          </a:prstGeom>
        </p:spPr>
      </p:pic>
      <p:sp>
        <p:nvSpPr>
          <p:cNvPr id="7" name="Text 3"/>
          <p:cNvSpPr/>
          <p:nvPr/>
        </p:nvSpPr>
        <p:spPr>
          <a:xfrm>
            <a:off x="7439144" y="2906197"/>
            <a:ext cx="2480905" cy="310158"/>
          </a:xfrm>
          <a:prstGeom prst="rect">
            <a:avLst/>
          </a:prstGeom>
          <a:noFill/>
          <a:ln/>
        </p:spPr>
        <p:txBody>
          <a:bodyPr wrap="none" lIns="0" tIns="0" rIns="0" bIns="0" rtlCol="0" anchor="t"/>
          <a:lstStyle/>
          <a:p>
            <a:pPr marL="0" indent="0" algn="l">
              <a:lnSpc>
                <a:spcPts val="2400"/>
              </a:lnSpc>
              <a:buNone/>
            </a:pPr>
            <a:r>
              <a:rPr lang="en-US" sz="2400" dirty="0">
                <a:solidFill>
                  <a:srgbClr val="464646"/>
                </a:solidFill>
                <a:latin typeface="Meiryo UI" panose="020B0604030504040204" pitchFamily="34" charset="-128"/>
                <a:ea typeface="Meiryo UI" panose="020B0604030504040204" pitchFamily="34" charset="-128"/>
                <a:cs typeface="DM Sans Semi Bold" pitchFamily="34" charset="-120"/>
              </a:rPr>
              <a:t>プレス</a:t>
            </a:r>
            <a:endParaRPr lang="en-US" sz="2400" dirty="0">
              <a:latin typeface="Meiryo UI" panose="020B0604030504040204" pitchFamily="34" charset="-128"/>
              <a:ea typeface="Meiryo UI" panose="020B0604030504040204" pitchFamily="34" charset="-128"/>
            </a:endParaRPr>
          </a:p>
        </p:txBody>
      </p:sp>
      <p:sp>
        <p:nvSpPr>
          <p:cNvPr id="8" name="Text 4"/>
          <p:cNvSpPr/>
          <p:nvPr/>
        </p:nvSpPr>
        <p:spPr>
          <a:xfrm>
            <a:off x="7439144" y="3335417"/>
            <a:ext cx="6397466" cy="317540"/>
          </a:xfrm>
          <a:prstGeom prst="rect">
            <a:avLst/>
          </a:prstGeom>
          <a:noFill/>
          <a:ln/>
        </p:spPr>
        <p:txBody>
          <a:bodyPr wrap="none" lIns="0" tIns="0" rIns="0" bIns="0" rtlCol="0" anchor="t"/>
          <a:lstStyle/>
          <a:p>
            <a:pPr marL="0" indent="0" algn="l">
              <a:lnSpc>
                <a:spcPts val="2500"/>
              </a:lnSpc>
              <a:buNone/>
            </a:pPr>
            <a:r>
              <a:rPr lang="en-US" b="1" dirty="0">
                <a:solidFill>
                  <a:srgbClr val="464646"/>
                </a:solidFill>
                <a:latin typeface="Meiryo UI" panose="020B0604030504040204" pitchFamily="34" charset="-128"/>
                <a:ea typeface="Meiryo UI" panose="020B0604030504040204" pitchFamily="34" charset="-128"/>
                <a:cs typeface="Inter Medium" pitchFamily="34" charset="-120"/>
              </a:rPr>
              <a:t>外観検査AI／予知保全／インク最適化</a:t>
            </a:r>
            <a:endParaRPr lang="en-US" dirty="0">
              <a:latin typeface="Meiryo UI" panose="020B0604030504040204" pitchFamily="34" charset="-128"/>
              <a:ea typeface="Meiryo UI" panose="020B0604030504040204" pitchFamily="34" charset="-128"/>
            </a:endParaRPr>
          </a:p>
        </p:txBody>
      </p:sp>
      <p:pic>
        <p:nvPicPr>
          <p:cNvPr id="9" name="Image 2" descr="preencoded.png"/>
          <p:cNvPicPr>
            <a:picLocks noChangeAspect="1"/>
          </p:cNvPicPr>
          <p:nvPr/>
        </p:nvPicPr>
        <p:blipFill>
          <a:blip r:embed="rId5"/>
          <a:stretch>
            <a:fillRect/>
          </a:stretch>
        </p:blipFill>
        <p:spPr>
          <a:xfrm>
            <a:off x="793790" y="4049792"/>
            <a:ext cx="496133" cy="496133"/>
          </a:xfrm>
          <a:prstGeom prst="rect">
            <a:avLst/>
          </a:prstGeom>
        </p:spPr>
      </p:pic>
      <p:sp>
        <p:nvSpPr>
          <p:cNvPr id="10" name="Text 5"/>
          <p:cNvSpPr/>
          <p:nvPr/>
        </p:nvSpPr>
        <p:spPr>
          <a:xfrm>
            <a:off x="793790" y="4793933"/>
            <a:ext cx="2480905" cy="310158"/>
          </a:xfrm>
          <a:prstGeom prst="rect">
            <a:avLst/>
          </a:prstGeom>
          <a:noFill/>
          <a:ln/>
        </p:spPr>
        <p:txBody>
          <a:bodyPr wrap="none" lIns="0" tIns="0" rIns="0" bIns="0" rtlCol="0" anchor="t"/>
          <a:lstStyle/>
          <a:p>
            <a:pPr marL="0" indent="0" algn="l">
              <a:lnSpc>
                <a:spcPts val="2400"/>
              </a:lnSpc>
              <a:buNone/>
            </a:pPr>
            <a:r>
              <a:rPr lang="en-US" sz="2400" dirty="0">
                <a:solidFill>
                  <a:srgbClr val="464646"/>
                </a:solidFill>
                <a:latin typeface="Meiryo UI" panose="020B0604030504040204" pitchFamily="34" charset="-128"/>
                <a:ea typeface="Meiryo UI" panose="020B0604030504040204" pitchFamily="34" charset="-128"/>
                <a:cs typeface="DM Sans Semi Bold" pitchFamily="34" charset="-120"/>
              </a:rPr>
              <a:t>ポストプレス</a:t>
            </a:r>
            <a:endParaRPr lang="en-US" sz="2400" dirty="0">
              <a:latin typeface="Meiryo UI" panose="020B0604030504040204" pitchFamily="34" charset="-128"/>
              <a:ea typeface="Meiryo UI" panose="020B0604030504040204" pitchFamily="34" charset="-128"/>
            </a:endParaRPr>
          </a:p>
        </p:txBody>
      </p:sp>
      <p:sp>
        <p:nvSpPr>
          <p:cNvPr id="11" name="Text 6"/>
          <p:cNvSpPr/>
          <p:nvPr/>
        </p:nvSpPr>
        <p:spPr>
          <a:xfrm>
            <a:off x="793790" y="5223153"/>
            <a:ext cx="6397347" cy="317540"/>
          </a:xfrm>
          <a:prstGeom prst="rect">
            <a:avLst/>
          </a:prstGeom>
          <a:noFill/>
          <a:ln/>
        </p:spPr>
        <p:txBody>
          <a:bodyPr wrap="none" lIns="0" tIns="0" rIns="0" bIns="0" rtlCol="0" anchor="t"/>
          <a:lstStyle/>
          <a:p>
            <a:pPr marL="0" indent="0" algn="l">
              <a:lnSpc>
                <a:spcPts val="2500"/>
              </a:lnSpc>
              <a:buNone/>
            </a:pPr>
            <a:r>
              <a:rPr lang="en-US" b="1" dirty="0">
                <a:solidFill>
                  <a:srgbClr val="464646"/>
                </a:solidFill>
                <a:latin typeface="Meiryo UI" panose="020B0604030504040204" pitchFamily="34" charset="-128"/>
                <a:ea typeface="Meiryo UI" panose="020B0604030504040204" pitchFamily="34" charset="-128"/>
                <a:cs typeface="Inter Medium" pitchFamily="34" charset="-120"/>
              </a:rPr>
              <a:t>自動搬送車（AGV）／ロボ</a:t>
            </a:r>
            <a:endParaRPr lang="en-US" dirty="0">
              <a:latin typeface="Meiryo UI" panose="020B0604030504040204" pitchFamily="34" charset="-128"/>
              <a:ea typeface="Meiryo UI" panose="020B0604030504040204" pitchFamily="34" charset="-128"/>
            </a:endParaRPr>
          </a:p>
        </p:txBody>
      </p:sp>
      <p:pic>
        <p:nvPicPr>
          <p:cNvPr id="12" name="Image 3" descr="preencoded.png"/>
          <p:cNvPicPr>
            <a:picLocks noChangeAspect="1"/>
          </p:cNvPicPr>
          <p:nvPr/>
        </p:nvPicPr>
        <p:blipFill>
          <a:blip r:embed="rId6"/>
          <a:stretch>
            <a:fillRect/>
          </a:stretch>
        </p:blipFill>
        <p:spPr>
          <a:xfrm>
            <a:off x="7439144" y="4049792"/>
            <a:ext cx="496133" cy="496133"/>
          </a:xfrm>
          <a:prstGeom prst="rect">
            <a:avLst/>
          </a:prstGeom>
        </p:spPr>
      </p:pic>
      <p:sp>
        <p:nvSpPr>
          <p:cNvPr id="13" name="Text 7"/>
          <p:cNvSpPr/>
          <p:nvPr/>
        </p:nvSpPr>
        <p:spPr>
          <a:xfrm>
            <a:off x="7439144" y="4793933"/>
            <a:ext cx="2480905" cy="310158"/>
          </a:xfrm>
          <a:prstGeom prst="rect">
            <a:avLst/>
          </a:prstGeom>
          <a:noFill/>
          <a:ln/>
        </p:spPr>
        <p:txBody>
          <a:bodyPr wrap="none" lIns="0" tIns="0" rIns="0" bIns="0" rtlCol="0" anchor="t"/>
          <a:lstStyle/>
          <a:p>
            <a:pPr marL="0" indent="0" algn="l">
              <a:lnSpc>
                <a:spcPts val="2400"/>
              </a:lnSpc>
              <a:buNone/>
            </a:pPr>
            <a:r>
              <a:rPr lang="en-US" sz="2400" dirty="0">
                <a:solidFill>
                  <a:srgbClr val="464646"/>
                </a:solidFill>
                <a:latin typeface="Meiryo UI" panose="020B0604030504040204" pitchFamily="34" charset="-128"/>
                <a:ea typeface="Meiryo UI" panose="020B0604030504040204" pitchFamily="34" charset="-128"/>
                <a:cs typeface="DM Sans Semi Bold" pitchFamily="34" charset="-120"/>
              </a:rPr>
              <a:t>資材</a:t>
            </a:r>
            <a:endParaRPr lang="en-US" sz="2400" dirty="0">
              <a:latin typeface="Meiryo UI" panose="020B0604030504040204" pitchFamily="34" charset="-128"/>
              <a:ea typeface="Meiryo UI" panose="020B0604030504040204" pitchFamily="34" charset="-128"/>
            </a:endParaRPr>
          </a:p>
        </p:txBody>
      </p:sp>
      <p:sp>
        <p:nvSpPr>
          <p:cNvPr id="14" name="Text 8"/>
          <p:cNvSpPr/>
          <p:nvPr/>
        </p:nvSpPr>
        <p:spPr>
          <a:xfrm>
            <a:off x="7439144" y="5223153"/>
            <a:ext cx="6397466" cy="317540"/>
          </a:xfrm>
          <a:prstGeom prst="rect">
            <a:avLst/>
          </a:prstGeom>
          <a:noFill/>
          <a:ln/>
        </p:spPr>
        <p:txBody>
          <a:bodyPr wrap="none" lIns="0" tIns="0" rIns="0" bIns="0" rtlCol="0" anchor="t"/>
          <a:lstStyle/>
          <a:p>
            <a:pPr marL="0" indent="0" algn="l">
              <a:lnSpc>
                <a:spcPts val="2500"/>
              </a:lnSpc>
              <a:buNone/>
            </a:pPr>
            <a:r>
              <a:rPr lang="en-US" b="1" dirty="0">
                <a:solidFill>
                  <a:srgbClr val="464646"/>
                </a:solidFill>
                <a:latin typeface="Meiryo UI" panose="020B0604030504040204" pitchFamily="34" charset="-128"/>
                <a:ea typeface="Meiryo UI" panose="020B0604030504040204" pitchFamily="34" charset="-128"/>
                <a:cs typeface="Inter Medium" pitchFamily="34" charset="-120"/>
              </a:rPr>
              <a:t>需要予測→自動発注</a:t>
            </a:r>
            <a:endParaRPr lang="en-US" dirty="0">
              <a:latin typeface="Meiryo UI" panose="020B0604030504040204" pitchFamily="34" charset="-128"/>
              <a:ea typeface="Meiryo UI" panose="020B0604030504040204" pitchFamily="34" charset="-128"/>
            </a:endParaRPr>
          </a:p>
        </p:txBody>
      </p:sp>
      <p:sp>
        <p:nvSpPr>
          <p:cNvPr id="15" name="Shape 9"/>
          <p:cNvSpPr/>
          <p:nvPr/>
        </p:nvSpPr>
        <p:spPr>
          <a:xfrm>
            <a:off x="793790" y="5763935"/>
            <a:ext cx="13042821" cy="843201"/>
          </a:xfrm>
          <a:prstGeom prst="roundRect">
            <a:avLst>
              <a:gd name="adj" fmla="val 3531"/>
            </a:avLst>
          </a:prstGeom>
          <a:solidFill>
            <a:srgbClr val="B6FCB8"/>
          </a:solidFill>
          <a:ln/>
        </p:spPr>
        <p:txBody>
          <a:bodyPr/>
          <a:lstStyle/>
          <a:p>
            <a:endParaRPr lang="ja-GU" altLang="en-US">
              <a:latin typeface="Meiryo UI" panose="020B0604030504040204" pitchFamily="34" charset="-128"/>
              <a:ea typeface="Meiryo UI" panose="020B0604030504040204" pitchFamily="34" charset="-128"/>
            </a:endParaRPr>
          </a:p>
        </p:txBody>
      </p:sp>
      <p:pic>
        <p:nvPicPr>
          <p:cNvPr id="16" name="Image 4" descr="preencoded.png"/>
          <p:cNvPicPr>
            <a:picLocks noChangeAspect="1"/>
          </p:cNvPicPr>
          <p:nvPr/>
        </p:nvPicPr>
        <p:blipFill>
          <a:blip r:embed="rId7"/>
          <a:stretch>
            <a:fillRect/>
          </a:stretch>
        </p:blipFill>
        <p:spPr>
          <a:xfrm>
            <a:off x="992148" y="6066830"/>
            <a:ext cx="248007" cy="198358"/>
          </a:xfrm>
          <a:prstGeom prst="rect">
            <a:avLst/>
          </a:prstGeom>
        </p:spPr>
      </p:pic>
      <p:sp>
        <p:nvSpPr>
          <p:cNvPr id="17" name="Text 10"/>
          <p:cNvSpPr/>
          <p:nvPr/>
        </p:nvSpPr>
        <p:spPr>
          <a:xfrm>
            <a:off x="1438513" y="6011823"/>
            <a:ext cx="12199739" cy="317540"/>
          </a:xfrm>
          <a:prstGeom prst="rect">
            <a:avLst/>
          </a:prstGeom>
          <a:noFill/>
          <a:ln/>
        </p:spPr>
        <p:txBody>
          <a:bodyPr wrap="none" lIns="0" tIns="0" rIns="0" bIns="0" rtlCol="0" anchor="t"/>
          <a:lstStyle/>
          <a:p>
            <a:pPr marL="0" indent="0" algn="l">
              <a:lnSpc>
                <a:spcPts val="2500"/>
              </a:lnSpc>
              <a:buNone/>
            </a:pPr>
            <a:r>
              <a:rPr lang="en-US" dirty="0">
                <a:solidFill>
                  <a:srgbClr val="000000"/>
                </a:solidFill>
                <a:latin typeface="Meiryo UI" panose="020B0604030504040204" pitchFamily="34" charset="-128"/>
                <a:ea typeface="Meiryo UI" panose="020B0604030504040204" pitchFamily="34" charset="-128"/>
                <a:cs typeface="Inter Medium" pitchFamily="34" charset="-120"/>
              </a:rPr>
              <a:t>例：DNPの</a:t>
            </a:r>
            <a:r>
              <a:rPr lang="en-US" b="1" dirty="0">
                <a:solidFill>
                  <a:srgbClr val="000000"/>
                </a:solidFill>
                <a:latin typeface="Meiryo UI" panose="020B0604030504040204" pitchFamily="34" charset="-128"/>
                <a:ea typeface="Meiryo UI" panose="020B0604030504040204" pitchFamily="34" charset="-128"/>
                <a:cs typeface="Inter Medium" pitchFamily="34" charset="-120"/>
              </a:rPr>
              <a:t>生成AIチェック支援</a:t>
            </a:r>
            <a:r>
              <a:rPr lang="en-US" dirty="0">
                <a:solidFill>
                  <a:srgbClr val="000000"/>
                </a:solidFill>
                <a:latin typeface="Meiryo UI" panose="020B0604030504040204" pitchFamily="34" charset="-128"/>
                <a:ea typeface="Meiryo UI" panose="020B0604030504040204" pitchFamily="34" charset="-128"/>
                <a:cs typeface="Inter Medium" pitchFamily="34" charset="-120"/>
              </a:rPr>
              <a:t>で審査工数</a:t>
            </a:r>
            <a:r>
              <a:rPr lang="en-US" b="1" dirty="0">
                <a:solidFill>
                  <a:srgbClr val="000000"/>
                </a:solidFill>
                <a:latin typeface="Meiryo UI" panose="020B0604030504040204" pitchFamily="34" charset="-128"/>
                <a:ea typeface="Meiryo UI" panose="020B0604030504040204" pitchFamily="34" charset="-128"/>
                <a:cs typeface="Inter Medium" pitchFamily="34" charset="-120"/>
              </a:rPr>
              <a:t>最大80%削減</a:t>
            </a:r>
            <a:r>
              <a:rPr lang="en-US" dirty="0">
                <a:solidFill>
                  <a:srgbClr val="000000"/>
                </a:solidFill>
                <a:latin typeface="Meiryo UI" panose="020B0604030504040204" pitchFamily="34" charset="-128"/>
                <a:ea typeface="Meiryo UI" panose="020B0604030504040204" pitchFamily="34" charset="-128"/>
                <a:cs typeface="Inter Medium" pitchFamily="34" charset="-120"/>
              </a:rPr>
              <a:t>見込み</a:t>
            </a:r>
            <a:endParaRPr lang="en-US" dirty="0">
              <a:latin typeface="Meiryo UI" panose="020B0604030504040204" pitchFamily="34" charset="-128"/>
              <a:ea typeface="Meiryo UI" panose="020B0604030504040204" pitchFamily="34" charset="-128"/>
            </a:endParaRPr>
          </a:p>
        </p:txBody>
      </p:sp>
      <p:sp>
        <p:nvSpPr>
          <p:cNvPr id="18" name="Text 11"/>
          <p:cNvSpPr/>
          <p:nvPr/>
        </p:nvSpPr>
        <p:spPr>
          <a:xfrm>
            <a:off x="793790" y="6830378"/>
            <a:ext cx="13042821" cy="254079"/>
          </a:xfrm>
          <a:prstGeom prst="rect">
            <a:avLst/>
          </a:prstGeom>
          <a:noFill/>
          <a:ln/>
        </p:spPr>
        <p:txBody>
          <a:bodyPr wrap="none" lIns="0" tIns="0" rIns="0" bIns="0" rtlCol="0" anchor="t"/>
          <a:lstStyle/>
          <a:p>
            <a:pPr marL="0" indent="0" algn="l">
              <a:lnSpc>
                <a:spcPts val="2000"/>
              </a:lnSpc>
              <a:buNone/>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用語注釈：自動搬送車（AGV）＝工場内の資材や製品を自動で運ぶ台車ロボット。</a:t>
            </a:r>
            <a:endParaRPr lang="en-US" sz="1250" dirty="0">
              <a:latin typeface="Meiryo UI" panose="020B0604030504040204" pitchFamily="34" charset="-128"/>
              <a:ea typeface="Meiryo UI" panose="020B0604030504040204" pitchFamily="34"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012156"/>
            <a:ext cx="11861602" cy="620078"/>
          </a:xfrm>
          <a:prstGeom prst="rect">
            <a:avLst/>
          </a:prstGeom>
          <a:noFill/>
          <a:ln/>
        </p:spPr>
        <p:txBody>
          <a:bodyPr wrap="none" lIns="0" tIns="0" rIns="0" bIns="0" rtlCol="0" anchor="t"/>
          <a:lstStyle/>
          <a:p>
            <a:pPr marL="0" indent="0" algn="l">
              <a:lnSpc>
                <a:spcPts val="4850"/>
              </a:lnSpc>
              <a:buNone/>
            </a:pPr>
            <a:r>
              <a:rPr lang="en-US" sz="4000" b="1" dirty="0">
                <a:solidFill>
                  <a:srgbClr val="030303"/>
                </a:solidFill>
                <a:latin typeface="Meiryo UI" panose="020B0604030504040204" pitchFamily="34" charset="-128"/>
                <a:ea typeface="Meiryo UI" panose="020B0604030504040204" pitchFamily="34" charset="-128"/>
                <a:cs typeface="DM Sans Semi Bold" pitchFamily="34" charset="-120"/>
              </a:rPr>
              <a:t>成長企業の具体施策（営業/マーケ×クリエイティブ）</a:t>
            </a:r>
            <a:endParaRPr lang="en-US" sz="4000" b="1" dirty="0">
              <a:latin typeface="Meiryo UI" panose="020B0604030504040204" pitchFamily="34" charset="-128"/>
              <a:ea typeface="Meiryo UI" panose="020B0604030504040204" pitchFamily="34" charset="-128"/>
            </a:endParaRPr>
          </a:p>
        </p:txBody>
      </p:sp>
      <p:sp>
        <p:nvSpPr>
          <p:cNvPr id="3" name="Shape 1"/>
          <p:cNvSpPr/>
          <p:nvPr/>
        </p:nvSpPr>
        <p:spPr>
          <a:xfrm>
            <a:off x="793790" y="3029069"/>
            <a:ext cx="4215289" cy="2711053"/>
          </a:xfrm>
          <a:prstGeom prst="roundRect">
            <a:avLst>
              <a:gd name="adj" fmla="val 1098"/>
            </a:avLst>
          </a:prstGeom>
          <a:solidFill>
            <a:srgbClr val="F2EEEE"/>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4" name="Shape 2"/>
          <p:cNvSpPr/>
          <p:nvPr/>
        </p:nvSpPr>
        <p:spPr>
          <a:xfrm>
            <a:off x="992148" y="3227427"/>
            <a:ext cx="595313" cy="595313"/>
          </a:xfrm>
          <a:prstGeom prst="roundRect">
            <a:avLst>
              <a:gd name="adj" fmla="val 15358451"/>
            </a:avLst>
          </a:prstGeom>
          <a:solidFill>
            <a:srgbClr val="1C9770"/>
          </a:solidFill>
          <a:ln/>
        </p:spPr>
        <p:txBody>
          <a:bodyPr/>
          <a:lstStyle/>
          <a:p>
            <a:endParaRPr lang="ja-GU" altLang="en-US">
              <a:latin typeface="Meiryo UI" panose="020B0604030504040204" pitchFamily="34" charset="-128"/>
              <a:ea typeface="Meiryo UI" panose="020B0604030504040204" pitchFamily="34" charset="-128"/>
            </a:endParaRPr>
          </a:p>
        </p:txBody>
      </p:sp>
      <p:pic>
        <p:nvPicPr>
          <p:cNvPr id="5" name="Image 0" descr="preencoded.png"/>
          <p:cNvPicPr>
            <a:picLocks noChangeAspect="1"/>
          </p:cNvPicPr>
          <p:nvPr/>
        </p:nvPicPr>
        <p:blipFill>
          <a:blip r:embed="rId3"/>
          <a:stretch>
            <a:fillRect/>
          </a:stretch>
        </p:blipFill>
        <p:spPr>
          <a:xfrm>
            <a:off x="1155859" y="3357563"/>
            <a:ext cx="267891" cy="334923"/>
          </a:xfrm>
          <a:prstGeom prst="rect">
            <a:avLst/>
          </a:prstGeom>
        </p:spPr>
      </p:pic>
      <p:sp>
        <p:nvSpPr>
          <p:cNvPr id="6" name="Text 3"/>
          <p:cNvSpPr/>
          <p:nvPr/>
        </p:nvSpPr>
        <p:spPr>
          <a:xfrm>
            <a:off x="992147" y="4021098"/>
            <a:ext cx="4016931" cy="298966"/>
          </a:xfrm>
          <a:prstGeom prst="rect">
            <a:avLst/>
          </a:prstGeom>
          <a:noFill/>
          <a:ln/>
        </p:spPr>
        <p:txBody>
          <a:bodyPr wrap="none" lIns="0" tIns="0" rIns="0" bIns="0" rtlCol="0" anchor="t"/>
          <a:lstStyle/>
          <a:p>
            <a:pPr marL="0" indent="0" algn="l">
              <a:lnSpc>
                <a:spcPts val="2400"/>
              </a:lnSpc>
              <a:buNone/>
            </a:pPr>
            <a:r>
              <a:rPr lang="en-US" sz="2400" dirty="0" err="1">
                <a:solidFill>
                  <a:srgbClr val="464646"/>
                </a:solidFill>
                <a:latin typeface="Meiryo UI" panose="020B0604030504040204" pitchFamily="34" charset="-128"/>
                <a:ea typeface="Meiryo UI" panose="020B0604030504040204" pitchFamily="34" charset="-128"/>
                <a:cs typeface="DM Sans Semi Bold" pitchFamily="34" charset="-120"/>
              </a:rPr>
              <a:t>顧客管理システム</a:t>
            </a:r>
            <a:r>
              <a:rPr lang="en-US" sz="2400" dirty="0">
                <a:solidFill>
                  <a:srgbClr val="464646"/>
                </a:solidFill>
                <a:latin typeface="Meiryo UI" panose="020B0604030504040204" pitchFamily="34" charset="-128"/>
                <a:ea typeface="Meiryo UI" panose="020B0604030504040204" pitchFamily="34" charset="-128"/>
                <a:cs typeface="DM Sans Semi Bold" pitchFamily="34" charset="-120"/>
              </a:rPr>
              <a:t> (CRM)×AI</a:t>
            </a:r>
            <a:endParaRPr lang="en-US" sz="2400" dirty="0">
              <a:latin typeface="Meiryo UI" panose="020B0604030504040204" pitchFamily="34" charset="-128"/>
              <a:ea typeface="Meiryo UI" panose="020B0604030504040204" pitchFamily="34" charset="-128"/>
            </a:endParaRPr>
          </a:p>
        </p:txBody>
      </p:sp>
      <p:sp>
        <p:nvSpPr>
          <p:cNvPr id="7" name="Text 4"/>
          <p:cNvSpPr/>
          <p:nvPr/>
        </p:nvSpPr>
        <p:spPr>
          <a:xfrm>
            <a:off x="992148" y="4450318"/>
            <a:ext cx="3818573" cy="317540"/>
          </a:xfrm>
          <a:prstGeom prst="rect">
            <a:avLst/>
          </a:prstGeom>
          <a:noFill/>
          <a:ln/>
        </p:spPr>
        <p:txBody>
          <a:bodyPr wrap="none" lIns="0" tIns="0" rIns="0" bIns="0" rtlCol="0" anchor="t"/>
          <a:lstStyle/>
          <a:p>
            <a:pPr marL="342900" indent="-342900" algn="l">
              <a:lnSpc>
                <a:spcPts val="2500"/>
              </a:lnSpc>
              <a:buSzPct val="100000"/>
              <a:buChar char="•"/>
            </a:pPr>
            <a:r>
              <a:rPr lang="en-US" sz="1600" dirty="0">
                <a:solidFill>
                  <a:srgbClr val="464646"/>
                </a:solidFill>
                <a:latin typeface="Meiryo UI" panose="020B0604030504040204" pitchFamily="34" charset="-128"/>
                <a:ea typeface="Meiryo UI" panose="020B0604030504040204" pitchFamily="34" charset="-128"/>
                <a:cs typeface="Inter Medium" pitchFamily="34" charset="-120"/>
              </a:rPr>
              <a:t>レコメンド</a:t>
            </a:r>
            <a:endParaRPr lang="en-US" sz="1600" dirty="0">
              <a:latin typeface="Meiryo UI" panose="020B0604030504040204" pitchFamily="34" charset="-128"/>
              <a:ea typeface="Meiryo UI" panose="020B0604030504040204" pitchFamily="34" charset="-128"/>
            </a:endParaRPr>
          </a:p>
        </p:txBody>
      </p:sp>
      <p:sp>
        <p:nvSpPr>
          <p:cNvPr id="8" name="Text 5"/>
          <p:cNvSpPr/>
          <p:nvPr/>
        </p:nvSpPr>
        <p:spPr>
          <a:xfrm>
            <a:off x="992148" y="4837271"/>
            <a:ext cx="3818573" cy="317540"/>
          </a:xfrm>
          <a:prstGeom prst="rect">
            <a:avLst/>
          </a:prstGeom>
          <a:noFill/>
          <a:ln/>
        </p:spPr>
        <p:txBody>
          <a:bodyPr wrap="none" lIns="0" tIns="0" rIns="0" bIns="0" rtlCol="0" anchor="t"/>
          <a:lstStyle/>
          <a:p>
            <a:pPr marL="342900" indent="-342900" algn="l">
              <a:lnSpc>
                <a:spcPts val="2500"/>
              </a:lnSpc>
              <a:buSzPct val="100000"/>
              <a:buChar char="•"/>
            </a:pPr>
            <a:r>
              <a:rPr lang="en-US" sz="1600" b="1" dirty="0">
                <a:solidFill>
                  <a:srgbClr val="464646"/>
                </a:solidFill>
                <a:latin typeface="Meiryo UI" panose="020B0604030504040204" pitchFamily="34" charset="-128"/>
                <a:ea typeface="Meiryo UI" panose="020B0604030504040204" pitchFamily="34" charset="-128"/>
                <a:cs typeface="Inter Medium" pitchFamily="34" charset="-120"/>
              </a:rPr>
              <a:t>リードスコアリング</a:t>
            </a:r>
            <a:endParaRPr lang="en-US" sz="1600" dirty="0">
              <a:latin typeface="Meiryo UI" panose="020B0604030504040204" pitchFamily="34" charset="-128"/>
              <a:ea typeface="Meiryo UI" panose="020B0604030504040204" pitchFamily="34" charset="-128"/>
            </a:endParaRPr>
          </a:p>
        </p:txBody>
      </p:sp>
      <p:sp>
        <p:nvSpPr>
          <p:cNvPr id="9" name="Shape 6"/>
          <p:cNvSpPr/>
          <p:nvPr/>
        </p:nvSpPr>
        <p:spPr>
          <a:xfrm>
            <a:off x="5207437" y="3029069"/>
            <a:ext cx="4215408" cy="2711053"/>
          </a:xfrm>
          <a:prstGeom prst="roundRect">
            <a:avLst>
              <a:gd name="adj" fmla="val 1098"/>
            </a:avLst>
          </a:prstGeom>
          <a:solidFill>
            <a:srgbClr val="F2EEEE"/>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10" name="Shape 7"/>
          <p:cNvSpPr/>
          <p:nvPr/>
        </p:nvSpPr>
        <p:spPr>
          <a:xfrm>
            <a:off x="5405795" y="3227427"/>
            <a:ext cx="595313" cy="595313"/>
          </a:xfrm>
          <a:prstGeom prst="roundRect">
            <a:avLst>
              <a:gd name="adj" fmla="val 15358451"/>
            </a:avLst>
          </a:prstGeom>
          <a:solidFill>
            <a:srgbClr val="93CB52"/>
          </a:solidFill>
          <a:ln/>
        </p:spPr>
        <p:txBody>
          <a:bodyPr/>
          <a:lstStyle/>
          <a:p>
            <a:endParaRPr lang="ja-GU" altLang="en-US">
              <a:latin typeface="Meiryo UI" panose="020B0604030504040204" pitchFamily="34" charset="-128"/>
              <a:ea typeface="Meiryo UI" panose="020B0604030504040204" pitchFamily="34" charset="-128"/>
            </a:endParaRPr>
          </a:p>
        </p:txBody>
      </p:sp>
      <p:pic>
        <p:nvPicPr>
          <p:cNvPr id="11" name="Image 1" descr="preencoded.png"/>
          <p:cNvPicPr>
            <a:picLocks noChangeAspect="1"/>
          </p:cNvPicPr>
          <p:nvPr/>
        </p:nvPicPr>
        <p:blipFill>
          <a:blip r:embed="rId4"/>
          <a:stretch>
            <a:fillRect/>
          </a:stretch>
        </p:blipFill>
        <p:spPr>
          <a:xfrm>
            <a:off x="5569506" y="3357563"/>
            <a:ext cx="267891" cy="334923"/>
          </a:xfrm>
          <a:prstGeom prst="rect">
            <a:avLst/>
          </a:prstGeom>
        </p:spPr>
      </p:pic>
      <p:sp>
        <p:nvSpPr>
          <p:cNvPr id="12" name="Text 8"/>
          <p:cNvSpPr/>
          <p:nvPr/>
        </p:nvSpPr>
        <p:spPr>
          <a:xfrm>
            <a:off x="5405795" y="4021098"/>
            <a:ext cx="2480905" cy="310158"/>
          </a:xfrm>
          <a:prstGeom prst="rect">
            <a:avLst/>
          </a:prstGeom>
          <a:noFill/>
          <a:ln/>
        </p:spPr>
        <p:txBody>
          <a:bodyPr wrap="none" lIns="0" tIns="0" rIns="0" bIns="0" rtlCol="0" anchor="t"/>
          <a:lstStyle/>
          <a:p>
            <a:pPr marL="0" indent="0" algn="l">
              <a:lnSpc>
                <a:spcPts val="2400"/>
              </a:lnSpc>
              <a:buNone/>
            </a:pPr>
            <a:r>
              <a:rPr lang="en-US" sz="2400" dirty="0">
                <a:solidFill>
                  <a:srgbClr val="464646"/>
                </a:solidFill>
                <a:latin typeface="Meiryo UI" panose="020B0604030504040204" pitchFamily="34" charset="-128"/>
                <a:ea typeface="Meiryo UI" panose="020B0604030504040204" pitchFamily="34" charset="-128"/>
                <a:cs typeface="DM Sans Semi Bold" pitchFamily="34" charset="-120"/>
              </a:rPr>
              <a:t>提案・見積の効率化</a:t>
            </a:r>
            <a:endParaRPr lang="en-US" sz="2400" dirty="0">
              <a:latin typeface="Meiryo UI" panose="020B0604030504040204" pitchFamily="34" charset="-128"/>
              <a:ea typeface="Meiryo UI" panose="020B0604030504040204" pitchFamily="34" charset="-128"/>
            </a:endParaRPr>
          </a:p>
        </p:txBody>
      </p:sp>
      <p:sp>
        <p:nvSpPr>
          <p:cNvPr id="13" name="Text 9"/>
          <p:cNvSpPr/>
          <p:nvPr/>
        </p:nvSpPr>
        <p:spPr>
          <a:xfrm>
            <a:off x="5405795" y="4450318"/>
            <a:ext cx="3818692" cy="317540"/>
          </a:xfrm>
          <a:prstGeom prst="rect">
            <a:avLst/>
          </a:prstGeom>
          <a:noFill/>
          <a:ln/>
        </p:spPr>
        <p:txBody>
          <a:bodyPr wrap="none" lIns="0" tIns="0" rIns="0" bIns="0" rtlCol="0" anchor="t"/>
          <a:lstStyle/>
          <a:p>
            <a:pPr marL="342900" indent="-342900" algn="l">
              <a:lnSpc>
                <a:spcPts val="2500"/>
              </a:lnSpc>
              <a:buSzPct val="100000"/>
              <a:buChar char="•"/>
            </a:pPr>
            <a:r>
              <a:rPr lang="en-US" sz="1600" b="1" dirty="0">
                <a:solidFill>
                  <a:srgbClr val="464646"/>
                </a:solidFill>
                <a:latin typeface="Meiryo UI" panose="020B0604030504040204" pitchFamily="34" charset="-128"/>
                <a:ea typeface="Meiryo UI" panose="020B0604030504040204" pitchFamily="34" charset="-128"/>
                <a:cs typeface="Inter Medium" pitchFamily="34" charset="-120"/>
              </a:rPr>
              <a:t>提案書ドラフト</a:t>
            </a:r>
            <a:endParaRPr lang="en-US" sz="1600" dirty="0">
              <a:latin typeface="Meiryo UI" panose="020B0604030504040204" pitchFamily="34" charset="-128"/>
              <a:ea typeface="Meiryo UI" panose="020B0604030504040204" pitchFamily="34" charset="-128"/>
            </a:endParaRPr>
          </a:p>
        </p:txBody>
      </p:sp>
      <p:sp>
        <p:nvSpPr>
          <p:cNvPr id="14" name="Text 10"/>
          <p:cNvSpPr/>
          <p:nvPr/>
        </p:nvSpPr>
        <p:spPr>
          <a:xfrm>
            <a:off x="5405795" y="4837271"/>
            <a:ext cx="3818692" cy="317540"/>
          </a:xfrm>
          <a:prstGeom prst="rect">
            <a:avLst/>
          </a:prstGeom>
          <a:noFill/>
          <a:ln/>
        </p:spPr>
        <p:txBody>
          <a:bodyPr wrap="none" lIns="0" tIns="0" rIns="0" bIns="0" rtlCol="0" anchor="t"/>
          <a:lstStyle/>
          <a:p>
            <a:pPr marL="342900" indent="-342900" algn="l">
              <a:lnSpc>
                <a:spcPts val="2500"/>
              </a:lnSpc>
              <a:buSzPct val="100000"/>
              <a:buChar char="•"/>
            </a:pPr>
            <a:r>
              <a:rPr lang="en-US" sz="1600" b="1" dirty="0">
                <a:solidFill>
                  <a:srgbClr val="464646"/>
                </a:solidFill>
                <a:latin typeface="Meiryo UI" panose="020B0604030504040204" pitchFamily="34" charset="-128"/>
                <a:ea typeface="Meiryo UI" panose="020B0604030504040204" pitchFamily="34" charset="-128"/>
                <a:cs typeface="Inter Medium" pitchFamily="34" charset="-120"/>
              </a:rPr>
              <a:t>自動見積</a:t>
            </a:r>
            <a:endParaRPr lang="en-US" sz="1600" dirty="0">
              <a:latin typeface="Meiryo UI" panose="020B0604030504040204" pitchFamily="34" charset="-128"/>
              <a:ea typeface="Meiryo UI" panose="020B0604030504040204" pitchFamily="34" charset="-128"/>
            </a:endParaRPr>
          </a:p>
        </p:txBody>
      </p:sp>
      <p:sp>
        <p:nvSpPr>
          <p:cNvPr id="15" name="Text 11"/>
          <p:cNvSpPr/>
          <p:nvPr/>
        </p:nvSpPr>
        <p:spPr>
          <a:xfrm>
            <a:off x="5405795" y="5224224"/>
            <a:ext cx="3818692" cy="317540"/>
          </a:xfrm>
          <a:prstGeom prst="rect">
            <a:avLst/>
          </a:prstGeom>
          <a:noFill/>
          <a:ln/>
        </p:spPr>
        <p:txBody>
          <a:bodyPr wrap="none" lIns="0" tIns="0" rIns="0" bIns="0" rtlCol="0" anchor="t"/>
          <a:lstStyle/>
          <a:p>
            <a:pPr marL="342900" indent="-342900" algn="l">
              <a:lnSpc>
                <a:spcPts val="2500"/>
              </a:lnSpc>
              <a:buSzPct val="100000"/>
              <a:buChar char="•"/>
            </a:pPr>
            <a:r>
              <a:rPr lang="en-US" sz="1600" dirty="0">
                <a:solidFill>
                  <a:srgbClr val="464646"/>
                </a:solidFill>
                <a:latin typeface="Meiryo UI" panose="020B0604030504040204" pitchFamily="34" charset="-128"/>
                <a:ea typeface="Meiryo UI" panose="020B0604030504040204" pitchFamily="34" charset="-128"/>
                <a:cs typeface="Inter Medium" pitchFamily="34" charset="-120"/>
              </a:rPr>
              <a:t>チャットボット24/365</a:t>
            </a:r>
            <a:endParaRPr lang="en-US" sz="1600" dirty="0">
              <a:latin typeface="Meiryo UI" panose="020B0604030504040204" pitchFamily="34" charset="-128"/>
              <a:ea typeface="Meiryo UI" panose="020B0604030504040204" pitchFamily="34" charset="-128"/>
            </a:endParaRPr>
          </a:p>
        </p:txBody>
      </p:sp>
      <p:sp>
        <p:nvSpPr>
          <p:cNvPr id="16" name="Shape 12"/>
          <p:cNvSpPr/>
          <p:nvPr/>
        </p:nvSpPr>
        <p:spPr>
          <a:xfrm>
            <a:off x="9621203" y="3029069"/>
            <a:ext cx="4215289" cy="2711053"/>
          </a:xfrm>
          <a:prstGeom prst="roundRect">
            <a:avLst>
              <a:gd name="adj" fmla="val 1098"/>
            </a:avLst>
          </a:prstGeom>
          <a:solidFill>
            <a:srgbClr val="F2EEEE"/>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17" name="Shape 13"/>
          <p:cNvSpPr/>
          <p:nvPr/>
        </p:nvSpPr>
        <p:spPr>
          <a:xfrm>
            <a:off x="9819561" y="3227427"/>
            <a:ext cx="595313" cy="595313"/>
          </a:xfrm>
          <a:prstGeom prst="roundRect">
            <a:avLst>
              <a:gd name="adj" fmla="val 15358451"/>
            </a:avLst>
          </a:prstGeom>
          <a:solidFill>
            <a:srgbClr val="7AD180"/>
          </a:solidFill>
          <a:ln/>
        </p:spPr>
        <p:txBody>
          <a:bodyPr/>
          <a:lstStyle/>
          <a:p>
            <a:endParaRPr lang="ja-GU" altLang="en-US">
              <a:latin typeface="Meiryo UI" panose="020B0604030504040204" pitchFamily="34" charset="-128"/>
              <a:ea typeface="Meiryo UI" panose="020B0604030504040204" pitchFamily="34" charset="-128"/>
            </a:endParaRPr>
          </a:p>
        </p:txBody>
      </p:sp>
      <p:pic>
        <p:nvPicPr>
          <p:cNvPr id="18" name="Image 2" descr="preencoded.png"/>
          <p:cNvPicPr>
            <a:picLocks noChangeAspect="1"/>
          </p:cNvPicPr>
          <p:nvPr/>
        </p:nvPicPr>
        <p:blipFill>
          <a:blip r:embed="rId5"/>
          <a:stretch>
            <a:fillRect/>
          </a:stretch>
        </p:blipFill>
        <p:spPr>
          <a:xfrm>
            <a:off x="9983272" y="3357563"/>
            <a:ext cx="267891" cy="334923"/>
          </a:xfrm>
          <a:prstGeom prst="rect">
            <a:avLst/>
          </a:prstGeom>
        </p:spPr>
      </p:pic>
      <p:sp>
        <p:nvSpPr>
          <p:cNvPr id="19" name="Text 14"/>
          <p:cNvSpPr/>
          <p:nvPr/>
        </p:nvSpPr>
        <p:spPr>
          <a:xfrm>
            <a:off x="9819561" y="4021098"/>
            <a:ext cx="2480905" cy="310158"/>
          </a:xfrm>
          <a:prstGeom prst="rect">
            <a:avLst/>
          </a:prstGeom>
          <a:noFill/>
          <a:ln/>
        </p:spPr>
        <p:txBody>
          <a:bodyPr wrap="none" lIns="0" tIns="0" rIns="0" bIns="0" rtlCol="0" anchor="t"/>
          <a:lstStyle/>
          <a:p>
            <a:pPr marL="0" indent="0" algn="l">
              <a:lnSpc>
                <a:spcPts val="2400"/>
              </a:lnSpc>
              <a:buNone/>
            </a:pPr>
            <a:r>
              <a:rPr lang="en-US" sz="2400" dirty="0">
                <a:solidFill>
                  <a:srgbClr val="464646"/>
                </a:solidFill>
                <a:latin typeface="Meiryo UI" panose="020B0604030504040204" pitchFamily="34" charset="-128"/>
                <a:ea typeface="Meiryo UI" panose="020B0604030504040204" pitchFamily="34" charset="-128"/>
                <a:cs typeface="DM Sans Semi Bold" pitchFamily="34" charset="-120"/>
              </a:rPr>
              <a:t>クリエイティブ</a:t>
            </a:r>
            <a:endParaRPr lang="en-US" sz="2400" dirty="0">
              <a:latin typeface="Meiryo UI" panose="020B0604030504040204" pitchFamily="34" charset="-128"/>
              <a:ea typeface="Meiryo UI" panose="020B0604030504040204" pitchFamily="34" charset="-128"/>
            </a:endParaRPr>
          </a:p>
        </p:txBody>
      </p:sp>
      <p:sp>
        <p:nvSpPr>
          <p:cNvPr id="20" name="Text 15"/>
          <p:cNvSpPr/>
          <p:nvPr/>
        </p:nvSpPr>
        <p:spPr>
          <a:xfrm>
            <a:off x="9819561" y="4450318"/>
            <a:ext cx="3818573" cy="317540"/>
          </a:xfrm>
          <a:prstGeom prst="rect">
            <a:avLst/>
          </a:prstGeom>
          <a:noFill/>
          <a:ln/>
        </p:spPr>
        <p:txBody>
          <a:bodyPr wrap="none" lIns="0" tIns="0" rIns="0" bIns="0" rtlCol="0" anchor="t"/>
          <a:lstStyle/>
          <a:p>
            <a:pPr marL="342900" indent="-342900" algn="l">
              <a:lnSpc>
                <a:spcPts val="2500"/>
              </a:lnSpc>
              <a:buSzPct val="100000"/>
              <a:buChar char="•"/>
            </a:pPr>
            <a:r>
              <a:rPr lang="en-US" sz="1600" b="1" dirty="0">
                <a:solidFill>
                  <a:srgbClr val="464646"/>
                </a:solidFill>
                <a:latin typeface="Meiryo UI" panose="020B0604030504040204" pitchFamily="34" charset="-128"/>
                <a:ea typeface="Meiryo UI" panose="020B0604030504040204" pitchFamily="34" charset="-128"/>
                <a:cs typeface="Inter Medium" pitchFamily="34" charset="-120"/>
              </a:rPr>
              <a:t>Firefly/Canva等</a:t>
            </a:r>
            <a:r>
              <a:rPr lang="en-US" sz="1600" dirty="0">
                <a:solidFill>
                  <a:srgbClr val="464646"/>
                </a:solidFill>
                <a:latin typeface="Meiryo UI" panose="020B0604030504040204" pitchFamily="34" charset="-128"/>
                <a:ea typeface="Meiryo UI" panose="020B0604030504040204" pitchFamily="34" charset="-128"/>
                <a:cs typeface="Inter Medium" pitchFamily="34" charset="-120"/>
              </a:rPr>
              <a:t>で"下ごしらえ"高速化</a:t>
            </a:r>
            <a:endParaRPr lang="en-US" sz="1600" dirty="0">
              <a:latin typeface="Meiryo UI" panose="020B0604030504040204" pitchFamily="34" charset="-128"/>
              <a:ea typeface="Meiryo UI" panose="020B0604030504040204" pitchFamily="34" charset="-128"/>
            </a:endParaRPr>
          </a:p>
        </p:txBody>
      </p:sp>
      <p:sp>
        <p:nvSpPr>
          <p:cNvPr id="21" name="Text 16"/>
          <p:cNvSpPr/>
          <p:nvPr/>
        </p:nvSpPr>
        <p:spPr>
          <a:xfrm>
            <a:off x="793790" y="5963364"/>
            <a:ext cx="13042821" cy="254079"/>
          </a:xfrm>
          <a:prstGeom prst="rect">
            <a:avLst/>
          </a:prstGeom>
          <a:noFill/>
          <a:ln/>
        </p:spPr>
        <p:txBody>
          <a:bodyPr wrap="none" lIns="0" tIns="0" rIns="0" bIns="0" rtlCol="0" anchor="t"/>
          <a:lstStyle/>
          <a:p>
            <a:pPr marL="0" indent="0" algn="l">
              <a:lnSpc>
                <a:spcPts val="2000"/>
              </a:lnSpc>
              <a:buNone/>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用語注釈：顧客管理システム（CRM）＝顧客情報や取引履歴を一元管理する仕組み／リードスコアリング＝見込み客の購入見込みに点数を付け優先順位を決めること。</a:t>
            </a:r>
            <a:endParaRPr lang="en-US" sz="1250" dirty="0">
              <a:latin typeface="Meiryo UI" panose="020B0604030504040204" pitchFamily="34" charset="-128"/>
              <a:ea typeface="Meiryo UI" panose="020B0604030504040204" pitchFamily="34"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431319"/>
            <a:ext cx="8384977" cy="620078"/>
          </a:xfrm>
          <a:prstGeom prst="rect">
            <a:avLst/>
          </a:prstGeom>
          <a:noFill/>
          <a:ln/>
        </p:spPr>
        <p:txBody>
          <a:bodyPr wrap="none" lIns="0" tIns="0" rIns="0" bIns="0" rtlCol="0" anchor="t"/>
          <a:lstStyle/>
          <a:p>
            <a:pPr marL="0" indent="0" algn="l">
              <a:lnSpc>
                <a:spcPts val="4850"/>
              </a:lnSpc>
              <a:buNone/>
            </a:pPr>
            <a:r>
              <a:rPr lang="en-US" sz="4000" b="1" dirty="0">
                <a:solidFill>
                  <a:srgbClr val="030303"/>
                </a:solidFill>
                <a:latin typeface="Meiryo UI" panose="020B0604030504040204" pitchFamily="34" charset="-128"/>
                <a:ea typeface="Meiryo UI" panose="020B0604030504040204" pitchFamily="34" charset="-128"/>
                <a:cs typeface="DM Sans Semi Bold" pitchFamily="34" charset="-120"/>
              </a:rPr>
              <a:t>スマイディア様の強み（事実＋仮説）</a:t>
            </a:r>
            <a:endParaRPr lang="en-US" sz="4000" b="1" dirty="0">
              <a:latin typeface="Meiryo UI" panose="020B0604030504040204" pitchFamily="34" charset="-128"/>
              <a:ea typeface="Meiryo UI" panose="020B0604030504040204" pitchFamily="34" charset="-128"/>
            </a:endParaRPr>
          </a:p>
        </p:txBody>
      </p:sp>
      <p:sp>
        <p:nvSpPr>
          <p:cNvPr id="3" name="Shape 1"/>
          <p:cNvSpPr/>
          <p:nvPr/>
        </p:nvSpPr>
        <p:spPr>
          <a:xfrm>
            <a:off x="793790" y="1250827"/>
            <a:ext cx="4215289" cy="1054596"/>
          </a:xfrm>
          <a:prstGeom prst="roundRect">
            <a:avLst>
              <a:gd name="adj" fmla="val 2503"/>
            </a:avLst>
          </a:prstGeom>
          <a:solidFill>
            <a:srgbClr val="FFFFFF"/>
          </a:solidFill>
          <a:ln w="22860">
            <a:solidFill>
              <a:srgbClr val="1C9770"/>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4" name="Shape 2"/>
          <p:cNvSpPr/>
          <p:nvPr/>
        </p:nvSpPr>
        <p:spPr>
          <a:xfrm>
            <a:off x="793790" y="1250826"/>
            <a:ext cx="45719" cy="1054597"/>
          </a:xfrm>
          <a:prstGeom prst="roundRect">
            <a:avLst>
              <a:gd name="adj" fmla="val 65116"/>
            </a:avLst>
          </a:prstGeom>
          <a:solidFill>
            <a:srgbClr val="1C9770"/>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5" name="Text 3"/>
          <p:cNvSpPr/>
          <p:nvPr/>
        </p:nvSpPr>
        <p:spPr>
          <a:xfrm>
            <a:off x="1060728" y="1472045"/>
            <a:ext cx="2480905" cy="310158"/>
          </a:xfrm>
          <a:prstGeom prst="rect">
            <a:avLst/>
          </a:prstGeom>
          <a:noFill/>
          <a:ln/>
        </p:spPr>
        <p:txBody>
          <a:bodyPr wrap="none" lIns="0" tIns="0" rIns="0" bIns="0" rtlCol="0" anchor="t"/>
          <a:lstStyle/>
          <a:p>
            <a:pPr marL="0" indent="0" algn="l">
              <a:lnSpc>
                <a:spcPts val="2400"/>
              </a:lnSpc>
              <a:buNone/>
            </a:pPr>
            <a:r>
              <a:rPr lang="en-US" sz="2400" dirty="0">
                <a:solidFill>
                  <a:srgbClr val="464646"/>
                </a:solidFill>
                <a:latin typeface="Meiryo UI" panose="020B0604030504040204" pitchFamily="34" charset="-128"/>
                <a:ea typeface="Meiryo UI" panose="020B0604030504040204" pitchFamily="34" charset="-128"/>
                <a:cs typeface="DM Sans Semi Bold" pitchFamily="34" charset="-120"/>
              </a:rPr>
              <a:t>地域密着×伴走</a:t>
            </a:r>
            <a:endParaRPr lang="en-US" sz="2400" dirty="0">
              <a:latin typeface="Meiryo UI" panose="020B0604030504040204" pitchFamily="34" charset="-128"/>
              <a:ea typeface="Meiryo UI" panose="020B0604030504040204" pitchFamily="34" charset="-128"/>
            </a:endParaRPr>
          </a:p>
        </p:txBody>
      </p:sp>
      <p:sp>
        <p:nvSpPr>
          <p:cNvPr id="6" name="Text 4"/>
          <p:cNvSpPr/>
          <p:nvPr/>
        </p:nvSpPr>
        <p:spPr>
          <a:xfrm>
            <a:off x="1060728" y="1901266"/>
            <a:ext cx="3727133" cy="317540"/>
          </a:xfrm>
          <a:prstGeom prst="rect">
            <a:avLst/>
          </a:prstGeom>
          <a:noFill/>
          <a:ln/>
        </p:spPr>
        <p:txBody>
          <a:bodyPr wrap="none" lIns="0" tIns="0" rIns="0" bIns="0" rtlCol="0" anchor="t"/>
          <a:lstStyle/>
          <a:p>
            <a:pPr marL="0" indent="0" algn="l">
              <a:lnSpc>
                <a:spcPts val="2500"/>
              </a:lnSpc>
              <a:buNone/>
            </a:pPr>
            <a:r>
              <a:rPr lang="en-US" dirty="0">
                <a:solidFill>
                  <a:srgbClr val="464646"/>
                </a:solidFill>
                <a:latin typeface="Meiryo UI" panose="020B0604030504040204" pitchFamily="34" charset="-128"/>
                <a:ea typeface="Meiryo UI" panose="020B0604030504040204" pitchFamily="34" charset="-128"/>
                <a:cs typeface="Inter Medium" pitchFamily="34" charset="-120"/>
              </a:rPr>
              <a:t>「お客様の霧を晴らす」姿勢</a:t>
            </a:r>
            <a:endParaRPr lang="en-US" dirty="0">
              <a:latin typeface="Meiryo UI" panose="020B0604030504040204" pitchFamily="34" charset="-128"/>
              <a:ea typeface="Meiryo UI" panose="020B0604030504040204" pitchFamily="34" charset="-128"/>
            </a:endParaRPr>
          </a:p>
        </p:txBody>
      </p:sp>
      <p:sp>
        <p:nvSpPr>
          <p:cNvPr id="7" name="Shape 5"/>
          <p:cNvSpPr/>
          <p:nvPr/>
        </p:nvSpPr>
        <p:spPr>
          <a:xfrm>
            <a:off x="5207437" y="1250827"/>
            <a:ext cx="4215408" cy="1054596"/>
          </a:xfrm>
          <a:prstGeom prst="roundRect">
            <a:avLst>
              <a:gd name="adj" fmla="val 2503"/>
            </a:avLst>
          </a:prstGeom>
          <a:solidFill>
            <a:srgbClr val="FFFFFF"/>
          </a:solidFill>
          <a:ln w="22860">
            <a:solidFill>
              <a:srgbClr val="93CB52"/>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8" name="Shape 6"/>
          <p:cNvSpPr/>
          <p:nvPr/>
        </p:nvSpPr>
        <p:spPr>
          <a:xfrm>
            <a:off x="5207437" y="1250827"/>
            <a:ext cx="45719" cy="1054596"/>
          </a:xfrm>
          <a:prstGeom prst="roundRect">
            <a:avLst>
              <a:gd name="adj" fmla="val 65116"/>
            </a:avLst>
          </a:prstGeom>
          <a:solidFill>
            <a:srgbClr val="93CB52"/>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9" name="Text 7"/>
          <p:cNvSpPr/>
          <p:nvPr/>
        </p:nvSpPr>
        <p:spPr>
          <a:xfrm>
            <a:off x="5474375" y="1472045"/>
            <a:ext cx="2480905" cy="310158"/>
          </a:xfrm>
          <a:prstGeom prst="rect">
            <a:avLst/>
          </a:prstGeom>
          <a:noFill/>
          <a:ln/>
        </p:spPr>
        <p:txBody>
          <a:bodyPr wrap="none" lIns="0" tIns="0" rIns="0" bIns="0" rtlCol="0" anchor="t"/>
          <a:lstStyle/>
          <a:p>
            <a:pPr marL="0" indent="0" algn="l">
              <a:lnSpc>
                <a:spcPts val="2400"/>
              </a:lnSpc>
              <a:buNone/>
            </a:pPr>
            <a:r>
              <a:rPr lang="en-US" sz="2400" dirty="0">
                <a:solidFill>
                  <a:srgbClr val="464646"/>
                </a:solidFill>
                <a:latin typeface="Meiryo UI" panose="020B0604030504040204" pitchFamily="34" charset="-128"/>
                <a:ea typeface="Meiryo UI" panose="020B0604030504040204" pitchFamily="34" charset="-128"/>
                <a:cs typeface="DM Sans Semi Bold" pitchFamily="34" charset="-120"/>
              </a:rPr>
              <a:t>自社工場の一貫体制</a:t>
            </a:r>
            <a:endParaRPr lang="en-US" sz="2400" dirty="0">
              <a:latin typeface="Meiryo UI" panose="020B0604030504040204" pitchFamily="34" charset="-128"/>
              <a:ea typeface="Meiryo UI" panose="020B0604030504040204" pitchFamily="34" charset="-128"/>
            </a:endParaRPr>
          </a:p>
        </p:txBody>
      </p:sp>
      <p:sp>
        <p:nvSpPr>
          <p:cNvPr id="10" name="Text 8"/>
          <p:cNvSpPr/>
          <p:nvPr/>
        </p:nvSpPr>
        <p:spPr>
          <a:xfrm>
            <a:off x="5474375" y="1901266"/>
            <a:ext cx="3727252" cy="317540"/>
          </a:xfrm>
          <a:prstGeom prst="rect">
            <a:avLst/>
          </a:prstGeom>
          <a:noFill/>
          <a:ln/>
        </p:spPr>
        <p:txBody>
          <a:bodyPr wrap="none" lIns="0" tIns="0" rIns="0" bIns="0" rtlCol="0" anchor="t"/>
          <a:lstStyle/>
          <a:p>
            <a:pPr marL="0" indent="0" algn="l">
              <a:lnSpc>
                <a:spcPts val="2500"/>
              </a:lnSpc>
              <a:buNone/>
            </a:pPr>
            <a:r>
              <a:rPr lang="en-US" dirty="0">
                <a:solidFill>
                  <a:srgbClr val="464646"/>
                </a:solidFill>
                <a:latin typeface="Meiryo UI" panose="020B0604030504040204" pitchFamily="34" charset="-128"/>
                <a:ea typeface="Meiryo UI" panose="020B0604030504040204" pitchFamily="34" charset="-128"/>
                <a:cs typeface="Inter Medium" pitchFamily="34" charset="-120"/>
              </a:rPr>
              <a:t>（出力・印刷・加工）→</a:t>
            </a:r>
            <a:r>
              <a:rPr lang="en-US" b="1" dirty="0">
                <a:solidFill>
                  <a:srgbClr val="464646"/>
                </a:solidFill>
                <a:latin typeface="Meiryo UI" panose="020B0604030504040204" pitchFamily="34" charset="-128"/>
                <a:ea typeface="Meiryo UI" panose="020B0604030504040204" pitchFamily="34" charset="-128"/>
                <a:cs typeface="Inter Medium" pitchFamily="34" charset="-120"/>
              </a:rPr>
              <a:t>品質×スピード</a:t>
            </a:r>
            <a:endParaRPr lang="en-US" dirty="0">
              <a:latin typeface="Meiryo UI" panose="020B0604030504040204" pitchFamily="34" charset="-128"/>
              <a:ea typeface="Meiryo UI" panose="020B0604030504040204" pitchFamily="34" charset="-128"/>
            </a:endParaRPr>
          </a:p>
        </p:txBody>
      </p:sp>
      <p:sp>
        <p:nvSpPr>
          <p:cNvPr id="11" name="Shape 9"/>
          <p:cNvSpPr/>
          <p:nvPr/>
        </p:nvSpPr>
        <p:spPr>
          <a:xfrm>
            <a:off x="9621203" y="1250827"/>
            <a:ext cx="4215289" cy="1054596"/>
          </a:xfrm>
          <a:prstGeom prst="roundRect">
            <a:avLst>
              <a:gd name="adj" fmla="val 2503"/>
            </a:avLst>
          </a:prstGeom>
          <a:solidFill>
            <a:srgbClr val="FFFFFF"/>
          </a:solidFill>
          <a:ln w="22860">
            <a:solidFill>
              <a:srgbClr val="7AD180"/>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12" name="Shape 10"/>
          <p:cNvSpPr/>
          <p:nvPr/>
        </p:nvSpPr>
        <p:spPr>
          <a:xfrm>
            <a:off x="9621203" y="1250827"/>
            <a:ext cx="45719" cy="1054596"/>
          </a:xfrm>
          <a:prstGeom prst="roundRect">
            <a:avLst>
              <a:gd name="adj" fmla="val 65116"/>
            </a:avLst>
          </a:prstGeom>
          <a:solidFill>
            <a:srgbClr val="7AD180"/>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13" name="Text 11"/>
          <p:cNvSpPr/>
          <p:nvPr/>
        </p:nvSpPr>
        <p:spPr>
          <a:xfrm>
            <a:off x="9888141" y="1472045"/>
            <a:ext cx="2480905" cy="310158"/>
          </a:xfrm>
          <a:prstGeom prst="rect">
            <a:avLst/>
          </a:prstGeom>
          <a:noFill/>
          <a:ln/>
        </p:spPr>
        <p:txBody>
          <a:bodyPr wrap="none" lIns="0" tIns="0" rIns="0" bIns="0" rtlCol="0" anchor="t"/>
          <a:lstStyle/>
          <a:p>
            <a:pPr marL="0" indent="0" algn="l">
              <a:lnSpc>
                <a:spcPts val="2400"/>
              </a:lnSpc>
              <a:buNone/>
            </a:pPr>
            <a:r>
              <a:rPr lang="en-US" sz="2400" dirty="0">
                <a:solidFill>
                  <a:srgbClr val="464646"/>
                </a:solidFill>
                <a:latin typeface="Meiryo UI" panose="020B0604030504040204" pitchFamily="34" charset="-128"/>
                <a:ea typeface="Meiryo UI" panose="020B0604030504040204" pitchFamily="34" charset="-128"/>
                <a:cs typeface="DM Sans Semi Bold" pitchFamily="34" charset="-120"/>
              </a:rPr>
              <a:t>クロスメディア実装</a:t>
            </a:r>
            <a:endParaRPr lang="en-US" sz="2400" dirty="0">
              <a:latin typeface="Meiryo UI" panose="020B0604030504040204" pitchFamily="34" charset="-128"/>
              <a:ea typeface="Meiryo UI" panose="020B0604030504040204" pitchFamily="34" charset="-128"/>
            </a:endParaRPr>
          </a:p>
        </p:txBody>
      </p:sp>
      <p:sp>
        <p:nvSpPr>
          <p:cNvPr id="14" name="Text 12"/>
          <p:cNvSpPr/>
          <p:nvPr/>
        </p:nvSpPr>
        <p:spPr>
          <a:xfrm>
            <a:off x="9888141" y="1901266"/>
            <a:ext cx="3727133" cy="317540"/>
          </a:xfrm>
          <a:prstGeom prst="rect">
            <a:avLst/>
          </a:prstGeom>
          <a:noFill/>
          <a:ln/>
        </p:spPr>
        <p:txBody>
          <a:bodyPr wrap="none" lIns="0" tIns="0" rIns="0" bIns="0" rtlCol="0" anchor="t"/>
          <a:lstStyle/>
          <a:p>
            <a:pPr marL="0" indent="0" algn="l">
              <a:lnSpc>
                <a:spcPts val="2500"/>
              </a:lnSpc>
              <a:buNone/>
            </a:pPr>
            <a:r>
              <a:rPr lang="en-US" dirty="0">
                <a:solidFill>
                  <a:srgbClr val="464646"/>
                </a:solidFill>
                <a:latin typeface="Meiryo UI" panose="020B0604030504040204" pitchFamily="34" charset="-128"/>
                <a:ea typeface="Meiryo UI" panose="020B0604030504040204" pitchFamily="34" charset="-128"/>
                <a:cs typeface="Inter Medium" pitchFamily="34" charset="-120"/>
              </a:rPr>
              <a:t>（紙／Web／SNS／動画／採用）</a:t>
            </a:r>
            <a:endParaRPr lang="en-US" dirty="0">
              <a:latin typeface="Meiryo UI" panose="020B0604030504040204" pitchFamily="34" charset="-128"/>
              <a:ea typeface="Meiryo UI" panose="020B0604030504040204" pitchFamily="34" charset="-128"/>
            </a:endParaRPr>
          </a:p>
        </p:txBody>
      </p:sp>
      <p:sp>
        <p:nvSpPr>
          <p:cNvPr id="15" name="Shape 13"/>
          <p:cNvSpPr/>
          <p:nvPr/>
        </p:nvSpPr>
        <p:spPr>
          <a:xfrm>
            <a:off x="793790" y="2398172"/>
            <a:ext cx="4215289" cy="1170251"/>
          </a:xfrm>
          <a:prstGeom prst="roundRect">
            <a:avLst>
              <a:gd name="adj" fmla="val 1976"/>
            </a:avLst>
          </a:prstGeom>
          <a:solidFill>
            <a:srgbClr val="FFFFFF"/>
          </a:solidFill>
          <a:ln w="22860">
            <a:solidFill>
              <a:srgbClr val="7AD1C3"/>
            </a:solidFill>
            <a:prstDash val="solid"/>
          </a:ln>
        </p:spPr>
        <p:txBody>
          <a:bodyPr/>
          <a:lstStyle/>
          <a:p>
            <a:endParaRPr lang="ja-GU" altLang="en-US" sz="2400">
              <a:latin typeface="Meiryo UI" panose="020B0604030504040204" pitchFamily="34" charset="-128"/>
              <a:ea typeface="Meiryo UI" panose="020B0604030504040204" pitchFamily="34" charset="-128"/>
            </a:endParaRPr>
          </a:p>
        </p:txBody>
      </p:sp>
      <p:sp>
        <p:nvSpPr>
          <p:cNvPr id="16" name="Shape 14"/>
          <p:cNvSpPr/>
          <p:nvPr/>
        </p:nvSpPr>
        <p:spPr>
          <a:xfrm>
            <a:off x="805702" y="2401267"/>
            <a:ext cx="45719" cy="1167156"/>
          </a:xfrm>
          <a:prstGeom prst="roundRect">
            <a:avLst>
              <a:gd name="adj" fmla="val 65116"/>
            </a:avLst>
          </a:prstGeom>
          <a:solidFill>
            <a:srgbClr val="7AD1C3"/>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17" name="Text 15"/>
          <p:cNvSpPr/>
          <p:nvPr/>
        </p:nvSpPr>
        <p:spPr>
          <a:xfrm>
            <a:off x="1060728" y="2619390"/>
            <a:ext cx="3069023" cy="310158"/>
          </a:xfrm>
          <a:prstGeom prst="rect">
            <a:avLst/>
          </a:prstGeom>
          <a:noFill/>
          <a:ln/>
        </p:spPr>
        <p:txBody>
          <a:bodyPr wrap="none" lIns="0" tIns="0" rIns="0" bIns="0" rtlCol="0" anchor="t"/>
          <a:lstStyle/>
          <a:p>
            <a:pPr marL="0" indent="0" algn="l">
              <a:lnSpc>
                <a:spcPts val="2400"/>
              </a:lnSpc>
              <a:buNone/>
            </a:pPr>
            <a:r>
              <a:rPr lang="en-US" sz="2400" dirty="0">
                <a:solidFill>
                  <a:srgbClr val="464646"/>
                </a:solidFill>
                <a:latin typeface="Meiryo UI" panose="020B0604030504040204" pitchFamily="34" charset="-128"/>
                <a:ea typeface="Meiryo UI" panose="020B0604030504040204" pitchFamily="34" charset="-128"/>
                <a:cs typeface="DM Sans Semi Bold" pitchFamily="34" charset="-120"/>
              </a:rPr>
              <a:t>サステナ×地域</a:t>
            </a:r>
            <a:endParaRPr lang="en-US" sz="2400" dirty="0">
              <a:latin typeface="Meiryo UI" panose="020B0604030504040204" pitchFamily="34" charset="-128"/>
              <a:ea typeface="Meiryo UI" panose="020B0604030504040204" pitchFamily="34" charset="-128"/>
            </a:endParaRPr>
          </a:p>
        </p:txBody>
      </p:sp>
      <p:sp>
        <p:nvSpPr>
          <p:cNvPr id="18" name="Text 16"/>
          <p:cNvSpPr/>
          <p:nvPr/>
        </p:nvSpPr>
        <p:spPr>
          <a:xfrm>
            <a:off x="1060728" y="3048610"/>
            <a:ext cx="3727133" cy="635079"/>
          </a:xfrm>
          <a:prstGeom prst="rect">
            <a:avLst/>
          </a:prstGeom>
          <a:noFill/>
          <a:ln/>
        </p:spPr>
        <p:txBody>
          <a:bodyPr wrap="square" lIns="0" tIns="0" rIns="0" bIns="0" rtlCol="0" anchor="t"/>
          <a:lstStyle/>
          <a:p>
            <a:pPr marL="0" indent="0" algn="l">
              <a:lnSpc>
                <a:spcPts val="2500"/>
              </a:lnSpc>
              <a:buNone/>
            </a:pPr>
            <a:r>
              <a:rPr lang="en-US" sz="1600" dirty="0">
                <a:solidFill>
                  <a:srgbClr val="464646"/>
                </a:solidFill>
                <a:latin typeface="Meiryo UI" panose="020B0604030504040204" pitchFamily="34" charset="-128"/>
                <a:ea typeface="Meiryo UI" panose="020B0604030504040204" pitchFamily="34" charset="-128"/>
                <a:cs typeface="Inter Medium" pitchFamily="34" charset="-120"/>
              </a:rPr>
              <a:t>（太陽光・エコ資材 等）／認証・外部評価</a:t>
            </a:r>
            <a:endParaRPr lang="en-US" sz="1600" dirty="0">
              <a:latin typeface="Meiryo UI" panose="020B0604030504040204" pitchFamily="34" charset="-128"/>
              <a:ea typeface="Meiryo UI" panose="020B0604030504040204" pitchFamily="34" charset="-128"/>
            </a:endParaRPr>
          </a:p>
        </p:txBody>
      </p:sp>
      <p:sp>
        <p:nvSpPr>
          <p:cNvPr id="19" name="Shape 17"/>
          <p:cNvSpPr/>
          <p:nvPr/>
        </p:nvSpPr>
        <p:spPr>
          <a:xfrm>
            <a:off x="5207437" y="2398172"/>
            <a:ext cx="4215289" cy="1170251"/>
          </a:xfrm>
          <a:prstGeom prst="roundRect">
            <a:avLst>
              <a:gd name="adj" fmla="val 1976"/>
            </a:avLst>
          </a:prstGeom>
          <a:solidFill>
            <a:srgbClr val="FFFFFF"/>
          </a:solidFill>
          <a:ln w="22860">
            <a:solidFill>
              <a:srgbClr val="D8D4D4"/>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20" name="Shape 18"/>
          <p:cNvSpPr/>
          <p:nvPr/>
        </p:nvSpPr>
        <p:spPr>
          <a:xfrm flipH="1">
            <a:off x="5193913" y="2421078"/>
            <a:ext cx="45719" cy="1170251"/>
          </a:xfrm>
          <a:prstGeom prst="roundRect">
            <a:avLst>
              <a:gd name="adj" fmla="val 65116"/>
            </a:avLst>
          </a:prstGeom>
          <a:solidFill>
            <a:srgbClr val="1C9770"/>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21" name="Text 19"/>
          <p:cNvSpPr/>
          <p:nvPr/>
        </p:nvSpPr>
        <p:spPr>
          <a:xfrm>
            <a:off x="5474376" y="2619390"/>
            <a:ext cx="2689288" cy="310158"/>
          </a:xfrm>
          <a:prstGeom prst="rect">
            <a:avLst/>
          </a:prstGeom>
          <a:noFill/>
          <a:ln/>
        </p:spPr>
        <p:txBody>
          <a:bodyPr wrap="none" lIns="0" tIns="0" rIns="0" bIns="0" rtlCol="0" anchor="t"/>
          <a:lstStyle/>
          <a:p>
            <a:pPr marL="0" indent="0" algn="l">
              <a:lnSpc>
                <a:spcPts val="2400"/>
              </a:lnSpc>
              <a:buNone/>
            </a:pPr>
            <a:r>
              <a:rPr lang="en-US" sz="2400" dirty="0">
                <a:solidFill>
                  <a:srgbClr val="464646"/>
                </a:solidFill>
                <a:latin typeface="Meiryo UI" panose="020B0604030504040204" pitchFamily="34" charset="-128"/>
                <a:ea typeface="Meiryo UI" panose="020B0604030504040204" pitchFamily="34" charset="-128"/>
                <a:cs typeface="DM Sans Semi Bold" pitchFamily="34" charset="-120"/>
              </a:rPr>
              <a:t>文化</a:t>
            </a:r>
            <a:endParaRPr lang="en-US" sz="2400" dirty="0">
              <a:latin typeface="Meiryo UI" panose="020B0604030504040204" pitchFamily="34" charset="-128"/>
              <a:ea typeface="Meiryo UI" panose="020B0604030504040204" pitchFamily="34" charset="-128"/>
            </a:endParaRPr>
          </a:p>
        </p:txBody>
      </p:sp>
      <p:sp>
        <p:nvSpPr>
          <p:cNvPr id="22" name="Text 20"/>
          <p:cNvSpPr/>
          <p:nvPr/>
        </p:nvSpPr>
        <p:spPr>
          <a:xfrm>
            <a:off x="5474374" y="3048610"/>
            <a:ext cx="4544699" cy="635079"/>
          </a:xfrm>
          <a:prstGeom prst="rect">
            <a:avLst/>
          </a:prstGeom>
          <a:noFill/>
          <a:ln/>
        </p:spPr>
        <p:txBody>
          <a:bodyPr wrap="square" lIns="0" tIns="0" rIns="0" bIns="0" rtlCol="0" anchor="t"/>
          <a:lstStyle/>
          <a:p>
            <a:pPr marL="0" indent="0" algn="l">
              <a:lnSpc>
                <a:spcPts val="2500"/>
              </a:lnSpc>
              <a:buNone/>
            </a:pPr>
            <a:r>
              <a:rPr lang="en-US" sz="1600" dirty="0">
                <a:solidFill>
                  <a:srgbClr val="464646"/>
                </a:solidFill>
                <a:latin typeface="Meiryo UI" panose="020B0604030504040204" pitchFamily="34" charset="-128"/>
                <a:ea typeface="Meiryo UI" panose="020B0604030504040204" pitchFamily="34" charset="-128"/>
                <a:cs typeface="Inter Medium" pitchFamily="34" charset="-120"/>
              </a:rPr>
              <a:t>若手裁量・現場主義・"AI時代でも人の価値"</a:t>
            </a:r>
            <a:endParaRPr lang="en-US" sz="1600" dirty="0">
              <a:latin typeface="Meiryo UI" panose="020B0604030504040204" pitchFamily="34" charset="-128"/>
              <a:ea typeface="Meiryo UI" panose="020B0604030504040204" pitchFamily="34" charset="-128"/>
            </a:endParaRPr>
          </a:p>
        </p:txBody>
      </p:sp>
      <p:pic>
        <p:nvPicPr>
          <p:cNvPr id="3076" name="Picture 4">
            <a:extLst>
              <a:ext uri="{FF2B5EF4-FFF2-40B4-BE49-F238E27FC236}">
                <a16:creationId xmlns:a16="http://schemas.microsoft.com/office/drawing/2014/main" id="{174D1B5E-571C-D532-BC3D-0FA3AB1D5D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689" y="2305423"/>
            <a:ext cx="13940624" cy="63944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1025604"/>
            <a:ext cx="10734913" cy="620078"/>
          </a:xfrm>
          <a:prstGeom prst="rect">
            <a:avLst/>
          </a:prstGeom>
          <a:noFill/>
          <a:ln/>
        </p:spPr>
        <p:txBody>
          <a:bodyPr wrap="none" lIns="0" tIns="0" rIns="0" bIns="0" rtlCol="0" anchor="t"/>
          <a:lstStyle/>
          <a:p>
            <a:pPr marL="0" indent="0" algn="l">
              <a:lnSpc>
                <a:spcPts val="4850"/>
              </a:lnSpc>
              <a:buNone/>
            </a:pPr>
            <a:r>
              <a:rPr lang="en-US" sz="4000" b="1" dirty="0">
                <a:solidFill>
                  <a:srgbClr val="030303"/>
                </a:solidFill>
                <a:latin typeface="Meiryo UI" panose="020B0604030504040204" pitchFamily="34" charset="-128"/>
                <a:ea typeface="Meiryo UI" panose="020B0604030504040204" pitchFamily="34" charset="-128"/>
                <a:cs typeface="DM Sans Semi Bold" pitchFamily="34" charset="-120"/>
              </a:rPr>
              <a:t>AI導入のヒント（スマイディア様：入口→出口）</a:t>
            </a:r>
            <a:endParaRPr lang="en-US" sz="4000" b="1" dirty="0">
              <a:latin typeface="Meiryo UI" panose="020B0604030504040204" pitchFamily="34" charset="-128"/>
              <a:ea typeface="Meiryo UI" panose="020B0604030504040204" pitchFamily="34" charset="-128"/>
            </a:endParaRPr>
          </a:p>
        </p:txBody>
      </p:sp>
      <p:sp>
        <p:nvSpPr>
          <p:cNvPr id="3" name="Shape 1"/>
          <p:cNvSpPr/>
          <p:nvPr/>
        </p:nvSpPr>
        <p:spPr>
          <a:xfrm>
            <a:off x="793790" y="2045156"/>
            <a:ext cx="6422231" cy="198358"/>
          </a:xfrm>
          <a:prstGeom prst="roundRect">
            <a:avLst>
              <a:gd name="adj" fmla="val 15009"/>
            </a:avLst>
          </a:prstGeom>
          <a:solidFill>
            <a:srgbClr val="1C9770"/>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4" name="Text 2"/>
          <p:cNvSpPr/>
          <p:nvPr/>
        </p:nvSpPr>
        <p:spPr>
          <a:xfrm>
            <a:off x="992148" y="2445424"/>
            <a:ext cx="2480905" cy="310158"/>
          </a:xfrm>
          <a:prstGeom prst="rect">
            <a:avLst/>
          </a:prstGeom>
          <a:noFill/>
          <a:ln/>
        </p:spPr>
        <p:txBody>
          <a:bodyPr wrap="none" lIns="0" tIns="0" rIns="0" bIns="0" rtlCol="0" anchor="t"/>
          <a:lstStyle/>
          <a:p>
            <a:pPr marL="0" indent="0" algn="l">
              <a:lnSpc>
                <a:spcPts val="2400"/>
              </a:lnSpc>
              <a:buNone/>
            </a:pPr>
            <a:r>
              <a:rPr lang="en-US" sz="2400" dirty="0">
                <a:solidFill>
                  <a:srgbClr val="464646"/>
                </a:solidFill>
                <a:latin typeface="Meiryo UI" panose="020B0604030504040204" pitchFamily="34" charset="-128"/>
                <a:ea typeface="Meiryo UI" panose="020B0604030504040204" pitchFamily="34" charset="-128"/>
                <a:cs typeface="DM Sans Semi Bold" pitchFamily="34" charset="-120"/>
              </a:rPr>
              <a:t>最初のきっかけ</a:t>
            </a:r>
            <a:endParaRPr lang="en-US" sz="2400" dirty="0">
              <a:latin typeface="Meiryo UI" panose="020B0604030504040204" pitchFamily="34" charset="-128"/>
              <a:ea typeface="Meiryo UI" panose="020B0604030504040204" pitchFamily="34" charset="-128"/>
            </a:endParaRPr>
          </a:p>
        </p:txBody>
      </p:sp>
      <p:sp>
        <p:nvSpPr>
          <p:cNvPr id="5" name="Text 3"/>
          <p:cNvSpPr/>
          <p:nvPr/>
        </p:nvSpPr>
        <p:spPr>
          <a:xfrm>
            <a:off x="992148" y="2868454"/>
            <a:ext cx="6025515" cy="635079"/>
          </a:xfrm>
          <a:prstGeom prst="rect">
            <a:avLst/>
          </a:prstGeom>
          <a:noFill/>
          <a:ln/>
        </p:spPr>
        <p:txBody>
          <a:bodyPr wrap="square" lIns="0" tIns="0" rIns="0" bIns="0" rtlCol="0" anchor="t"/>
          <a:lstStyle/>
          <a:p>
            <a:pPr marL="0" indent="0" algn="l">
              <a:lnSpc>
                <a:spcPts val="2500"/>
              </a:lnSpc>
              <a:buNone/>
            </a:pPr>
            <a:r>
              <a:rPr lang="en-US" dirty="0" err="1">
                <a:solidFill>
                  <a:srgbClr val="464646"/>
                </a:solidFill>
                <a:latin typeface="Meiryo UI" panose="020B0604030504040204" pitchFamily="34" charset="-128"/>
                <a:ea typeface="Meiryo UI" panose="020B0604030504040204" pitchFamily="34" charset="-128"/>
                <a:cs typeface="Inter Medium" pitchFamily="34" charset="-120"/>
              </a:rPr>
              <a:t>受付→見積のたたき台最短化（夜間の取りこぼし減／その場で</a:t>
            </a:r>
            <a:r>
              <a:rPr lang="en-US" dirty="0">
                <a:solidFill>
                  <a:srgbClr val="464646"/>
                </a:solidFill>
                <a:latin typeface="Meiryo UI" panose="020B0604030504040204" pitchFamily="34" charset="-128"/>
                <a:ea typeface="Meiryo UI" panose="020B0604030504040204" pitchFamily="34" charset="-128"/>
                <a:cs typeface="Inter Medium" pitchFamily="34" charset="-120"/>
              </a:rPr>
              <a:t> </a:t>
            </a:r>
            <a:r>
              <a:rPr lang="en-US" dirty="0" err="1">
                <a:solidFill>
                  <a:srgbClr val="464646"/>
                </a:solidFill>
                <a:latin typeface="Meiryo UI" panose="020B0604030504040204" pitchFamily="34" charset="-128"/>
                <a:ea typeface="Meiryo UI" panose="020B0604030504040204" pitchFamily="34" charset="-128"/>
                <a:cs typeface="Inter Medium" pitchFamily="34" charset="-120"/>
              </a:rPr>
              <a:t>解決できた割合</a:t>
            </a:r>
            <a:r>
              <a:rPr lang="en-US" dirty="0">
                <a:solidFill>
                  <a:srgbClr val="464646"/>
                </a:solidFill>
                <a:latin typeface="Meiryo UI" panose="020B0604030504040204" pitchFamily="34" charset="-128"/>
                <a:ea typeface="Meiryo UI" panose="020B0604030504040204" pitchFamily="34" charset="-128"/>
                <a:cs typeface="Inter Medium" pitchFamily="34" charset="-120"/>
              </a:rPr>
              <a:t>↑）</a:t>
            </a:r>
            <a:endParaRPr lang="en-US" dirty="0">
              <a:latin typeface="Meiryo UI" panose="020B0604030504040204" pitchFamily="34" charset="-128"/>
              <a:ea typeface="Meiryo UI" panose="020B0604030504040204" pitchFamily="34" charset="-128"/>
            </a:endParaRPr>
          </a:p>
        </p:txBody>
      </p:sp>
      <p:sp>
        <p:nvSpPr>
          <p:cNvPr id="6" name="Shape 4"/>
          <p:cNvSpPr/>
          <p:nvPr/>
        </p:nvSpPr>
        <p:spPr>
          <a:xfrm>
            <a:off x="7414379" y="2042517"/>
            <a:ext cx="6422231" cy="198358"/>
          </a:xfrm>
          <a:prstGeom prst="roundRect">
            <a:avLst>
              <a:gd name="adj" fmla="val 15009"/>
            </a:avLst>
          </a:prstGeom>
          <a:solidFill>
            <a:srgbClr val="93CB52"/>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7" name="Text 5"/>
          <p:cNvSpPr/>
          <p:nvPr/>
        </p:nvSpPr>
        <p:spPr>
          <a:xfrm>
            <a:off x="7612737" y="2439233"/>
            <a:ext cx="2480905" cy="310158"/>
          </a:xfrm>
          <a:prstGeom prst="rect">
            <a:avLst/>
          </a:prstGeom>
          <a:noFill/>
          <a:ln/>
        </p:spPr>
        <p:txBody>
          <a:bodyPr wrap="none" lIns="0" tIns="0" rIns="0" bIns="0" rtlCol="0" anchor="t"/>
          <a:lstStyle/>
          <a:p>
            <a:pPr marL="0" indent="0" algn="l">
              <a:lnSpc>
                <a:spcPts val="2400"/>
              </a:lnSpc>
              <a:buNone/>
            </a:pPr>
            <a:r>
              <a:rPr lang="en-US" sz="2400" dirty="0">
                <a:solidFill>
                  <a:srgbClr val="464646"/>
                </a:solidFill>
                <a:latin typeface="Meiryo UI" panose="020B0604030504040204" pitchFamily="34" charset="-128"/>
                <a:ea typeface="Meiryo UI" panose="020B0604030504040204" pitchFamily="34" charset="-128"/>
                <a:cs typeface="DM Sans Semi Bold" pitchFamily="34" charset="-120"/>
              </a:rPr>
              <a:t>中央</a:t>
            </a:r>
            <a:endParaRPr lang="en-US" sz="2400" dirty="0">
              <a:latin typeface="Meiryo UI" panose="020B0604030504040204" pitchFamily="34" charset="-128"/>
              <a:ea typeface="Meiryo UI" panose="020B0604030504040204" pitchFamily="34" charset="-128"/>
            </a:endParaRPr>
          </a:p>
        </p:txBody>
      </p:sp>
      <p:sp>
        <p:nvSpPr>
          <p:cNvPr id="8" name="Text 6"/>
          <p:cNvSpPr/>
          <p:nvPr/>
        </p:nvSpPr>
        <p:spPr>
          <a:xfrm>
            <a:off x="7612737" y="2868454"/>
            <a:ext cx="6025515" cy="317540"/>
          </a:xfrm>
          <a:prstGeom prst="rect">
            <a:avLst/>
          </a:prstGeom>
          <a:noFill/>
          <a:ln/>
        </p:spPr>
        <p:txBody>
          <a:bodyPr wrap="none" lIns="0" tIns="0" rIns="0" bIns="0" rtlCol="0" anchor="t"/>
          <a:lstStyle/>
          <a:p>
            <a:pPr marL="0" indent="0" algn="l">
              <a:lnSpc>
                <a:spcPts val="2500"/>
              </a:lnSpc>
              <a:buNone/>
            </a:pPr>
            <a:r>
              <a:rPr lang="en-US" dirty="0">
                <a:solidFill>
                  <a:srgbClr val="464646"/>
                </a:solidFill>
                <a:latin typeface="Meiryo UI" panose="020B0604030504040204" pitchFamily="34" charset="-128"/>
                <a:ea typeface="Meiryo UI" panose="020B0604030504040204" pitchFamily="34" charset="-128"/>
                <a:cs typeface="Inter Medium" pitchFamily="34" charset="-120"/>
              </a:rPr>
              <a:t>"定型の非定型"の</a:t>
            </a:r>
            <a:r>
              <a:rPr lang="en-US" b="1" dirty="0">
                <a:solidFill>
                  <a:srgbClr val="464646"/>
                </a:solidFill>
                <a:latin typeface="Meiryo UI" panose="020B0604030504040204" pitchFamily="34" charset="-128"/>
                <a:ea typeface="Meiryo UI" panose="020B0604030504040204" pitchFamily="34" charset="-128"/>
                <a:cs typeface="Inter Medium" pitchFamily="34" charset="-120"/>
              </a:rPr>
              <a:t>型化</a:t>
            </a:r>
            <a:r>
              <a:rPr lang="en-US" dirty="0">
                <a:solidFill>
                  <a:srgbClr val="464646"/>
                </a:solidFill>
                <a:latin typeface="Meiryo UI" panose="020B0604030504040204" pitchFamily="34" charset="-128"/>
                <a:ea typeface="Meiryo UI" panose="020B0604030504040204" pitchFamily="34" charset="-128"/>
                <a:cs typeface="Inter Medium" pitchFamily="34" charset="-120"/>
              </a:rPr>
              <a:t>（色合わせ／再校／機械の設定変更作業）</a:t>
            </a:r>
            <a:endParaRPr lang="en-US" dirty="0">
              <a:latin typeface="Meiryo UI" panose="020B0604030504040204" pitchFamily="34" charset="-128"/>
              <a:ea typeface="Meiryo UI" panose="020B0604030504040204" pitchFamily="34" charset="-128"/>
            </a:endParaRPr>
          </a:p>
        </p:txBody>
      </p:sp>
      <p:sp>
        <p:nvSpPr>
          <p:cNvPr id="9" name="Shape 7"/>
          <p:cNvSpPr/>
          <p:nvPr/>
        </p:nvSpPr>
        <p:spPr>
          <a:xfrm>
            <a:off x="793790" y="4197906"/>
            <a:ext cx="6422231" cy="198358"/>
          </a:xfrm>
          <a:prstGeom prst="roundRect">
            <a:avLst>
              <a:gd name="adj" fmla="val 15009"/>
            </a:avLst>
          </a:prstGeom>
          <a:solidFill>
            <a:srgbClr val="7AD180"/>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10" name="Text 8"/>
          <p:cNvSpPr/>
          <p:nvPr/>
        </p:nvSpPr>
        <p:spPr>
          <a:xfrm>
            <a:off x="992148" y="4597202"/>
            <a:ext cx="2480905" cy="310158"/>
          </a:xfrm>
          <a:prstGeom prst="rect">
            <a:avLst/>
          </a:prstGeom>
          <a:noFill/>
          <a:ln/>
        </p:spPr>
        <p:txBody>
          <a:bodyPr wrap="none" lIns="0" tIns="0" rIns="0" bIns="0" rtlCol="0" anchor="t"/>
          <a:lstStyle/>
          <a:p>
            <a:pPr marL="0" indent="0" algn="l">
              <a:lnSpc>
                <a:spcPts val="2400"/>
              </a:lnSpc>
              <a:buNone/>
            </a:pPr>
            <a:r>
              <a:rPr lang="en-US" sz="2400" dirty="0">
                <a:solidFill>
                  <a:srgbClr val="464646"/>
                </a:solidFill>
                <a:latin typeface="Meiryo UI" panose="020B0604030504040204" pitchFamily="34" charset="-128"/>
                <a:ea typeface="Meiryo UI" panose="020B0604030504040204" pitchFamily="34" charset="-128"/>
                <a:cs typeface="DM Sans Semi Bold" pitchFamily="34" charset="-120"/>
              </a:rPr>
              <a:t>出口</a:t>
            </a:r>
            <a:endParaRPr lang="en-US" sz="2400" dirty="0">
              <a:latin typeface="Meiryo UI" panose="020B0604030504040204" pitchFamily="34" charset="-128"/>
              <a:ea typeface="Meiryo UI" panose="020B0604030504040204" pitchFamily="34" charset="-128"/>
            </a:endParaRPr>
          </a:p>
        </p:txBody>
      </p:sp>
      <p:sp>
        <p:nvSpPr>
          <p:cNvPr id="11" name="Text 9"/>
          <p:cNvSpPr/>
          <p:nvPr/>
        </p:nvSpPr>
        <p:spPr>
          <a:xfrm>
            <a:off x="992148" y="5023842"/>
            <a:ext cx="6025515" cy="952619"/>
          </a:xfrm>
          <a:prstGeom prst="rect">
            <a:avLst/>
          </a:prstGeom>
          <a:noFill/>
          <a:ln/>
        </p:spPr>
        <p:txBody>
          <a:bodyPr wrap="square" lIns="0" tIns="0" rIns="0" bIns="0" rtlCol="0" anchor="t"/>
          <a:lstStyle/>
          <a:p>
            <a:pPr marL="0" indent="0" algn="l">
              <a:lnSpc>
                <a:spcPts val="2500"/>
              </a:lnSpc>
              <a:buNone/>
            </a:pPr>
            <a:r>
              <a:rPr lang="en-US" b="1" dirty="0">
                <a:solidFill>
                  <a:srgbClr val="464646"/>
                </a:solidFill>
                <a:latin typeface="Meiryo UI" panose="020B0604030504040204" pitchFamily="34" charset="-128"/>
                <a:ea typeface="Meiryo UI" panose="020B0604030504040204" pitchFamily="34" charset="-128"/>
                <a:cs typeface="Inter Medium" pitchFamily="34" charset="-120"/>
              </a:rPr>
              <a:t>ダイレクトメール（DM）×</a:t>
            </a:r>
            <a:r>
              <a:rPr lang="en-US" b="1" dirty="0" err="1">
                <a:solidFill>
                  <a:srgbClr val="464646"/>
                </a:solidFill>
                <a:latin typeface="Meiryo UI" panose="020B0604030504040204" pitchFamily="34" charset="-128"/>
                <a:ea typeface="Meiryo UI" panose="020B0604030504040204" pitchFamily="34" charset="-128"/>
                <a:cs typeface="Inter Medium" pitchFamily="34" charset="-120"/>
              </a:rPr>
              <a:t>申し込み用の簡易Webページ</a:t>
            </a:r>
            <a:r>
              <a:rPr lang="en-US" b="1" dirty="0">
                <a:solidFill>
                  <a:srgbClr val="464646"/>
                </a:solidFill>
                <a:latin typeface="Meiryo UI" panose="020B0604030504040204" pitchFamily="34" charset="-128"/>
                <a:ea typeface="Meiryo UI" panose="020B0604030504040204" pitchFamily="34" charset="-128"/>
                <a:cs typeface="Inter Medium" pitchFamily="34" charset="-120"/>
              </a:rPr>
              <a:t>        (</a:t>
            </a:r>
            <a:r>
              <a:rPr lang="en-US" b="1" dirty="0" err="1">
                <a:solidFill>
                  <a:srgbClr val="464646"/>
                </a:solidFill>
                <a:latin typeface="Meiryo UI" panose="020B0604030504040204" pitchFamily="34" charset="-128"/>
                <a:ea typeface="Meiryo UI" panose="020B0604030504040204" pitchFamily="34" charset="-128"/>
                <a:cs typeface="Inter Medium" pitchFamily="34" charset="-120"/>
              </a:rPr>
              <a:t>申し込み用の簡単なWebページ</a:t>
            </a:r>
            <a:r>
              <a:rPr lang="en-US" b="1" dirty="0">
                <a:solidFill>
                  <a:srgbClr val="464646"/>
                </a:solidFill>
                <a:latin typeface="Meiryo UI" panose="020B0604030504040204" pitchFamily="34" charset="-128"/>
                <a:ea typeface="Meiryo UI" panose="020B0604030504040204" pitchFamily="34" charset="-128"/>
                <a:cs typeface="Inter Medium" pitchFamily="34" charset="-120"/>
              </a:rPr>
              <a:t>(LP) )</a:t>
            </a:r>
            <a:r>
              <a:rPr lang="en-US" dirty="0" err="1">
                <a:solidFill>
                  <a:srgbClr val="464646"/>
                </a:solidFill>
                <a:latin typeface="Meiryo UI" panose="020B0604030504040204" pitchFamily="34" charset="-128"/>
                <a:ea typeface="Meiryo UI" panose="020B0604030504040204" pitchFamily="34" charset="-128"/>
                <a:cs typeface="Inter Medium" pitchFamily="34" charset="-120"/>
              </a:rPr>
              <a:t>の小実験</a:t>
            </a:r>
            <a:r>
              <a:rPr lang="en-US" dirty="0">
                <a:solidFill>
                  <a:srgbClr val="464646"/>
                </a:solidFill>
                <a:latin typeface="Meiryo UI" panose="020B0604030504040204" pitchFamily="34" charset="-128"/>
                <a:ea typeface="Meiryo UI" panose="020B0604030504040204" pitchFamily="34" charset="-128"/>
                <a:cs typeface="Inter Medium" pitchFamily="34" charset="-120"/>
              </a:rPr>
              <a:t>                (</a:t>
            </a:r>
            <a:r>
              <a:rPr lang="en-US" dirty="0" err="1">
                <a:solidFill>
                  <a:srgbClr val="464646"/>
                </a:solidFill>
                <a:latin typeface="Meiryo UI" panose="020B0604030504040204" pitchFamily="34" charset="-128"/>
                <a:ea typeface="Meiryo UI" panose="020B0604030504040204" pitchFamily="34" charset="-128"/>
                <a:cs typeface="Inter Medium" pitchFamily="34" charset="-120"/>
              </a:rPr>
              <a:t>提案当たり率</a:t>
            </a:r>
            <a:r>
              <a:rPr lang="en-US" dirty="0">
                <a:solidFill>
                  <a:srgbClr val="464646"/>
                </a:solidFill>
                <a:latin typeface="Meiryo UI" panose="020B0604030504040204" pitchFamily="34" charset="-128"/>
                <a:ea typeface="Meiryo UI" panose="020B0604030504040204" pitchFamily="34" charset="-128"/>
                <a:cs typeface="Inter Medium" pitchFamily="34" charset="-120"/>
              </a:rPr>
              <a:t>↑) ＋ </a:t>
            </a:r>
            <a:r>
              <a:rPr lang="en-US" b="1" dirty="0" err="1">
                <a:solidFill>
                  <a:srgbClr val="464646"/>
                </a:solidFill>
                <a:latin typeface="Meiryo UI" panose="020B0604030504040204" pitchFamily="34" charset="-128"/>
                <a:ea typeface="Meiryo UI" panose="020B0604030504040204" pitchFamily="34" charset="-128"/>
                <a:cs typeface="Inter Medium" pitchFamily="34" charset="-120"/>
              </a:rPr>
              <a:t>二酸化炭素</a:t>
            </a:r>
            <a:r>
              <a:rPr lang="en-US" b="1" dirty="0">
                <a:solidFill>
                  <a:srgbClr val="464646"/>
                </a:solidFill>
                <a:latin typeface="Meiryo UI" panose="020B0604030504040204" pitchFamily="34" charset="-128"/>
                <a:ea typeface="Meiryo UI" panose="020B0604030504040204" pitchFamily="34" charset="-128"/>
                <a:cs typeface="Inter Medium" pitchFamily="34" charset="-120"/>
              </a:rPr>
              <a:t> (CO₂) </a:t>
            </a:r>
            <a:r>
              <a:rPr lang="en-US" b="1" dirty="0" err="1">
                <a:solidFill>
                  <a:srgbClr val="464646"/>
                </a:solidFill>
                <a:latin typeface="Meiryo UI" panose="020B0604030504040204" pitchFamily="34" charset="-128"/>
                <a:ea typeface="Meiryo UI" panose="020B0604030504040204" pitchFamily="34" charset="-128"/>
                <a:cs typeface="Inter Medium" pitchFamily="34" charset="-120"/>
              </a:rPr>
              <a:t>見える化</a:t>
            </a:r>
            <a:endParaRPr lang="en-US" dirty="0">
              <a:latin typeface="Meiryo UI" panose="020B0604030504040204" pitchFamily="34" charset="-128"/>
              <a:ea typeface="Meiryo UI" panose="020B0604030504040204" pitchFamily="34" charset="-128"/>
            </a:endParaRPr>
          </a:p>
        </p:txBody>
      </p:sp>
      <p:sp>
        <p:nvSpPr>
          <p:cNvPr id="12" name="Shape 10"/>
          <p:cNvSpPr/>
          <p:nvPr/>
        </p:nvSpPr>
        <p:spPr>
          <a:xfrm>
            <a:off x="7414379" y="4197906"/>
            <a:ext cx="6422231" cy="198358"/>
          </a:xfrm>
          <a:prstGeom prst="roundRect">
            <a:avLst>
              <a:gd name="adj" fmla="val 15009"/>
            </a:avLst>
          </a:prstGeom>
          <a:solidFill>
            <a:srgbClr val="7AD1C3"/>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13" name="Text 11"/>
          <p:cNvSpPr/>
          <p:nvPr/>
        </p:nvSpPr>
        <p:spPr>
          <a:xfrm>
            <a:off x="7612737" y="4594622"/>
            <a:ext cx="2480905" cy="310158"/>
          </a:xfrm>
          <a:prstGeom prst="rect">
            <a:avLst/>
          </a:prstGeom>
          <a:noFill/>
          <a:ln/>
        </p:spPr>
        <p:txBody>
          <a:bodyPr wrap="none" lIns="0" tIns="0" rIns="0" bIns="0" rtlCol="0" anchor="t"/>
          <a:lstStyle/>
          <a:p>
            <a:pPr marL="0" indent="0" algn="l">
              <a:lnSpc>
                <a:spcPts val="2400"/>
              </a:lnSpc>
              <a:buNone/>
            </a:pPr>
            <a:r>
              <a:rPr lang="en-US" sz="2400" dirty="0">
                <a:solidFill>
                  <a:srgbClr val="464646"/>
                </a:solidFill>
                <a:latin typeface="Meiryo UI" panose="020B0604030504040204" pitchFamily="34" charset="-128"/>
                <a:ea typeface="Meiryo UI" panose="020B0604030504040204" pitchFamily="34" charset="-128"/>
                <a:cs typeface="DM Sans Semi Bold" pitchFamily="34" charset="-120"/>
              </a:rPr>
              <a:t>運用</a:t>
            </a:r>
            <a:endParaRPr lang="en-US" sz="2400" dirty="0">
              <a:latin typeface="Meiryo UI" panose="020B0604030504040204" pitchFamily="34" charset="-128"/>
              <a:ea typeface="Meiryo UI" panose="020B0604030504040204" pitchFamily="34" charset="-128"/>
            </a:endParaRPr>
          </a:p>
        </p:txBody>
      </p:sp>
      <p:sp>
        <p:nvSpPr>
          <p:cNvPr id="14" name="Text 12"/>
          <p:cNvSpPr/>
          <p:nvPr/>
        </p:nvSpPr>
        <p:spPr>
          <a:xfrm>
            <a:off x="7612737" y="5023842"/>
            <a:ext cx="6025515" cy="635079"/>
          </a:xfrm>
          <a:prstGeom prst="rect">
            <a:avLst/>
          </a:prstGeom>
          <a:noFill/>
          <a:ln/>
        </p:spPr>
        <p:txBody>
          <a:bodyPr wrap="square" lIns="0" tIns="0" rIns="0" bIns="0" rtlCol="0" anchor="t"/>
          <a:lstStyle/>
          <a:p>
            <a:pPr marL="0" indent="0" algn="l">
              <a:lnSpc>
                <a:spcPts val="2500"/>
              </a:lnSpc>
              <a:buNone/>
            </a:pPr>
            <a:r>
              <a:rPr lang="en-US" b="1" dirty="0">
                <a:solidFill>
                  <a:srgbClr val="464646"/>
                </a:solidFill>
                <a:latin typeface="Meiryo UI" panose="020B0604030504040204" pitchFamily="34" charset="-128"/>
                <a:ea typeface="Meiryo UI" panose="020B0604030504040204" pitchFamily="34" charset="-128"/>
                <a:cs typeface="Inter Medium" pitchFamily="34" charset="-120"/>
              </a:rPr>
              <a:t>人が最終確認する方式（HITL）</a:t>
            </a:r>
            <a:r>
              <a:rPr lang="en-US" dirty="0">
                <a:solidFill>
                  <a:srgbClr val="464646"/>
                </a:solidFill>
                <a:latin typeface="Meiryo UI" panose="020B0604030504040204" pitchFamily="34" charset="-128"/>
                <a:ea typeface="Meiryo UI" panose="020B0604030504040204" pitchFamily="34" charset="-128"/>
                <a:cs typeface="Inter Medium" pitchFamily="34" charset="-120"/>
              </a:rPr>
              <a:t>／</a:t>
            </a:r>
            <a:r>
              <a:rPr lang="en-US" dirty="0" err="1">
                <a:solidFill>
                  <a:srgbClr val="464646"/>
                </a:solidFill>
                <a:latin typeface="Meiryo UI" panose="020B0604030504040204" pitchFamily="34" charset="-128"/>
                <a:ea typeface="Meiryo UI" panose="020B0604030504040204" pitchFamily="34" charset="-128"/>
                <a:cs typeface="Inter Medium" pitchFamily="34" charset="-120"/>
              </a:rPr>
              <a:t>ログ・権限／</a:t>
            </a:r>
            <a:r>
              <a:rPr lang="en-US" b="1" dirty="0" err="1">
                <a:solidFill>
                  <a:srgbClr val="464646"/>
                </a:solidFill>
                <a:latin typeface="Meiryo UI" panose="020B0604030504040204" pitchFamily="34" charset="-128"/>
                <a:ea typeface="Meiryo UI" panose="020B0604030504040204" pitchFamily="34" charset="-128"/>
                <a:cs typeface="Inter Medium" pitchFamily="34" charset="-120"/>
              </a:rPr>
              <a:t>紙・Excel</a:t>
            </a:r>
            <a:r>
              <a:rPr lang="en-US" b="1" dirty="0">
                <a:solidFill>
                  <a:srgbClr val="464646"/>
                </a:solidFill>
                <a:latin typeface="Meiryo UI" panose="020B0604030504040204" pitchFamily="34" charset="-128"/>
                <a:ea typeface="Meiryo UI" panose="020B0604030504040204" pitchFamily="34" charset="-128"/>
                <a:cs typeface="Inter Medium" pitchFamily="34" charset="-120"/>
              </a:rPr>
              <a:t>   </a:t>
            </a:r>
            <a:r>
              <a:rPr lang="en-US" b="1" dirty="0" err="1">
                <a:solidFill>
                  <a:srgbClr val="464646"/>
                </a:solidFill>
                <a:latin typeface="Meiryo UI" panose="020B0604030504040204" pitchFamily="34" charset="-128"/>
                <a:ea typeface="Meiryo UI" panose="020B0604030504040204" pitchFamily="34" charset="-128"/>
                <a:cs typeface="Inter Medium" pitchFamily="34" charset="-120"/>
              </a:rPr>
              <a:t>優先</a:t>
            </a:r>
            <a:r>
              <a:rPr lang="en-US" dirty="0" err="1">
                <a:solidFill>
                  <a:srgbClr val="464646"/>
                </a:solidFill>
                <a:latin typeface="Meiryo UI" panose="020B0604030504040204" pitchFamily="34" charset="-128"/>
                <a:ea typeface="Meiryo UI" panose="020B0604030504040204" pitchFamily="34" charset="-128"/>
                <a:cs typeface="Inter Medium" pitchFamily="34" charset="-120"/>
              </a:rPr>
              <a:t>で段階移行</a:t>
            </a:r>
            <a:endParaRPr lang="en-US" dirty="0">
              <a:latin typeface="Meiryo UI" panose="020B0604030504040204" pitchFamily="34" charset="-128"/>
              <a:ea typeface="Meiryo UI" panose="020B0604030504040204" pitchFamily="34" charset="-128"/>
            </a:endParaRPr>
          </a:p>
        </p:txBody>
      </p:sp>
      <p:sp>
        <p:nvSpPr>
          <p:cNvPr id="15" name="Text 13"/>
          <p:cNvSpPr/>
          <p:nvPr/>
        </p:nvSpPr>
        <p:spPr>
          <a:xfrm>
            <a:off x="793790" y="6492518"/>
            <a:ext cx="13042821" cy="508159"/>
          </a:xfrm>
          <a:prstGeom prst="rect">
            <a:avLst/>
          </a:prstGeom>
          <a:noFill/>
          <a:ln/>
        </p:spPr>
        <p:txBody>
          <a:bodyPr wrap="square" lIns="0" tIns="0" rIns="0" bIns="0" rtlCol="0" anchor="t"/>
          <a:lstStyle/>
          <a:p>
            <a:pPr marL="0" indent="0" algn="l">
              <a:lnSpc>
                <a:spcPts val="2000"/>
              </a:lnSpc>
              <a:buNone/>
            </a:pPr>
            <a:r>
              <a:rPr lang="en-US" sz="1250" dirty="0" err="1">
                <a:solidFill>
                  <a:srgbClr val="464646"/>
                </a:solidFill>
                <a:latin typeface="Meiryo UI" panose="020B0604030504040204" pitchFamily="34" charset="-128"/>
                <a:ea typeface="Meiryo UI" panose="020B0604030504040204" pitchFamily="34" charset="-128"/>
                <a:cs typeface="Inter Medium" pitchFamily="34" charset="-120"/>
              </a:rPr>
              <a:t>用語注釈：申し込み用の簡単なWebページ</a:t>
            </a: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 (LP) ＝1つの目的に特化したページ ／ </a:t>
            </a:r>
            <a:r>
              <a:rPr lang="en-US" sz="1250" dirty="0" err="1">
                <a:solidFill>
                  <a:srgbClr val="464646"/>
                </a:solidFill>
                <a:latin typeface="Meiryo UI" panose="020B0604030504040204" pitchFamily="34" charset="-128"/>
                <a:ea typeface="Meiryo UI" panose="020B0604030504040204" pitchFamily="34" charset="-128"/>
                <a:cs typeface="Inter Medium" pitchFamily="34" charset="-120"/>
              </a:rPr>
              <a:t>二酸化炭素</a:t>
            </a: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 (CO₂) ＝</a:t>
            </a:r>
            <a:r>
              <a:rPr lang="en-US" sz="1250" dirty="0" err="1">
                <a:solidFill>
                  <a:srgbClr val="464646"/>
                </a:solidFill>
                <a:latin typeface="Meiryo UI" panose="020B0604030504040204" pitchFamily="34" charset="-128"/>
                <a:ea typeface="Meiryo UI" panose="020B0604030504040204" pitchFamily="34" charset="-128"/>
                <a:cs typeface="Inter Medium" pitchFamily="34" charset="-120"/>
              </a:rPr>
              <a:t>環境負荷の指標／人が最終確認する方式</a:t>
            </a: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 / (HITL) ＝ </a:t>
            </a:r>
            <a:r>
              <a:rPr lang="en-US" sz="1250" dirty="0" err="1">
                <a:solidFill>
                  <a:srgbClr val="464646"/>
                </a:solidFill>
                <a:latin typeface="Meiryo UI" panose="020B0604030504040204" pitchFamily="34" charset="-128"/>
                <a:ea typeface="Meiryo UI" panose="020B0604030504040204" pitchFamily="34" charset="-128"/>
                <a:cs typeface="Inter Medium" pitchFamily="34" charset="-120"/>
              </a:rPr>
              <a:t>AIの提案を人が最終確認して</a:t>
            </a: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       </a:t>
            </a:r>
            <a:r>
              <a:rPr lang="en-US" sz="1250" dirty="0" err="1">
                <a:solidFill>
                  <a:srgbClr val="464646"/>
                </a:solidFill>
                <a:latin typeface="Meiryo UI" panose="020B0604030504040204" pitchFamily="34" charset="-128"/>
                <a:ea typeface="Meiryo UI" panose="020B0604030504040204" pitchFamily="34" charset="-128"/>
                <a:cs typeface="Inter Medium" pitchFamily="34" charset="-120"/>
              </a:rPr>
              <a:t>決定する運用</a:t>
            </a: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a:t>
            </a:r>
            <a:endParaRPr lang="en-US" sz="1250" dirty="0">
              <a:latin typeface="Meiryo UI" panose="020B0604030504040204" pitchFamily="34" charset="-128"/>
              <a:ea typeface="Meiryo UI" panose="020B0604030504040204" pitchFamily="34" charset="-12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682829"/>
            <a:ext cx="8833247" cy="620078"/>
          </a:xfrm>
          <a:prstGeom prst="rect">
            <a:avLst/>
          </a:prstGeom>
          <a:noFill/>
          <a:ln/>
        </p:spPr>
        <p:txBody>
          <a:bodyPr wrap="none" lIns="0" tIns="0" rIns="0" bIns="0" rtlCol="0" anchor="t"/>
          <a:lstStyle/>
          <a:p>
            <a:pPr marL="0" indent="0" algn="l">
              <a:lnSpc>
                <a:spcPts val="4850"/>
              </a:lnSpc>
              <a:buNone/>
            </a:pPr>
            <a:r>
              <a:rPr lang="en-US" sz="4000" b="1" dirty="0">
                <a:solidFill>
                  <a:srgbClr val="030303"/>
                </a:solidFill>
                <a:latin typeface="Meiryo UI" panose="020B0604030504040204" pitchFamily="34" charset="-128"/>
                <a:ea typeface="Meiryo UI" panose="020B0604030504040204" pitchFamily="34" charset="-128"/>
                <a:cs typeface="DM Sans Semi Bold" pitchFamily="34" charset="-120"/>
              </a:rPr>
              <a:t>印刷業界の未来予想図（2025→2030）</a:t>
            </a:r>
            <a:endParaRPr lang="en-US" sz="4000" b="1" dirty="0">
              <a:latin typeface="Meiryo UI" panose="020B0604030504040204" pitchFamily="34" charset="-128"/>
              <a:ea typeface="Meiryo UI" panose="020B0604030504040204" pitchFamily="34" charset="-128"/>
            </a:endParaRPr>
          </a:p>
        </p:txBody>
      </p:sp>
      <p:sp>
        <p:nvSpPr>
          <p:cNvPr id="3" name="Shape 1"/>
          <p:cNvSpPr/>
          <p:nvPr/>
        </p:nvSpPr>
        <p:spPr>
          <a:xfrm>
            <a:off x="793790" y="2699742"/>
            <a:ext cx="6422231" cy="1824276"/>
          </a:xfrm>
          <a:prstGeom prst="roundRect">
            <a:avLst>
              <a:gd name="adj" fmla="val 1632"/>
            </a:avLst>
          </a:prstGeom>
          <a:solidFill>
            <a:srgbClr val="FFFFFF"/>
          </a:solidFill>
          <a:ln w="22860">
            <a:solidFill>
              <a:srgbClr val="1C9770"/>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4" name="Text 2"/>
          <p:cNvSpPr/>
          <p:nvPr/>
        </p:nvSpPr>
        <p:spPr>
          <a:xfrm>
            <a:off x="1015008" y="2920960"/>
            <a:ext cx="2480905" cy="310158"/>
          </a:xfrm>
          <a:prstGeom prst="rect">
            <a:avLst/>
          </a:prstGeom>
          <a:noFill/>
          <a:ln/>
        </p:spPr>
        <p:txBody>
          <a:bodyPr wrap="none" lIns="0" tIns="0" rIns="0" bIns="0" rtlCol="0" anchor="t"/>
          <a:lstStyle/>
          <a:p>
            <a:pPr marL="0" indent="0" algn="l">
              <a:lnSpc>
                <a:spcPts val="2400"/>
              </a:lnSpc>
              <a:buNone/>
            </a:pPr>
            <a:r>
              <a:rPr lang="en-US" sz="2400" dirty="0">
                <a:solidFill>
                  <a:srgbClr val="464646"/>
                </a:solidFill>
                <a:latin typeface="Meiryo UI" panose="020B0604030504040204" pitchFamily="34" charset="-128"/>
                <a:ea typeface="Meiryo UI" panose="020B0604030504040204" pitchFamily="34" charset="-128"/>
                <a:cs typeface="DM Sans Semi Bold" pitchFamily="34" charset="-120"/>
              </a:rPr>
              <a:t>需要面</a:t>
            </a:r>
            <a:endParaRPr lang="en-US" sz="2400" dirty="0">
              <a:latin typeface="Meiryo UI" panose="020B0604030504040204" pitchFamily="34" charset="-128"/>
              <a:ea typeface="Meiryo UI" panose="020B0604030504040204" pitchFamily="34" charset="-128"/>
            </a:endParaRPr>
          </a:p>
        </p:txBody>
      </p:sp>
      <p:sp>
        <p:nvSpPr>
          <p:cNvPr id="5" name="Text 3"/>
          <p:cNvSpPr/>
          <p:nvPr/>
        </p:nvSpPr>
        <p:spPr>
          <a:xfrm>
            <a:off x="1015008" y="3350181"/>
            <a:ext cx="5979795" cy="952619"/>
          </a:xfrm>
          <a:prstGeom prst="rect">
            <a:avLst/>
          </a:prstGeom>
          <a:noFill/>
          <a:ln/>
        </p:spPr>
        <p:txBody>
          <a:bodyPr wrap="square" lIns="0" tIns="0" rIns="0" bIns="0" rtlCol="0" anchor="t"/>
          <a:lstStyle/>
          <a:p>
            <a:pPr marL="0" indent="0" algn="l">
              <a:lnSpc>
                <a:spcPts val="2500"/>
              </a:lnSpc>
              <a:buNone/>
            </a:pPr>
            <a:r>
              <a:rPr lang="en-US" dirty="0">
                <a:solidFill>
                  <a:srgbClr val="464646"/>
                </a:solidFill>
                <a:latin typeface="Meiryo UI" panose="020B0604030504040204" pitchFamily="34" charset="-128"/>
                <a:ea typeface="Meiryo UI" panose="020B0604030504040204" pitchFamily="34" charset="-128"/>
                <a:cs typeface="Inter Medium" pitchFamily="34" charset="-120"/>
              </a:rPr>
              <a:t>インターネット広告の伸長（2024：</a:t>
            </a:r>
            <a:r>
              <a:rPr lang="en-US" b="1" dirty="0">
                <a:solidFill>
                  <a:srgbClr val="464646"/>
                </a:solidFill>
                <a:latin typeface="Meiryo UI" panose="020B0604030504040204" pitchFamily="34" charset="-128"/>
                <a:ea typeface="Meiryo UI" panose="020B0604030504040204" pitchFamily="34" charset="-128"/>
                <a:cs typeface="Inter Medium" pitchFamily="34" charset="-120"/>
              </a:rPr>
              <a:t>3.65兆円</a:t>
            </a:r>
            <a:r>
              <a:rPr lang="en-US" dirty="0">
                <a:solidFill>
                  <a:srgbClr val="464646"/>
                </a:solidFill>
                <a:latin typeface="Meiryo UI" panose="020B0604030504040204" pitchFamily="34" charset="-128"/>
                <a:ea typeface="Meiryo UI" panose="020B0604030504040204" pitchFamily="34" charset="-128"/>
                <a:cs typeface="Inter Medium" pitchFamily="34" charset="-120"/>
              </a:rPr>
              <a:t>）に合わせ      </a:t>
            </a:r>
            <a:r>
              <a:rPr lang="en-US" dirty="0" err="1">
                <a:solidFill>
                  <a:srgbClr val="464646"/>
                </a:solidFill>
                <a:latin typeface="Meiryo UI" panose="020B0604030504040204" pitchFamily="34" charset="-128"/>
                <a:ea typeface="Meiryo UI" panose="020B0604030504040204" pitchFamily="34" charset="-128"/>
                <a:cs typeface="Inter Medium" pitchFamily="34" charset="-120"/>
              </a:rPr>
              <a:t>紙×デジタル連携が前提化。</a:t>
            </a:r>
            <a:r>
              <a:rPr lang="en-US" b="1" dirty="0" err="1">
                <a:solidFill>
                  <a:srgbClr val="464646"/>
                </a:solidFill>
                <a:latin typeface="Meiryo UI" panose="020B0604030504040204" pitchFamily="34" charset="-128"/>
                <a:ea typeface="Meiryo UI" panose="020B0604030504040204" pitchFamily="34" charset="-128"/>
                <a:cs typeface="Inter Medium" pitchFamily="34" charset="-120"/>
              </a:rPr>
              <a:t>パーソナライズDM／小ロット</a:t>
            </a:r>
            <a:r>
              <a:rPr lang="en-US" b="1" dirty="0">
                <a:solidFill>
                  <a:srgbClr val="464646"/>
                </a:solidFill>
                <a:latin typeface="Meiryo UI" panose="020B0604030504040204" pitchFamily="34" charset="-128"/>
                <a:ea typeface="Meiryo UI" panose="020B0604030504040204" pitchFamily="34" charset="-128"/>
                <a:cs typeface="Inter Medium" pitchFamily="34" charset="-120"/>
              </a:rPr>
              <a:t>      </a:t>
            </a:r>
            <a:r>
              <a:rPr lang="en-US" b="1" dirty="0" err="1">
                <a:solidFill>
                  <a:srgbClr val="464646"/>
                </a:solidFill>
                <a:latin typeface="Meiryo UI" panose="020B0604030504040204" pitchFamily="34" charset="-128"/>
                <a:ea typeface="Meiryo UI" panose="020B0604030504040204" pitchFamily="34" charset="-128"/>
                <a:cs typeface="Inter Medium" pitchFamily="34" charset="-120"/>
              </a:rPr>
              <a:t>多品種</a:t>
            </a:r>
            <a:r>
              <a:rPr lang="en-US" dirty="0" err="1">
                <a:solidFill>
                  <a:srgbClr val="464646"/>
                </a:solidFill>
                <a:latin typeface="Meiryo UI" panose="020B0604030504040204" pitchFamily="34" charset="-128"/>
                <a:ea typeface="Meiryo UI" panose="020B0604030504040204" pitchFamily="34" charset="-128"/>
                <a:cs typeface="Inter Medium" pitchFamily="34" charset="-120"/>
              </a:rPr>
              <a:t>は伸長</a:t>
            </a:r>
            <a:r>
              <a:rPr lang="en-US" dirty="0">
                <a:solidFill>
                  <a:srgbClr val="464646"/>
                </a:solidFill>
                <a:latin typeface="Meiryo UI" panose="020B0604030504040204" pitchFamily="34" charset="-128"/>
                <a:ea typeface="Meiryo UI" panose="020B0604030504040204" pitchFamily="34" charset="-128"/>
                <a:cs typeface="Inter Medium" pitchFamily="34" charset="-120"/>
              </a:rPr>
              <a:t>。</a:t>
            </a:r>
            <a:endParaRPr lang="en-US" dirty="0">
              <a:latin typeface="Meiryo UI" panose="020B0604030504040204" pitchFamily="34" charset="-128"/>
              <a:ea typeface="Meiryo UI" panose="020B0604030504040204" pitchFamily="34" charset="-128"/>
            </a:endParaRPr>
          </a:p>
        </p:txBody>
      </p:sp>
      <p:sp>
        <p:nvSpPr>
          <p:cNvPr id="6" name="Shape 4"/>
          <p:cNvSpPr/>
          <p:nvPr/>
        </p:nvSpPr>
        <p:spPr>
          <a:xfrm>
            <a:off x="7414379" y="2699742"/>
            <a:ext cx="6422231" cy="1824276"/>
          </a:xfrm>
          <a:prstGeom prst="roundRect">
            <a:avLst>
              <a:gd name="adj" fmla="val 1632"/>
            </a:avLst>
          </a:prstGeom>
          <a:solidFill>
            <a:srgbClr val="FFFFFF"/>
          </a:solidFill>
          <a:ln w="22860">
            <a:solidFill>
              <a:srgbClr val="93CB52"/>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7" name="Text 5"/>
          <p:cNvSpPr/>
          <p:nvPr/>
        </p:nvSpPr>
        <p:spPr>
          <a:xfrm>
            <a:off x="7635597" y="2920960"/>
            <a:ext cx="2480905" cy="310158"/>
          </a:xfrm>
          <a:prstGeom prst="rect">
            <a:avLst/>
          </a:prstGeom>
          <a:noFill/>
          <a:ln/>
        </p:spPr>
        <p:txBody>
          <a:bodyPr wrap="none" lIns="0" tIns="0" rIns="0" bIns="0" rtlCol="0" anchor="t"/>
          <a:lstStyle/>
          <a:p>
            <a:pPr marL="0" indent="0" algn="l">
              <a:lnSpc>
                <a:spcPts val="2400"/>
              </a:lnSpc>
              <a:buNone/>
            </a:pPr>
            <a:r>
              <a:rPr lang="en-US" sz="2400" dirty="0">
                <a:solidFill>
                  <a:srgbClr val="464646"/>
                </a:solidFill>
                <a:latin typeface="Meiryo UI" panose="020B0604030504040204" pitchFamily="34" charset="-128"/>
                <a:ea typeface="Meiryo UI" panose="020B0604030504040204" pitchFamily="34" charset="-128"/>
                <a:cs typeface="DM Sans Semi Bold" pitchFamily="34" charset="-120"/>
              </a:rPr>
              <a:t>供給面</a:t>
            </a:r>
            <a:endParaRPr lang="en-US" sz="2400" dirty="0">
              <a:latin typeface="Meiryo UI" panose="020B0604030504040204" pitchFamily="34" charset="-128"/>
              <a:ea typeface="Meiryo UI" panose="020B0604030504040204" pitchFamily="34" charset="-128"/>
            </a:endParaRPr>
          </a:p>
        </p:txBody>
      </p:sp>
      <p:sp>
        <p:nvSpPr>
          <p:cNvPr id="8" name="Text 6"/>
          <p:cNvSpPr/>
          <p:nvPr/>
        </p:nvSpPr>
        <p:spPr>
          <a:xfrm>
            <a:off x="7635597" y="3350181"/>
            <a:ext cx="5979795" cy="952619"/>
          </a:xfrm>
          <a:prstGeom prst="rect">
            <a:avLst/>
          </a:prstGeom>
          <a:noFill/>
          <a:ln/>
        </p:spPr>
        <p:txBody>
          <a:bodyPr wrap="square" lIns="0" tIns="0" rIns="0" bIns="0" rtlCol="0" anchor="t"/>
          <a:lstStyle/>
          <a:p>
            <a:pPr marL="0" indent="0" algn="l">
              <a:lnSpc>
                <a:spcPts val="2500"/>
              </a:lnSpc>
              <a:buNone/>
            </a:pPr>
            <a:r>
              <a:rPr lang="en-US" dirty="0" err="1">
                <a:solidFill>
                  <a:srgbClr val="464646"/>
                </a:solidFill>
                <a:latin typeface="Meiryo UI" panose="020B0604030504040204" pitchFamily="34" charset="-128"/>
                <a:ea typeface="Meiryo UI" panose="020B0604030504040204" pitchFamily="34" charset="-128"/>
                <a:cs typeface="Inter Medium" pitchFamily="34" charset="-120"/>
              </a:rPr>
              <a:t>紙・エネルギーはピークからやや落ち着くも、</a:t>
            </a:r>
            <a:r>
              <a:rPr lang="en-US" b="1" dirty="0" err="1">
                <a:solidFill>
                  <a:srgbClr val="464646"/>
                </a:solidFill>
                <a:latin typeface="Meiryo UI" panose="020B0604030504040204" pitchFamily="34" charset="-128"/>
                <a:ea typeface="Meiryo UI" panose="020B0604030504040204" pitchFamily="34" charset="-128"/>
                <a:cs typeface="Inter Medium" pitchFamily="34" charset="-120"/>
              </a:rPr>
              <a:t>コロナ前比で高止まり</a:t>
            </a:r>
            <a:r>
              <a:rPr lang="en-US" b="1" dirty="0">
                <a:solidFill>
                  <a:srgbClr val="464646"/>
                </a:solidFill>
                <a:latin typeface="Meiryo UI" panose="020B0604030504040204" pitchFamily="34" charset="-128"/>
                <a:ea typeface="Meiryo UI" panose="020B0604030504040204" pitchFamily="34" charset="-128"/>
                <a:cs typeface="Inter Medium" pitchFamily="34" charset="-120"/>
              </a:rPr>
              <a:t>  (</a:t>
            </a:r>
            <a:r>
              <a:rPr lang="en-US" dirty="0" err="1">
                <a:solidFill>
                  <a:srgbClr val="464646"/>
                </a:solidFill>
                <a:latin typeface="Meiryo UI" panose="020B0604030504040204" pitchFamily="34" charset="-128"/>
                <a:ea typeface="Meiryo UI" panose="020B0604030504040204" pitchFamily="34" charset="-128"/>
                <a:cs typeface="Inter Medium" pitchFamily="34" charset="-120"/>
              </a:rPr>
              <a:t>紙指数</a:t>
            </a:r>
            <a:r>
              <a:rPr lang="en-US" dirty="0">
                <a:solidFill>
                  <a:srgbClr val="464646"/>
                </a:solidFill>
                <a:latin typeface="Meiryo UI" panose="020B0604030504040204" pitchFamily="34" charset="-128"/>
                <a:ea typeface="Meiryo UI" panose="020B0604030504040204" pitchFamily="34" charset="-128"/>
                <a:cs typeface="Inter Medium" pitchFamily="34" charset="-120"/>
              </a:rPr>
              <a:t> 2021→2025 </a:t>
            </a:r>
            <a:r>
              <a:rPr lang="en-US" b="1" dirty="0">
                <a:solidFill>
                  <a:srgbClr val="464646"/>
                </a:solidFill>
                <a:latin typeface="Meiryo UI" panose="020B0604030504040204" pitchFamily="34" charset="-128"/>
                <a:ea typeface="Meiryo UI" panose="020B0604030504040204" pitchFamily="34" charset="-128"/>
                <a:cs typeface="Inter Medium" pitchFamily="34" charset="-120"/>
              </a:rPr>
              <a:t>+約32%) </a:t>
            </a:r>
            <a:r>
              <a:rPr lang="en-US" dirty="0">
                <a:solidFill>
                  <a:srgbClr val="464646"/>
                </a:solidFill>
                <a:latin typeface="Meiryo UI" panose="020B0604030504040204" pitchFamily="34" charset="-128"/>
                <a:ea typeface="Meiryo UI" panose="020B0604030504040204" pitchFamily="34" charset="-128"/>
                <a:cs typeface="Inter Medium" pitchFamily="34" charset="-120"/>
              </a:rPr>
              <a:t>。</a:t>
            </a:r>
            <a:r>
              <a:rPr lang="en-US" dirty="0" err="1">
                <a:solidFill>
                  <a:srgbClr val="464646"/>
                </a:solidFill>
                <a:latin typeface="Meiryo UI" panose="020B0604030504040204" pitchFamily="34" charset="-128"/>
                <a:ea typeface="Meiryo UI" panose="020B0604030504040204" pitchFamily="34" charset="-128"/>
                <a:cs typeface="Inter Medium" pitchFamily="34" charset="-120"/>
              </a:rPr>
              <a:t>インキはメーカーの</a:t>
            </a:r>
            <a:r>
              <a:rPr lang="en-US" dirty="0">
                <a:solidFill>
                  <a:srgbClr val="464646"/>
                </a:solidFill>
                <a:latin typeface="Meiryo UI" panose="020B0604030504040204" pitchFamily="34" charset="-128"/>
                <a:ea typeface="Meiryo UI" panose="020B0604030504040204" pitchFamily="34" charset="-128"/>
                <a:cs typeface="Inter Medium" pitchFamily="34" charset="-120"/>
              </a:rPr>
              <a:t>       </a:t>
            </a:r>
            <a:r>
              <a:rPr lang="en-US" dirty="0" err="1">
                <a:solidFill>
                  <a:srgbClr val="464646"/>
                </a:solidFill>
                <a:latin typeface="Meiryo UI" panose="020B0604030504040204" pitchFamily="34" charset="-128"/>
                <a:ea typeface="Meiryo UI" panose="020B0604030504040204" pitchFamily="34" charset="-128"/>
                <a:cs typeface="Inter Medium" pitchFamily="34" charset="-120"/>
              </a:rPr>
              <a:t>段階的改定継続見込み</a:t>
            </a:r>
            <a:r>
              <a:rPr lang="en-US" dirty="0">
                <a:solidFill>
                  <a:srgbClr val="464646"/>
                </a:solidFill>
                <a:latin typeface="Meiryo UI" panose="020B0604030504040204" pitchFamily="34" charset="-128"/>
                <a:ea typeface="Meiryo UI" panose="020B0604030504040204" pitchFamily="34" charset="-128"/>
                <a:cs typeface="Inter Medium" pitchFamily="34" charset="-120"/>
              </a:rPr>
              <a:t>。</a:t>
            </a:r>
            <a:endParaRPr lang="en-US" dirty="0">
              <a:latin typeface="Meiryo UI" panose="020B0604030504040204" pitchFamily="34" charset="-128"/>
              <a:ea typeface="Meiryo UI" panose="020B0604030504040204" pitchFamily="34" charset="-128"/>
            </a:endParaRPr>
          </a:p>
        </p:txBody>
      </p:sp>
      <p:sp>
        <p:nvSpPr>
          <p:cNvPr id="9" name="Shape 7"/>
          <p:cNvSpPr/>
          <p:nvPr/>
        </p:nvSpPr>
        <p:spPr>
          <a:xfrm>
            <a:off x="793790" y="4722376"/>
            <a:ext cx="6422231" cy="1824276"/>
          </a:xfrm>
          <a:prstGeom prst="roundRect">
            <a:avLst>
              <a:gd name="adj" fmla="val 1632"/>
            </a:avLst>
          </a:prstGeom>
          <a:solidFill>
            <a:srgbClr val="FFFFFF"/>
          </a:solidFill>
          <a:ln w="22860">
            <a:solidFill>
              <a:srgbClr val="7AD180"/>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10" name="Text 8"/>
          <p:cNvSpPr/>
          <p:nvPr/>
        </p:nvSpPr>
        <p:spPr>
          <a:xfrm>
            <a:off x="1015008" y="4943594"/>
            <a:ext cx="2480905" cy="310158"/>
          </a:xfrm>
          <a:prstGeom prst="rect">
            <a:avLst/>
          </a:prstGeom>
          <a:noFill/>
          <a:ln/>
        </p:spPr>
        <p:txBody>
          <a:bodyPr wrap="none" lIns="0" tIns="0" rIns="0" bIns="0" rtlCol="0" anchor="t"/>
          <a:lstStyle/>
          <a:p>
            <a:pPr marL="0" indent="0" algn="l">
              <a:lnSpc>
                <a:spcPts val="2400"/>
              </a:lnSpc>
              <a:buNone/>
            </a:pPr>
            <a:r>
              <a:rPr lang="en-US" sz="2400" dirty="0">
                <a:solidFill>
                  <a:srgbClr val="464646"/>
                </a:solidFill>
                <a:latin typeface="Meiryo UI" panose="020B0604030504040204" pitchFamily="34" charset="-128"/>
                <a:ea typeface="Meiryo UI" panose="020B0604030504040204" pitchFamily="34" charset="-128"/>
                <a:cs typeface="DM Sans Semi Bold" pitchFamily="34" charset="-120"/>
              </a:rPr>
              <a:t>技術面</a:t>
            </a:r>
            <a:endParaRPr lang="en-US" sz="2400" dirty="0">
              <a:latin typeface="Meiryo UI" panose="020B0604030504040204" pitchFamily="34" charset="-128"/>
              <a:ea typeface="Meiryo UI" panose="020B0604030504040204" pitchFamily="34" charset="-128"/>
            </a:endParaRPr>
          </a:p>
        </p:txBody>
      </p:sp>
      <p:sp>
        <p:nvSpPr>
          <p:cNvPr id="11" name="Text 9"/>
          <p:cNvSpPr/>
          <p:nvPr/>
        </p:nvSpPr>
        <p:spPr>
          <a:xfrm>
            <a:off x="1015008" y="5372814"/>
            <a:ext cx="5979795" cy="952619"/>
          </a:xfrm>
          <a:prstGeom prst="rect">
            <a:avLst/>
          </a:prstGeom>
          <a:noFill/>
          <a:ln/>
        </p:spPr>
        <p:txBody>
          <a:bodyPr wrap="square" lIns="0" tIns="0" rIns="0" bIns="0" rtlCol="0" anchor="t"/>
          <a:lstStyle/>
          <a:p>
            <a:pPr marL="0" indent="0" algn="l">
              <a:lnSpc>
                <a:spcPts val="2500"/>
              </a:lnSpc>
              <a:buNone/>
            </a:pPr>
            <a:r>
              <a:rPr lang="en-US" dirty="0">
                <a:solidFill>
                  <a:srgbClr val="464646"/>
                </a:solidFill>
                <a:latin typeface="Meiryo UI" panose="020B0604030504040204" pitchFamily="34" charset="-128"/>
                <a:ea typeface="Meiryo UI" panose="020B0604030504040204" pitchFamily="34" charset="-128"/>
                <a:cs typeface="Inter Medium" pitchFamily="34" charset="-120"/>
              </a:rPr>
              <a:t>デジタル印刷のシェア拡大（世界：</a:t>
            </a:r>
            <a:r>
              <a:rPr lang="en-US" b="1" dirty="0">
                <a:solidFill>
                  <a:srgbClr val="464646"/>
                </a:solidFill>
                <a:latin typeface="Meiryo UI" panose="020B0604030504040204" pitchFamily="34" charset="-128"/>
                <a:ea typeface="Meiryo UI" panose="020B0604030504040204" pitchFamily="34" charset="-128"/>
                <a:cs typeface="Inter Medium" pitchFamily="34" charset="-120"/>
              </a:rPr>
              <a:t>2025年$1,675億→2035年$2,511億</a:t>
            </a:r>
            <a:r>
              <a:rPr lang="en-US" dirty="0">
                <a:solidFill>
                  <a:srgbClr val="464646"/>
                </a:solidFill>
                <a:latin typeface="Meiryo UI" panose="020B0604030504040204" pitchFamily="34" charset="-128"/>
                <a:ea typeface="Meiryo UI" panose="020B0604030504040204" pitchFamily="34" charset="-128"/>
                <a:cs typeface="Inter Medium" pitchFamily="34" charset="-120"/>
              </a:rPr>
              <a:t> 見込み）。</a:t>
            </a:r>
            <a:r>
              <a:rPr lang="en-US" dirty="0" err="1">
                <a:solidFill>
                  <a:srgbClr val="464646"/>
                </a:solidFill>
                <a:latin typeface="Meiryo UI" panose="020B0604030504040204" pitchFamily="34" charset="-128"/>
                <a:ea typeface="Meiryo UI" panose="020B0604030504040204" pitchFamily="34" charset="-128"/>
                <a:cs typeface="Inter Medium" pitchFamily="34" charset="-120"/>
              </a:rPr>
              <a:t>包装・ラベル分野</a:t>
            </a:r>
            <a:r>
              <a:rPr lang="en-US" dirty="0">
                <a:solidFill>
                  <a:srgbClr val="464646"/>
                </a:solidFill>
                <a:latin typeface="Meiryo UI" panose="020B0604030504040204" pitchFamily="34" charset="-128"/>
                <a:ea typeface="Meiryo UI" panose="020B0604030504040204" pitchFamily="34" charset="-128"/>
                <a:cs typeface="Inter Medium" pitchFamily="34" charset="-120"/>
              </a:rPr>
              <a:t>：     </a:t>
            </a:r>
            <a:r>
              <a:rPr lang="en-US" b="1" dirty="0">
                <a:solidFill>
                  <a:srgbClr val="464646"/>
                </a:solidFill>
                <a:latin typeface="Meiryo UI" panose="020B0604030504040204" pitchFamily="34" charset="-128"/>
                <a:ea typeface="Meiryo UI" panose="020B0604030504040204" pitchFamily="34" charset="-128"/>
                <a:cs typeface="Inter Medium" pitchFamily="34" charset="-120"/>
              </a:rPr>
              <a:t>2025年$220億→2030年$369億</a:t>
            </a:r>
            <a:r>
              <a:rPr lang="en-US" dirty="0">
                <a:solidFill>
                  <a:srgbClr val="464646"/>
                </a:solidFill>
                <a:latin typeface="Meiryo UI" panose="020B0604030504040204" pitchFamily="34" charset="-128"/>
                <a:ea typeface="Meiryo UI" panose="020B0604030504040204" pitchFamily="34" charset="-128"/>
                <a:cs typeface="Inter Medium" pitchFamily="34" charset="-120"/>
              </a:rPr>
              <a:t>。</a:t>
            </a:r>
            <a:endParaRPr lang="en-US" dirty="0">
              <a:latin typeface="Meiryo UI" panose="020B0604030504040204" pitchFamily="34" charset="-128"/>
              <a:ea typeface="Meiryo UI" panose="020B0604030504040204" pitchFamily="34" charset="-128"/>
            </a:endParaRPr>
          </a:p>
        </p:txBody>
      </p:sp>
      <p:sp>
        <p:nvSpPr>
          <p:cNvPr id="12" name="Shape 10"/>
          <p:cNvSpPr/>
          <p:nvPr/>
        </p:nvSpPr>
        <p:spPr>
          <a:xfrm>
            <a:off x="7414379" y="4722376"/>
            <a:ext cx="6422231" cy="1824276"/>
          </a:xfrm>
          <a:prstGeom prst="roundRect">
            <a:avLst>
              <a:gd name="adj" fmla="val 1632"/>
            </a:avLst>
          </a:prstGeom>
          <a:solidFill>
            <a:srgbClr val="FFFFFF"/>
          </a:solidFill>
          <a:ln w="22860">
            <a:solidFill>
              <a:srgbClr val="7AD1C3"/>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13" name="Text 11"/>
          <p:cNvSpPr/>
          <p:nvPr/>
        </p:nvSpPr>
        <p:spPr>
          <a:xfrm>
            <a:off x="7635597" y="4943594"/>
            <a:ext cx="2480905" cy="310158"/>
          </a:xfrm>
          <a:prstGeom prst="rect">
            <a:avLst/>
          </a:prstGeom>
          <a:noFill/>
          <a:ln/>
        </p:spPr>
        <p:txBody>
          <a:bodyPr wrap="none" lIns="0" tIns="0" rIns="0" bIns="0" rtlCol="0" anchor="t"/>
          <a:lstStyle/>
          <a:p>
            <a:pPr marL="0" indent="0" algn="l">
              <a:lnSpc>
                <a:spcPts val="2400"/>
              </a:lnSpc>
              <a:buNone/>
            </a:pPr>
            <a:r>
              <a:rPr lang="en-US" sz="2400" dirty="0">
                <a:solidFill>
                  <a:srgbClr val="464646"/>
                </a:solidFill>
                <a:latin typeface="Meiryo UI" panose="020B0604030504040204" pitchFamily="34" charset="-128"/>
                <a:ea typeface="Meiryo UI" panose="020B0604030504040204" pitchFamily="34" charset="-128"/>
                <a:cs typeface="DM Sans Semi Bold" pitchFamily="34" charset="-120"/>
              </a:rPr>
              <a:t>構造面</a:t>
            </a:r>
            <a:endParaRPr lang="en-US" sz="2400" dirty="0">
              <a:latin typeface="Meiryo UI" panose="020B0604030504040204" pitchFamily="34" charset="-128"/>
              <a:ea typeface="Meiryo UI" panose="020B0604030504040204" pitchFamily="34" charset="-128"/>
            </a:endParaRPr>
          </a:p>
        </p:txBody>
      </p:sp>
      <p:sp>
        <p:nvSpPr>
          <p:cNvPr id="14" name="Text 12"/>
          <p:cNvSpPr/>
          <p:nvPr/>
        </p:nvSpPr>
        <p:spPr>
          <a:xfrm>
            <a:off x="7635597" y="5372814"/>
            <a:ext cx="5979795" cy="635079"/>
          </a:xfrm>
          <a:prstGeom prst="rect">
            <a:avLst/>
          </a:prstGeom>
          <a:noFill/>
          <a:ln/>
        </p:spPr>
        <p:txBody>
          <a:bodyPr wrap="square" lIns="0" tIns="0" rIns="0" bIns="0" rtlCol="0" anchor="t"/>
          <a:lstStyle/>
          <a:p>
            <a:pPr marL="0" indent="0" algn="l">
              <a:lnSpc>
                <a:spcPts val="2500"/>
              </a:lnSpc>
              <a:buNone/>
            </a:pPr>
            <a:r>
              <a:rPr lang="en-US" dirty="0" err="1">
                <a:solidFill>
                  <a:srgbClr val="464646"/>
                </a:solidFill>
                <a:latin typeface="Meiryo UI" panose="020B0604030504040204" pitchFamily="34" charset="-128"/>
                <a:ea typeface="Meiryo UI" panose="020B0604030504040204" pitchFamily="34" charset="-128"/>
                <a:cs typeface="Inter Medium" pitchFamily="34" charset="-120"/>
              </a:rPr>
              <a:t>業界再編と</a:t>
            </a:r>
            <a:r>
              <a:rPr lang="en-US" b="1" dirty="0" err="1">
                <a:solidFill>
                  <a:srgbClr val="464646"/>
                </a:solidFill>
                <a:latin typeface="Meiryo UI" panose="020B0604030504040204" pitchFamily="34" charset="-128"/>
                <a:ea typeface="Meiryo UI" panose="020B0604030504040204" pitchFamily="34" charset="-128"/>
                <a:cs typeface="Inter Medium" pitchFamily="34" charset="-120"/>
              </a:rPr>
              <a:t>ソリューション提供型</a:t>
            </a:r>
            <a:r>
              <a:rPr lang="en-US" dirty="0" err="1">
                <a:solidFill>
                  <a:srgbClr val="464646"/>
                </a:solidFill>
                <a:latin typeface="Meiryo UI" panose="020B0604030504040204" pitchFamily="34" charset="-128"/>
                <a:ea typeface="Meiryo UI" panose="020B0604030504040204" pitchFamily="34" charset="-128"/>
                <a:cs typeface="Inter Medium" pitchFamily="34" charset="-120"/>
              </a:rPr>
              <a:t>への転換が進行。</a:t>
            </a:r>
            <a:r>
              <a:rPr lang="en-US" b="1" dirty="0" err="1">
                <a:solidFill>
                  <a:srgbClr val="464646"/>
                </a:solidFill>
                <a:latin typeface="Meiryo UI" panose="020B0604030504040204" pitchFamily="34" charset="-128"/>
                <a:ea typeface="Meiryo UI" panose="020B0604030504040204" pitchFamily="34" charset="-128"/>
                <a:cs typeface="Inter Medium" pitchFamily="34" charset="-120"/>
              </a:rPr>
              <a:t>地域密着</a:t>
            </a:r>
            <a:r>
              <a:rPr lang="en-US" b="1" dirty="0">
                <a:solidFill>
                  <a:srgbClr val="464646"/>
                </a:solidFill>
                <a:latin typeface="Meiryo UI" panose="020B0604030504040204" pitchFamily="34" charset="-128"/>
                <a:ea typeface="Meiryo UI" panose="020B0604030504040204" pitchFamily="34" charset="-128"/>
                <a:cs typeface="Inter Medium" pitchFamily="34" charset="-120"/>
              </a:rPr>
              <a:t>×  </a:t>
            </a:r>
            <a:r>
              <a:rPr lang="en-US" b="1" dirty="0" err="1">
                <a:solidFill>
                  <a:srgbClr val="464646"/>
                </a:solidFill>
                <a:latin typeface="Meiryo UI" panose="020B0604030504040204" pitchFamily="34" charset="-128"/>
                <a:ea typeface="Meiryo UI" panose="020B0604030504040204" pitchFamily="34" charset="-128"/>
                <a:cs typeface="Inter Medium" pitchFamily="34" charset="-120"/>
              </a:rPr>
              <a:t>デジタル化による業務改善（DX）</a:t>
            </a:r>
            <a:r>
              <a:rPr lang="en-US" dirty="0" err="1">
                <a:solidFill>
                  <a:srgbClr val="464646"/>
                </a:solidFill>
                <a:latin typeface="Meiryo UI" panose="020B0604030504040204" pitchFamily="34" charset="-128"/>
                <a:ea typeface="Meiryo UI" panose="020B0604030504040204" pitchFamily="34" charset="-128"/>
                <a:cs typeface="Inter Medium" pitchFamily="34" charset="-120"/>
              </a:rPr>
              <a:t>の余地が大</a:t>
            </a:r>
            <a:r>
              <a:rPr lang="en-US" dirty="0">
                <a:solidFill>
                  <a:srgbClr val="464646"/>
                </a:solidFill>
                <a:latin typeface="Meiryo UI" panose="020B0604030504040204" pitchFamily="34" charset="-128"/>
                <a:ea typeface="Meiryo UI" panose="020B0604030504040204" pitchFamily="34" charset="-128"/>
                <a:cs typeface="Inter Medium" pitchFamily="34" charset="-120"/>
              </a:rPr>
              <a:t>。</a:t>
            </a:r>
            <a:endParaRPr lang="en-US" dirty="0">
              <a:latin typeface="Meiryo UI" panose="020B0604030504040204" pitchFamily="34" charset="-128"/>
              <a:ea typeface="Meiryo UI" panose="020B0604030504040204" pitchFamily="34" charset="-12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28067" y="500539"/>
            <a:ext cx="7787878" cy="568762"/>
          </a:xfrm>
          <a:prstGeom prst="rect">
            <a:avLst/>
          </a:prstGeom>
          <a:noFill/>
          <a:ln/>
        </p:spPr>
        <p:txBody>
          <a:bodyPr wrap="none" lIns="0" tIns="0" rIns="0" bIns="0" rtlCol="0" anchor="t"/>
          <a:lstStyle/>
          <a:p>
            <a:pPr marL="0" indent="0" algn="l">
              <a:lnSpc>
                <a:spcPts val="4450"/>
              </a:lnSpc>
              <a:buNone/>
            </a:pPr>
            <a:r>
              <a:rPr lang="en-US" sz="3600" b="1" dirty="0">
                <a:solidFill>
                  <a:srgbClr val="030303"/>
                </a:solidFill>
                <a:latin typeface="Meiryo UI" panose="020B0604030504040204" pitchFamily="34" charset="-128"/>
                <a:ea typeface="Meiryo UI" panose="020B0604030504040204" pitchFamily="34" charset="-128"/>
                <a:cs typeface="DM Sans Semi Bold" pitchFamily="34" charset="-120"/>
              </a:rPr>
              <a:t>先進導入事例（AI×印刷の具体例 1/2）</a:t>
            </a:r>
            <a:endParaRPr lang="en-US" sz="3600" b="1" dirty="0">
              <a:latin typeface="Meiryo UI" panose="020B0604030504040204" pitchFamily="34" charset="-128"/>
              <a:ea typeface="Meiryo UI" panose="020B0604030504040204" pitchFamily="34" charset="-128"/>
            </a:endParaRPr>
          </a:p>
        </p:txBody>
      </p:sp>
      <p:sp>
        <p:nvSpPr>
          <p:cNvPr id="3" name="Shape 1"/>
          <p:cNvSpPr/>
          <p:nvPr/>
        </p:nvSpPr>
        <p:spPr>
          <a:xfrm>
            <a:off x="728067" y="1433274"/>
            <a:ext cx="4270058" cy="3409712"/>
          </a:xfrm>
          <a:prstGeom prst="roundRect">
            <a:avLst>
              <a:gd name="adj" fmla="val 801"/>
            </a:avLst>
          </a:prstGeom>
          <a:solidFill>
            <a:srgbClr val="FFFFFF"/>
          </a:solidFill>
          <a:ln w="22860">
            <a:solidFill>
              <a:srgbClr val="1C9770"/>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4" name="Shape 2"/>
          <p:cNvSpPr/>
          <p:nvPr/>
        </p:nvSpPr>
        <p:spPr>
          <a:xfrm>
            <a:off x="728067" y="1433274"/>
            <a:ext cx="45720" cy="3409712"/>
          </a:xfrm>
          <a:prstGeom prst="roundRect">
            <a:avLst>
              <a:gd name="adj" fmla="val 59724"/>
            </a:avLst>
          </a:prstGeom>
          <a:solidFill>
            <a:srgbClr val="1C9770"/>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5" name="Text 3"/>
          <p:cNvSpPr/>
          <p:nvPr/>
        </p:nvSpPr>
        <p:spPr>
          <a:xfrm>
            <a:off x="978575" y="1638062"/>
            <a:ext cx="3814763" cy="568643"/>
          </a:xfrm>
          <a:prstGeom prst="rect">
            <a:avLst/>
          </a:prstGeom>
          <a:noFill/>
          <a:ln/>
        </p:spPr>
        <p:txBody>
          <a:bodyPr wrap="square" lIns="0" tIns="0" rIns="0" bIns="0" rtlCol="0" anchor="t"/>
          <a:lstStyle/>
          <a:p>
            <a:pPr marL="0" indent="0" algn="l">
              <a:lnSpc>
                <a:spcPts val="2200"/>
              </a:lnSpc>
              <a:buNone/>
            </a:pPr>
            <a:r>
              <a:rPr lang="en-US" sz="1750" dirty="0">
                <a:solidFill>
                  <a:srgbClr val="464646"/>
                </a:solidFill>
                <a:latin typeface="Meiryo UI" panose="020B0604030504040204" pitchFamily="34" charset="-128"/>
                <a:ea typeface="Meiryo UI" panose="020B0604030504040204" pitchFamily="34" charset="-128"/>
                <a:cs typeface="DM Sans Semi Bold" pitchFamily="34" charset="-120"/>
              </a:rPr>
              <a:t>Heidelberg（Hycolor Assistant／Push to Stop／Intellistart 3）</a:t>
            </a:r>
            <a:endParaRPr lang="en-US" sz="1750" dirty="0">
              <a:latin typeface="Meiryo UI" panose="020B0604030504040204" pitchFamily="34" charset="-128"/>
              <a:ea typeface="Meiryo UI" panose="020B0604030504040204" pitchFamily="34" charset="-128"/>
            </a:endParaRPr>
          </a:p>
        </p:txBody>
      </p:sp>
      <p:sp>
        <p:nvSpPr>
          <p:cNvPr id="6" name="Text 4"/>
          <p:cNvSpPr/>
          <p:nvPr/>
        </p:nvSpPr>
        <p:spPr>
          <a:xfrm>
            <a:off x="978575" y="2315885"/>
            <a:ext cx="3814763" cy="1747361"/>
          </a:xfrm>
          <a:prstGeom prst="rect">
            <a:avLst/>
          </a:prstGeom>
          <a:noFill/>
          <a:ln/>
        </p:spPr>
        <p:txBody>
          <a:bodyPr wrap="square" lIns="0" tIns="0" rIns="0" bIns="0" rtlCol="0" anchor="t"/>
          <a:lstStyle/>
          <a:p>
            <a:pPr marL="0" indent="0" algn="l">
              <a:lnSpc>
                <a:spcPts val="2250"/>
              </a:lnSpc>
              <a:buNone/>
            </a:pPr>
            <a:r>
              <a:rPr lang="en-US" sz="1400" dirty="0">
                <a:solidFill>
                  <a:srgbClr val="464646"/>
                </a:solidFill>
                <a:latin typeface="Meiryo UI" panose="020B0604030504040204" pitchFamily="34" charset="-128"/>
                <a:ea typeface="Meiryo UI" panose="020B0604030504040204" pitchFamily="34" charset="-128"/>
                <a:cs typeface="Inter Medium" pitchFamily="34" charset="-120"/>
              </a:rPr>
              <a:t>AIがインキ・湿し水のプリセットを最適化し、</a:t>
            </a:r>
            <a:r>
              <a:rPr lang="en-US" sz="1400" b="1" dirty="0">
                <a:solidFill>
                  <a:srgbClr val="464646"/>
                </a:solidFill>
                <a:latin typeface="Meiryo UI" panose="020B0604030504040204" pitchFamily="34" charset="-128"/>
                <a:ea typeface="Meiryo UI" panose="020B0604030504040204" pitchFamily="34" charset="-128"/>
                <a:cs typeface="Inter Medium" pitchFamily="34" charset="-120"/>
              </a:rPr>
              <a:t>セットアップ廃紙 最大25%削減</a:t>
            </a:r>
            <a:r>
              <a:rPr lang="en-US" sz="1400" dirty="0">
                <a:solidFill>
                  <a:srgbClr val="464646"/>
                </a:solidFill>
                <a:latin typeface="Meiryo UI" panose="020B0604030504040204" pitchFamily="34" charset="-128"/>
                <a:ea typeface="Meiryo UI" panose="020B0604030504040204" pitchFamily="34" charset="-128"/>
                <a:cs typeface="Inter Medium" pitchFamily="34" charset="-120"/>
              </a:rPr>
              <a:t>、</a:t>
            </a:r>
            <a:r>
              <a:rPr lang="en-US" sz="1400" b="1" dirty="0">
                <a:solidFill>
                  <a:srgbClr val="464646"/>
                </a:solidFill>
                <a:latin typeface="Meiryo UI" panose="020B0604030504040204" pitchFamily="34" charset="-128"/>
                <a:ea typeface="Meiryo UI" panose="020B0604030504040204" pitchFamily="34" charset="-128"/>
                <a:cs typeface="Inter Medium" pitchFamily="34" charset="-120"/>
              </a:rPr>
              <a:t>初刷りOK到達までの時間 </a:t>
            </a:r>
            <a:r>
              <a:rPr lang="en-US" sz="1400" b="1" dirty="0" err="1">
                <a:solidFill>
                  <a:srgbClr val="464646"/>
                </a:solidFill>
                <a:latin typeface="Meiryo UI" panose="020B0604030504040204" pitchFamily="34" charset="-128"/>
                <a:ea typeface="Meiryo UI" panose="020B0604030504040204" pitchFamily="34" charset="-128"/>
                <a:cs typeface="Inter Medium" pitchFamily="34" charset="-120"/>
              </a:rPr>
              <a:t>短縮</a:t>
            </a:r>
            <a:r>
              <a:rPr lang="en-US" sz="1400" dirty="0" err="1">
                <a:solidFill>
                  <a:srgbClr val="464646"/>
                </a:solidFill>
                <a:latin typeface="Meiryo UI" panose="020B0604030504040204" pitchFamily="34" charset="-128"/>
                <a:ea typeface="Meiryo UI" panose="020B0604030504040204" pitchFamily="34" charset="-128"/>
                <a:cs typeface="Inter Medium" pitchFamily="34" charset="-120"/>
              </a:rPr>
              <a:t>。さらに新コーティング自動化で</a:t>
            </a:r>
            <a:r>
              <a:rPr lang="en-US" sz="1400" b="1" dirty="0" err="1">
                <a:solidFill>
                  <a:srgbClr val="464646"/>
                </a:solidFill>
                <a:latin typeface="Meiryo UI" panose="020B0604030504040204" pitchFamily="34" charset="-128"/>
                <a:ea typeface="Meiryo UI" panose="020B0604030504040204" pitchFamily="34" charset="-128"/>
                <a:cs typeface="Inter Medium" pitchFamily="34" charset="-120"/>
              </a:rPr>
              <a:t>段取り</a:t>
            </a:r>
            <a:r>
              <a:rPr lang="en-US" sz="1400" b="1" dirty="0">
                <a:solidFill>
                  <a:srgbClr val="464646"/>
                </a:solidFill>
                <a:latin typeface="Meiryo UI" panose="020B0604030504040204" pitchFamily="34" charset="-128"/>
                <a:ea typeface="Meiryo UI" panose="020B0604030504040204" pitchFamily="34" charset="-128"/>
                <a:cs typeface="Inter Medium" pitchFamily="34" charset="-120"/>
              </a:rPr>
              <a:t> 最大30%短縮</a:t>
            </a:r>
            <a:r>
              <a:rPr lang="en-US" sz="1400" dirty="0">
                <a:solidFill>
                  <a:srgbClr val="464646"/>
                </a:solidFill>
                <a:latin typeface="Meiryo UI" panose="020B0604030504040204" pitchFamily="34" charset="-128"/>
                <a:ea typeface="Meiryo UI" panose="020B0604030504040204" pitchFamily="34" charset="-128"/>
                <a:cs typeface="Inter Medium" pitchFamily="34" charset="-120"/>
              </a:rPr>
              <a:t>。Intellistart 3等により</a:t>
            </a:r>
            <a:r>
              <a:rPr lang="en-US" sz="1400" b="1" dirty="0">
                <a:solidFill>
                  <a:srgbClr val="464646"/>
                </a:solidFill>
                <a:latin typeface="Meiryo UI" panose="020B0604030504040204" pitchFamily="34" charset="-128"/>
                <a:ea typeface="Meiryo UI" panose="020B0604030504040204" pitchFamily="34" charset="-128"/>
                <a:cs typeface="Inter Medium" pitchFamily="34" charset="-120"/>
              </a:rPr>
              <a:t>操作量 70%  </a:t>
            </a:r>
            <a:r>
              <a:rPr lang="en-US" sz="1400" b="1" dirty="0" err="1">
                <a:solidFill>
                  <a:srgbClr val="464646"/>
                </a:solidFill>
                <a:latin typeface="Meiryo UI" panose="020B0604030504040204" pitchFamily="34" charset="-128"/>
                <a:ea typeface="Meiryo UI" panose="020B0604030504040204" pitchFamily="34" charset="-128"/>
                <a:cs typeface="Inter Medium" pitchFamily="34" charset="-120"/>
              </a:rPr>
              <a:t>削減</a:t>
            </a:r>
            <a:r>
              <a:rPr lang="en-US" sz="1400" dirty="0">
                <a:solidFill>
                  <a:srgbClr val="464646"/>
                </a:solidFill>
                <a:latin typeface="Meiryo UI" panose="020B0604030504040204" pitchFamily="34" charset="-128"/>
                <a:ea typeface="Meiryo UI" panose="020B0604030504040204" pitchFamily="34" charset="-128"/>
                <a:cs typeface="Inter Medium" pitchFamily="34" charset="-120"/>
              </a:rPr>
              <a:t>、  </a:t>
            </a:r>
            <a:r>
              <a:rPr lang="en-US" sz="1400" b="1" dirty="0">
                <a:solidFill>
                  <a:srgbClr val="464646"/>
                </a:solidFill>
                <a:latin typeface="Meiryo UI" panose="020B0604030504040204" pitchFamily="34" charset="-128"/>
                <a:ea typeface="Meiryo UI" panose="020B0604030504040204" pitchFamily="34" charset="-128"/>
                <a:cs typeface="Inter Medium" pitchFamily="34" charset="-120"/>
              </a:rPr>
              <a:t>ジョブあたり100–150枚の紙削減・段取り約4分短縮</a:t>
            </a:r>
            <a:r>
              <a:rPr lang="en-US" sz="1400" dirty="0">
                <a:solidFill>
                  <a:srgbClr val="464646"/>
                </a:solidFill>
                <a:latin typeface="Meiryo UI" panose="020B0604030504040204" pitchFamily="34" charset="-128"/>
                <a:ea typeface="Meiryo UI" panose="020B0604030504040204" pitchFamily="34" charset="-128"/>
                <a:cs typeface="Inter Medium" pitchFamily="34" charset="-120"/>
              </a:rPr>
              <a:t>。</a:t>
            </a:r>
            <a:endParaRPr lang="en-US" sz="1400" dirty="0">
              <a:latin typeface="Meiryo UI" panose="020B0604030504040204" pitchFamily="34" charset="-128"/>
              <a:ea typeface="Meiryo UI" panose="020B0604030504040204" pitchFamily="34" charset="-128"/>
            </a:endParaRPr>
          </a:p>
        </p:txBody>
      </p:sp>
      <p:sp>
        <p:nvSpPr>
          <p:cNvPr id="7" name="Text 5"/>
          <p:cNvSpPr/>
          <p:nvPr/>
        </p:nvSpPr>
        <p:spPr>
          <a:xfrm>
            <a:off x="978575" y="4172426"/>
            <a:ext cx="3814763" cy="465773"/>
          </a:xfrm>
          <a:prstGeom prst="rect">
            <a:avLst/>
          </a:prstGeom>
          <a:noFill/>
          <a:ln/>
        </p:spPr>
        <p:txBody>
          <a:bodyPr wrap="square" lIns="0" tIns="0" rIns="0" bIns="0" rtlCol="0" anchor="t"/>
          <a:lstStyle/>
          <a:p>
            <a:pPr marL="0" indent="0" algn="l">
              <a:lnSpc>
                <a:spcPts val="1800"/>
              </a:lnSpc>
              <a:buNone/>
            </a:pPr>
            <a:r>
              <a:rPr lang="en-US" sz="1100" i="1" dirty="0">
                <a:solidFill>
                  <a:srgbClr val="464646"/>
                </a:solidFill>
                <a:latin typeface="Meiryo UI" panose="020B0604030504040204" pitchFamily="34" charset="-128"/>
                <a:ea typeface="Meiryo UI" panose="020B0604030504040204" pitchFamily="34" charset="-128"/>
                <a:cs typeface="Inter Medium" pitchFamily="34" charset="-120"/>
              </a:rPr>
              <a:t>出典：Heidelberg公式プレス・製品資料、Packaging Impressions</a:t>
            </a:r>
            <a:endParaRPr lang="en-US" sz="1100" dirty="0">
              <a:latin typeface="Meiryo UI" panose="020B0604030504040204" pitchFamily="34" charset="-128"/>
              <a:ea typeface="Meiryo UI" panose="020B0604030504040204" pitchFamily="34" charset="-128"/>
            </a:endParaRPr>
          </a:p>
        </p:txBody>
      </p:sp>
      <p:sp>
        <p:nvSpPr>
          <p:cNvPr id="8" name="Shape 6"/>
          <p:cNvSpPr/>
          <p:nvPr/>
        </p:nvSpPr>
        <p:spPr>
          <a:xfrm>
            <a:off x="5180052" y="1433274"/>
            <a:ext cx="4270177" cy="3409712"/>
          </a:xfrm>
          <a:prstGeom prst="roundRect">
            <a:avLst>
              <a:gd name="adj" fmla="val 801"/>
            </a:avLst>
          </a:prstGeom>
          <a:solidFill>
            <a:srgbClr val="FFFFFF"/>
          </a:solidFill>
          <a:ln w="22860">
            <a:solidFill>
              <a:srgbClr val="93CB52"/>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9" name="Shape 7"/>
          <p:cNvSpPr/>
          <p:nvPr/>
        </p:nvSpPr>
        <p:spPr>
          <a:xfrm>
            <a:off x="5180052" y="1433274"/>
            <a:ext cx="45720" cy="3409712"/>
          </a:xfrm>
          <a:prstGeom prst="roundRect">
            <a:avLst>
              <a:gd name="adj" fmla="val 59724"/>
            </a:avLst>
          </a:prstGeom>
          <a:solidFill>
            <a:srgbClr val="93CB52"/>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10" name="Text 8"/>
          <p:cNvSpPr/>
          <p:nvPr/>
        </p:nvSpPr>
        <p:spPr>
          <a:xfrm>
            <a:off x="5430560" y="1638062"/>
            <a:ext cx="3814882" cy="568643"/>
          </a:xfrm>
          <a:prstGeom prst="rect">
            <a:avLst/>
          </a:prstGeom>
          <a:noFill/>
          <a:ln/>
        </p:spPr>
        <p:txBody>
          <a:bodyPr wrap="square" lIns="0" tIns="0" rIns="0" bIns="0" rtlCol="0" anchor="t"/>
          <a:lstStyle/>
          <a:p>
            <a:pPr marL="0" indent="0" algn="l">
              <a:lnSpc>
                <a:spcPts val="2200"/>
              </a:lnSpc>
              <a:buNone/>
            </a:pPr>
            <a:r>
              <a:rPr lang="en-US" sz="1750" dirty="0">
                <a:solidFill>
                  <a:srgbClr val="464646"/>
                </a:solidFill>
                <a:latin typeface="Meiryo UI" panose="020B0604030504040204" pitchFamily="34" charset="-128"/>
                <a:ea typeface="Meiryo UI" panose="020B0604030504040204" pitchFamily="34" charset="-128"/>
                <a:cs typeface="DM Sans Semi Bold" pitchFamily="34" charset="-120"/>
              </a:rPr>
              <a:t>HP Indigo（PrintOS／Predictive Press Care）</a:t>
            </a:r>
            <a:endParaRPr lang="en-US" sz="1750" dirty="0">
              <a:latin typeface="Meiryo UI" panose="020B0604030504040204" pitchFamily="34" charset="-128"/>
              <a:ea typeface="Meiryo UI" panose="020B0604030504040204" pitchFamily="34" charset="-128"/>
            </a:endParaRPr>
          </a:p>
        </p:txBody>
      </p:sp>
      <p:sp>
        <p:nvSpPr>
          <p:cNvPr id="11" name="Text 9"/>
          <p:cNvSpPr/>
          <p:nvPr/>
        </p:nvSpPr>
        <p:spPr>
          <a:xfrm>
            <a:off x="5430560" y="2315885"/>
            <a:ext cx="3814882" cy="873681"/>
          </a:xfrm>
          <a:prstGeom prst="rect">
            <a:avLst/>
          </a:prstGeom>
          <a:noFill/>
          <a:ln/>
        </p:spPr>
        <p:txBody>
          <a:bodyPr wrap="square" lIns="0" tIns="0" rIns="0" bIns="0" rtlCol="0" anchor="t"/>
          <a:lstStyle/>
          <a:p>
            <a:pPr marL="0" indent="0" algn="l">
              <a:lnSpc>
                <a:spcPts val="2250"/>
              </a:lnSpc>
              <a:buNone/>
            </a:pPr>
            <a:r>
              <a:rPr lang="en-US" sz="1400" dirty="0">
                <a:solidFill>
                  <a:srgbClr val="464646"/>
                </a:solidFill>
                <a:latin typeface="Meiryo UI" panose="020B0604030504040204" pitchFamily="34" charset="-128"/>
                <a:ea typeface="Meiryo UI" panose="020B0604030504040204" pitchFamily="34" charset="-128"/>
                <a:cs typeface="Inter Medium" pitchFamily="34" charset="-120"/>
              </a:rPr>
              <a:t>予知保全（AI）で</a:t>
            </a:r>
            <a:r>
              <a:rPr lang="en-US" sz="1400" b="1" dirty="0">
                <a:solidFill>
                  <a:srgbClr val="464646"/>
                </a:solidFill>
                <a:latin typeface="Meiryo UI" panose="020B0604030504040204" pitchFamily="34" charset="-128"/>
                <a:ea typeface="Meiryo UI" panose="020B0604030504040204" pitchFamily="34" charset="-128"/>
                <a:cs typeface="Inter Medium" pitchFamily="34" charset="-120"/>
              </a:rPr>
              <a:t>重大故障を最大80%低減    計画外サービスを20%以上低減</a:t>
            </a:r>
            <a:r>
              <a:rPr lang="en-US" sz="1400" dirty="0">
                <a:solidFill>
                  <a:srgbClr val="464646"/>
                </a:solidFill>
                <a:latin typeface="Meiryo UI" panose="020B0604030504040204" pitchFamily="34" charset="-128"/>
                <a:ea typeface="Meiryo UI" panose="020B0604030504040204" pitchFamily="34" charset="-128"/>
                <a:cs typeface="Inter Medium" pitchFamily="34" charset="-120"/>
              </a:rPr>
              <a:t>。遠隔アラートと  </a:t>
            </a:r>
            <a:r>
              <a:rPr lang="en-US" sz="1400" dirty="0" err="1">
                <a:solidFill>
                  <a:srgbClr val="464646"/>
                </a:solidFill>
                <a:latin typeface="Meiryo UI" panose="020B0604030504040204" pitchFamily="34" charset="-128"/>
                <a:ea typeface="Meiryo UI" panose="020B0604030504040204" pitchFamily="34" charset="-128"/>
                <a:cs typeface="Inter Medium" pitchFamily="34" charset="-120"/>
              </a:rPr>
              <a:t>自己診断で停止前対処</a:t>
            </a:r>
            <a:r>
              <a:rPr lang="en-US" sz="1400" dirty="0">
                <a:solidFill>
                  <a:srgbClr val="464646"/>
                </a:solidFill>
                <a:latin typeface="Meiryo UI" panose="020B0604030504040204" pitchFamily="34" charset="-128"/>
                <a:ea typeface="Meiryo UI" panose="020B0604030504040204" pitchFamily="34" charset="-128"/>
                <a:cs typeface="Inter Medium" pitchFamily="34" charset="-120"/>
              </a:rPr>
              <a:t>。</a:t>
            </a:r>
            <a:endParaRPr lang="en-US" sz="1400" dirty="0">
              <a:latin typeface="Meiryo UI" panose="020B0604030504040204" pitchFamily="34" charset="-128"/>
              <a:ea typeface="Meiryo UI" panose="020B0604030504040204" pitchFamily="34" charset="-128"/>
            </a:endParaRPr>
          </a:p>
        </p:txBody>
      </p:sp>
      <p:sp>
        <p:nvSpPr>
          <p:cNvPr id="12" name="Text 10"/>
          <p:cNvSpPr/>
          <p:nvPr/>
        </p:nvSpPr>
        <p:spPr>
          <a:xfrm>
            <a:off x="5430560" y="3298746"/>
            <a:ext cx="3814882" cy="465773"/>
          </a:xfrm>
          <a:prstGeom prst="rect">
            <a:avLst/>
          </a:prstGeom>
          <a:noFill/>
          <a:ln/>
        </p:spPr>
        <p:txBody>
          <a:bodyPr wrap="square" lIns="0" tIns="0" rIns="0" bIns="0" rtlCol="0" anchor="t"/>
          <a:lstStyle/>
          <a:p>
            <a:pPr marL="0" indent="0" algn="l">
              <a:lnSpc>
                <a:spcPts val="1800"/>
              </a:lnSpc>
              <a:buNone/>
            </a:pPr>
            <a:r>
              <a:rPr lang="en-US" sz="1100" i="1" dirty="0">
                <a:solidFill>
                  <a:srgbClr val="464646"/>
                </a:solidFill>
                <a:latin typeface="Meiryo UI" panose="020B0604030504040204" pitchFamily="34" charset="-128"/>
                <a:ea typeface="Meiryo UI" panose="020B0604030504040204" pitchFamily="34" charset="-128"/>
                <a:cs typeface="Inter Medium" pitchFamily="34" charset="-120"/>
              </a:rPr>
              <a:t>出典：HP公式（PrintOS／Site Flow、サービスQuick Guide）</a:t>
            </a:r>
            <a:endParaRPr lang="en-US" sz="1100" dirty="0">
              <a:latin typeface="Meiryo UI" panose="020B0604030504040204" pitchFamily="34" charset="-128"/>
              <a:ea typeface="Meiryo UI" panose="020B0604030504040204" pitchFamily="34" charset="-128"/>
            </a:endParaRPr>
          </a:p>
        </p:txBody>
      </p:sp>
      <p:sp>
        <p:nvSpPr>
          <p:cNvPr id="13" name="Shape 11"/>
          <p:cNvSpPr/>
          <p:nvPr/>
        </p:nvSpPr>
        <p:spPr>
          <a:xfrm>
            <a:off x="9632156" y="1433274"/>
            <a:ext cx="4270177" cy="3409712"/>
          </a:xfrm>
          <a:prstGeom prst="roundRect">
            <a:avLst>
              <a:gd name="adj" fmla="val 801"/>
            </a:avLst>
          </a:prstGeom>
          <a:solidFill>
            <a:srgbClr val="FFFFFF"/>
          </a:solidFill>
          <a:ln w="22860">
            <a:solidFill>
              <a:srgbClr val="D8D4D4"/>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14" name="Shape 12"/>
          <p:cNvSpPr/>
          <p:nvPr/>
        </p:nvSpPr>
        <p:spPr>
          <a:xfrm>
            <a:off x="9632156" y="1433274"/>
            <a:ext cx="45720" cy="3409712"/>
          </a:xfrm>
          <a:prstGeom prst="roundRect">
            <a:avLst>
              <a:gd name="adj" fmla="val 59724"/>
            </a:avLst>
          </a:prstGeom>
          <a:solidFill>
            <a:srgbClr val="1C9770"/>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15" name="Text 13"/>
          <p:cNvSpPr/>
          <p:nvPr/>
        </p:nvSpPr>
        <p:spPr>
          <a:xfrm>
            <a:off x="9882664" y="1638062"/>
            <a:ext cx="3814882" cy="568643"/>
          </a:xfrm>
          <a:prstGeom prst="rect">
            <a:avLst/>
          </a:prstGeom>
          <a:noFill/>
          <a:ln/>
        </p:spPr>
        <p:txBody>
          <a:bodyPr wrap="square" lIns="0" tIns="0" rIns="0" bIns="0" rtlCol="0" anchor="t"/>
          <a:lstStyle/>
          <a:p>
            <a:pPr marL="0" indent="0" algn="l">
              <a:lnSpc>
                <a:spcPts val="2200"/>
              </a:lnSpc>
              <a:buNone/>
            </a:pPr>
            <a:r>
              <a:rPr lang="en-US" sz="1750" dirty="0">
                <a:solidFill>
                  <a:srgbClr val="464646"/>
                </a:solidFill>
                <a:latin typeface="Meiryo UI" panose="020B0604030504040204" pitchFamily="34" charset="-128"/>
                <a:ea typeface="Meiryo UI" panose="020B0604030504040204" pitchFamily="34" charset="-128"/>
                <a:cs typeface="DM Sans Semi Bold" pitchFamily="34" charset="-120"/>
              </a:rPr>
              <a:t>Konica Minolta AccurioPress IQ-501</a:t>
            </a:r>
            <a:endParaRPr lang="en-US" sz="1750" dirty="0">
              <a:latin typeface="Meiryo UI" panose="020B0604030504040204" pitchFamily="34" charset="-128"/>
              <a:ea typeface="Meiryo UI" panose="020B0604030504040204" pitchFamily="34" charset="-128"/>
            </a:endParaRPr>
          </a:p>
        </p:txBody>
      </p:sp>
      <p:sp>
        <p:nvSpPr>
          <p:cNvPr id="16" name="Text 14"/>
          <p:cNvSpPr/>
          <p:nvPr/>
        </p:nvSpPr>
        <p:spPr>
          <a:xfrm>
            <a:off x="9882664" y="2315885"/>
            <a:ext cx="3814882" cy="873681"/>
          </a:xfrm>
          <a:prstGeom prst="rect">
            <a:avLst/>
          </a:prstGeom>
          <a:noFill/>
          <a:ln/>
        </p:spPr>
        <p:txBody>
          <a:bodyPr wrap="square" lIns="0" tIns="0" rIns="0" bIns="0" rtlCol="0" anchor="t"/>
          <a:lstStyle/>
          <a:p>
            <a:pPr marL="0" indent="0" algn="l">
              <a:lnSpc>
                <a:spcPts val="2250"/>
              </a:lnSpc>
              <a:buNone/>
            </a:pPr>
            <a:r>
              <a:rPr lang="en-US" sz="1400" dirty="0">
                <a:solidFill>
                  <a:srgbClr val="464646"/>
                </a:solidFill>
                <a:latin typeface="Meiryo UI" panose="020B0604030504040204" pitchFamily="34" charset="-128"/>
                <a:ea typeface="Meiryo UI" panose="020B0604030504040204" pitchFamily="34" charset="-128"/>
                <a:cs typeface="Inter Medium" pitchFamily="34" charset="-120"/>
              </a:rPr>
              <a:t>紙プロファイル／見当・色調整の自動化により</a:t>
            </a:r>
            <a:r>
              <a:rPr lang="en-US" sz="1400" b="1" dirty="0">
                <a:solidFill>
                  <a:srgbClr val="464646"/>
                </a:solidFill>
                <a:latin typeface="Meiryo UI" panose="020B0604030504040204" pitchFamily="34" charset="-128"/>
                <a:ea typeface="Meiryo UI" panose="020B0604030504040204" pitchFamily="34" charset="-128"/>
                <a:cs typeface="Inter Medium" pitchFamily="34" charset="-120"/>
              </a:rPr>
              <a:t>30分→5分未満</a:t>
            </a:r>
            <a:r>
              <a:rPr lang="en-US" sz="1400" dirty="0">
                <a:solidFill>
                  <a:srgbClr val="464646"/>
                </a:solidFill>
                <a:latin typeface="Meiryo UI" panose="020B0604030504040204" pitchFamily="34" charset="-128"/>
                <a:ea typeface="Meiryo UI" panose="020B0604030504040204" pitchFamily="34" charset="-128"/>
                <a:cs typeface="Inter Medium" pitchFamily="34" charset="-120"/>
              </a:rPr>
              <a:t>。色安定・見当自動補正のループ制御で再刷・手戻りを抑制。</a:t>
            </a:r>
            <a:endParaRPr lang="en-US" sz="1400" dirty="0">
              <a:latin typeface="Meiryo UI" panose="020B0604030504040204" pitchFamily="34" charset="-128"/>
              <a:ea typeface="Meiryo UI" panose="020B0604030504040204" pitchFamily="34" charset="-128"/>
            </a:endParaRPr>
          </a:p>
        </p:txBody>
      </p:sp>
      <p:sp>
        <p:nvSpPr>
          <p:cNvPr id="17" name="Text 15"/>
          <p:cNvSpPr/>
          <p:nvPr/>
        </p:nvSpPr>
        <p:spPr>
          <a:xfrm>
            <a:off x="9882664" y="3298746"/>
            <a:ext cx="3814882" cy="232886"/>
          </a:xfrm>
          <a:prstGeom prst="rect">
            <a:avLst/>
          </a:prstGeom>
          <a:noFill/>
          <a:ln/>
        </p:spPr>
        <p:txBody>
          <a:bodyPr wrap="none" lIns="0" tIns="0" rIns="0" bIns="0" rtlCol="0" anchor="t"/>
          <a:lstStyle/>
          <a:p>
            <a:pPr marL="0" indent="0" algn="l">
              <a:lnSpc>
                <a:spcPts val="1800"/>
              </a:lnSpc>
              <a:buNone/>
            </a:pPr>
            <a:r>
              <a:rPr lang="en-US" sz="1100" i="1" dirty="0">
                <a:solidFill>
                  <a:srgbClr val="464646"/>
                </a:solidFill>
                <a:latin typeface="Meiryo UI" panose="020B0604030504040204" pitchFamily="34" charset="-128"/>
                <a:ea typeface="Meiryo UI" panose="020B0604030504040204" pitchFamily="34" charset="-128"/>
                <a:cs typeface="Inter Medium" pitchFamily="34" charset="-120"/>
              </a:rPr>
              <a:t>出典：製品資料</a:t>
            </a:r>
            <a:endParaRPr lang="en-US" sz="1100" dirty="0">
              <a:latin typeface="Meiryo UI" panose="020B0604030504040204" pitchFamily="34" charset="-128"/>
              <a:ea typeface="Meiryo UI" panose="020B0604030504040204" pitchFamily="34" charset="-128"/>
            </a:endParaRPr>
          </a:p>
        </p:txBody>
      </p:sp>
      <p:sp>
        <p:nvSpPr>
          <p:cNvPr id="18" name="Shape 16"/>
          <p:cNvSpPr/>
          <p:nvPr/>
        </p:nvSpPr>
        <p:spPr>
          <a:xfrm>
            <a:off x="728067" y="5047774"/>
            <a:ext cx="6496169" cy="2011918"/>
          </a:xfrm>
          <a:prstGeom prst="roundRect">
            <a:avLst>
              <a:gd name="adj" fmla="val 1357"/>
            </a:avLst>
          </a:prstGeom>
          <a:solidFill>
            <a:srgbClr val="FFFFFF"/>
          </a:solidFill>
          <a:ln w="22860">
            <a:solidFill>
              <a:srgbClr val="D8D4D4"/>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19" name="Shape 17"/>
          <p:cNvSpPr/>
          <p:nvPr/>
        </p:nvSpPr>
        <p:spPr>
          <a:xfrm>
            <a:off x="728067" y="5047774"/>
            <a:ext cx="45720" cy="2011918"/>
          </a:xfrm>
          <a:prstGeom prst="roundRect">
            <a:avLst>
              <a:gd name="adj" fmla="val 59724"/>
            </a:avLst>
          </a:prstGeom>
          <a:solidFill>
            <a:srgbClr val="1C9770"/>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20" name="Text 18"/>
          <p:cNvSpPr/>
          <p:nvPr/>
        </p:nvSpPr>
        <p:spPr>
          <a:xfrm>
            <a:off x="978575" y="5252561"/>
            <a:ext cx="6040874" cy="568643"/>
          </a:xfrm>
          <a:prstGeom prst="rect">
            <a:avLst/>
          </a:prstGeom>
          <a:noFill/>
          <a:ln/>
        </p:spPr>
        <p:txBody>
          <a:bodyPr wrap="square" lIns="0" tIns="0" rIns="0" bIns="0" rtlCol="0" anchor="t"/>
          <a:lstStyle/>
          <a:p>
            <a:pPr marL="0" indent="0" algn="l">
              <a:lnSpc>
                <a:spcPts val="2200"/>
              </a:lnSpc>
              <a:buNone/>
            </a:pPr>
            <a:r>
              <a:rPr lang="en-US" sz="1750" dirty="0">
                <a:solidFill>
                  <a:srgbClr val="464646"/>
                </a:solidFill>
                <a:latin typeface="Meiryo UI" panose="020B0604030504040204" pitchFamily="34" charset="-128"/>
                <a:ea typeface="Meiryo UI" panose="020B0604030504040204" pitchFamily="34" charset="-128"/>
                <a:cs typeface="DM Sans Semi Bold" pitchFamily="34" charset="-120"/>
              </a:rPr>
              <a:t>Kodak PRINERGY </a:t>
            </a:r>
            <a:r>
              <a:rPr lang="en-US" sz="1750" dirty="0" err="1">
                <a:solidFill>
                  <a:srgbClr val="464646"/>
                </a:solidFill>
                <a:latin typeface="Meiryo UI" panose="020B0604030504040204" pitchFamily="34" charset="-128"/>
                <a:ea typeface="Meiryo UI" panose="020B0604030504040204" pitchFamily="34" charset="-128"/>
                <a:cs typeface="DM Sans Semi Bold" pitchFamily="34" charset="-120"/>
              </a:rPr>
              <a:t>ColorFlow｜Ink</a:t>
            </a:r>
            <a:r>
              <a:rPr lang="en-US" sz="1750" dirty="0">
                <a:solidFill>
                  <a:srgbClr val="464646"/>
                </a:solidFill>
                <a:latin typeface="Meiryo UI" panose="020B0604030504040204" pitchFamily="34" charset="-128"/>
                <a:ea typeface="Meiryo UI" panose="020B0604030504040204" pitchFamily="34" charset="-128"/>
                <a:cs typeface="DM Sans Semi Bold" pitchFamily="34" charset="-120"/>
              </a:rPr>
              <a:t> Optimizing               (UCR/GCR)</a:t>
            </a:r>
            <a:endParaRPr lang="en-US" sz="1750" dirty="0">
              <a:latin typeface="Meiryo UI" panose="020B0604030504040204" pitchFamily="34" charset="-128"/>
              <a:ea typeface="Meiryo UI" panose="020B0604030504040204" pitchFamily="34" charset="-128"/>
            </a:endParaRPr>
          </a:p>
        </p:txBody>
      </p:sp>
      <p:sp>
        <p:nvSpPr>
          <p:cNvPr id="21" name="Text 19"/>
          <p:cNvSpPr/>
          <p:nvPr/>
        </p:nvSpPr>
        <p:spPr>
          <a:xfrm>
            <a:off x="978575" y="5930384"/>
            <a:ext cx="6040874" cy="582454"/>
          </a:xfrm>
          <a:prstGeom prst="rect">
            <a:avLst/>
          </a:prstGeom>
          <a:noFill/>
          <a:ln/>
        </p:spPr>
        <p:txBody>
          <a:bodyPr wrap="square" lIns="0" tIns="0" rIns="0" bIns="0" rtlCol="0" anchor="t"/>
          <a:lstStyle/>
          <a:p>
            <a:pPr marL="0" indent="0" algn="l">
              <a:lnSpc>
                <a:spcPts val="2250"/>
              </a:lnSpc>
              <a:buNone/>
            </a:pPr>
            <a:r>
              <a:rPr lang="en-US" sz="1400" dirty="0">
                <a:solidFill>
                  <a:srgbClr val="464646"/>
                </a:solidFill>
                <a:latin typeface="Meiryo UI" panose="020B0604030504040204" pitchFamily="34" charset="-128"/>
                <a:ea typeface="Meiryo UI" panose="020B0604030504040204" pitchFamily="34" charset="-128"/>
                <a:cs typeface="Inter Medium" pitchFamily="34" charset="-120"/>
              </a:rPr>
              <a:t>画像ごとに最適分版→</a:t>
            </a:r>
            <a:r>
              <a:rPr lang="en-US" sz="1400" b="1" dirty="0">
                <a:solidFill>
                  <a:srgbClr val="464646"/>
                </a:solidFill>
                <a:latin typeface="Meiryo UI" panose="020B0604030504040204" pitchFamily="34" charset="-128"/>
                <a:ea typeface="Meiryo UI" panose="020B0604030504040204" pitchFamily="34" charset="-128"/>
                <a:cs typeface="Inter Medium" pitchFamily="34" charset="-120"/>
              </a:rPr>
              <a:t>インク使用量 最大30%削減</a:t>
            </a:r>
            <a:r>
              <a:rPr lang="en-US" sz="1400" dirty="0">
                <a:solidFill>
                  <a:srgbClr val="464646"/>
                </a:solidFill>
                <a:latin typeface="Meiryo UI" panose="020B0604030504040204" pitchFamily="34" charset="-128"/>
                <a:ea typeface="Meiryo UI" panose="020B0604030504040204" pitchFamily="34" charset="-128"/>
                <a:cs typeface="Inter Medium" pitchFamily="34" charset="-120"/>
              </a:rPr>
              <a:t>。乾燥・伸び抑制で用紙       </a:t>
            </a:r>
            <a:r>
              <a:rPr lang="en-US" sz="1400" dirty="0" err="1">
                <a:solidFill>
                  <a:srgbClr val="464646"/>
                </a:solidFill>
                <a:latin typeface="Meiryo UI" panose="020B0604030504040204" pitchFamily="34" charset="-128"/>
                <a:ea typeface="Meiryo UI" panose="020B0604030504040204" pitchFamily="34" charset="-128"/>
                <a:cs typeface="Inter Medium" pitchFamily="34" charset="-120"/>
              </a:rPr>
              <a:t>ランクダウンも可能</a:t>
            </a:r>
            <a:r>
              <a:rPr lang="en-US" sz="1400" dirty="0">
                <a:solidFill>
                  <a:srgbClr val="464646"/>
                </a:solidFill>
                <a:latin typeface="Meiryo UI" panose="020B0604030504040204" pitchFamily="34" charset="-128"/>
                <a:ea typeface="Meiryo UI" panose="020B0604030504040204" pitchFamily="34" charset="-128"/>
                <a:cs typeface="Inter Medium" pitchFamily="34" charset="-120"/>
              </a:rPr>
              <a:t>。</a:t>
            </a:r>
            <a:endParaRPr lang="en-US" sz="1400" dirty="0">
              <a:latin typeface="Meiryo UI" panose="020B0604030504040204" pitchFamily="34" charset="-128"/>
              <a:ea typeface="Meiryo UI" panose="020B0604030504040204" pitchFamily="34" charset="-128"/>
            </a:endParaRPr>
          </a:p>
        </p:txBody>
      </p:sp>
      <p:sp>
        <p:nvSpPr>
          <p:cNvPr id="22" name="Text 20"/>
          <p:cNvSpPr/>
          <p:nvPr/>
        </p:nvSpPr>
        <p:spPr>
          <a:xfrm>
            <a:off x="978575" y="6622018"/>
            <a:ext cx="6040874" cy="232886"/>
          </a:xfrm>
          <a:prstGeom prst="rect">
            <a:avLst/>
          </a:prstGeom>
          <a:noFill/>
          <a:ln/>
        </p:spPr>
        <p:txBody>
          <a:bodyPr wrap="none" lIns="0" tIns="0" rIns="0" bIns="0" rtlCol="0" anchor="t"/>
          <a:lstStyle/>
          <a:p>
            <a:pPr marL="0" indent="0" algn="l">
              <a:lnSpc>
                <a:spcPts val="1800"/>
              </a:lnSpc>
              <a:buNone/>
            </a:pPr>
            <a:r>
              <a:rPr lang="en-US" sz="1100" i="1" dirty="0">
                <a:solidFill>
                  <a:srgbClr val="464646"/>
                </a:solidFill>
                <a:latin typeface="Meiryo UI" panose="020B0604030504040204" pitchFamily="34" charset="-128"/>
                <a:ea typeface="Meiryo UI" panose="020B0604030504040204" pitchFamily="34" charset="-128"/>
                <a:cs typeface="Inter Medium" pitchFamily="34" charset="-120"/>
              </a:rPr>
              <a:t>出典：Kodakデータシート</a:t>
            </a:r>
            <a:endParaRPr lang="en-US" sz="1100" dirty="0">
              <a:latin typeface="Meiryo UI" panose="020B0604030504040204" pitchFamily="34" charset="-128"/>
              <a:ea typeface="Meiryo UI" panose="020B0604030504040204" pitchFamily="34" charset="-128"/>
            </a:endParaRPr>
          </a:p>
        </p:txBody>
      </p:sp>
      <p:sp>
        <p:nvSpPr>
          <p:cNvPr id="23" name="Shape 21"/>
          <p:cNvSpPr/>
          <p:nvPr/>
        </p:nvSpPr>
        <p:spPr>
          <a:xfrm>
            <a:off x="7406164" y="5047774"/>
            <a:ext cx="6496169" cy="2011918"/>
          </a:xfrm>
          <a:prstGeom prst="roundRect">
            <a:avLst>
              <a:gd name="adj" fmla="val 1357"/>
            </a:avLst>
          </a:prstGeom>
          <a:solidFill>
            <a:srgbClr val="FFFFFF"/>
          </a:solidFill>
          <a:ln w="22860">
            <a:solidFill>
              <a:srgbClr val="D8D4D4"/>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24" name="Shape 22"/>
          <p:cNvSpPr/>
          <p:nvPr/>
        </p:nvSpPr>
        <p:spPr>
          <a:xfrm>
            <a:off x="7406164" y="5047774"/>
            <a:ext cx="45720" cy="2011918"/>
          </a:xfrm>
          <a:prstGeom prst="roundRect">
            <a:avLst>
              <a:gd name="adj" fmla="val 59724"/>
            </a:avLst>
          </a:prstGeom>
          <a:solidFill>
            <a:srgbClr val="1C9770"/>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25" name="Text 23"/>
          <p:cNvSpPr/>
          <p:nvPr/>
        </p:nvSpPr>
        <p:spPr>
          <a:xfrm>
            <a:off x="7656671" y="5252561"/>
            <a:ext cx="4318278" cy="284321"/>
          </a:xfrm>
          <a:prstGeom prst="rect">
            <a:avLst/>
          </a:prstGeom>
          <a:noFill/>
          <a:ln/>
        </p:spPr>
        <p:txBody>
          <a:bodyPr wrap="none" lIns="0" tIns="0" rIns="0" bIns="0" rtlCol="0" anchor="t"/>
          <a:lstStyle/>
          <a:p>
            <a:pPr marL="0" indent="0" algn="l">
              <a:lnSpc>
                <a:spcPts val="2200"/>
              </a:lnSpc>
              <a:buNone/>
            </a:pPr>
            <a:r>
              <a:rPr lang="en-US" sz="1750" dirty="0">
                <a:solidFill>
                  <a:srgbClr val="464646"/>
                </a:solidFill>
                <a:latin typeface="Meiryo UI" panose="020B0604030504040204" pitchFamily="34" charset="-128"/>
                <a:ea typeface="Meiryo UI" panose="020B0604030504040204" pitchFamily="34" charset="-128"/>
                <a:cs typeface="DM Sans Semi Bold" pitchFamily="34" charset="-120"/>
              </a:rPr>
              <a:t>Esko WebCenter（ワークフロー／校正）</a:t>
            </a:r>
            <a:endParaRPr lang="en-US" sz="1750" dirty="0">
              <a:latin typeface="Meiryo UI" panose="020B0604030504040204" pitchFamily="34" charset="-128"/>
              <a:ea typeface="Meiryo UI" panose="020B0604030504040204" pitchFamily="34" charset="-128"/>
            </a:endParaRPr>
          </a:p>
        </p:txBody>
      </p:sp>
      <p:sp>
        <p:nvSpPr>
          <p:cNvPr id="26" name="Text 24"/>
          <p:cNvSpPr/>
          <p:nvPr/>
        </p:nvSpPr>
        <p:spPr>
          <a:xfrm>
            <a:off x="7656671" y="5646063"/>
            <a:ext cx="6040874" cy="582454"/>
          </a:xfrm>
          <a:prstGeom prst="rect">
            <a:avLst/>
          </a:prstGeom>
          <a:noFill/>
          <a:ln/>
        </p:spPr>
        <p:txBody>
          <a:bodyPr wrap="square" lIns="0" tIns="0" rIns="0" bIns="0" rtlCol="0" anchor="t"/>
          <a:lstStyle/>
          <a:p>
            <a:pPr marL="0" indent="0" algn="l">
              <a:lnSpc>
                <a:spcPts val="2250"/>
              </a:lnSpc>
              <a:buNone/>
            </a:pPr>
            <a:r>
              <a:rPr lang="en-US" sz="1400" dirty="0">
                <a:solidFill>
                  <a:srgbClr val="464646"/>
                </a:solidFill>
                <a:latin typeface="Meiryo UI" panose="020B0604030504040204" pitchFamily="34" charset="-128"/>
                <a:ea typeface="Meiryo UI" panose="020B0604030504040204" pitchFamily="34" charset="-128"/>
                <a:cs typeface="Inter Medium" pitchFamily="34" charset="-120"/>
              </a:rPr>
              <a:t>TEIの調査：</a:t>
            </a:r>
            <a:r>
              <a:rPr lang="en-US" sz="1400" b="1" dirty="0">
                <a:solidFill>
                  <a:srgbClr val="464646"/>
                </a:solidFill>
                <a:latin typeface="Meiryo UI" panose="020B0604030504040204" pitchFamily="34" charset="-128"/>
                <a:ea typeface="Meiryo UI" panose="020B0604030504040204" pitchFamily="34" charset="-128"/>
                <a:cs typeface="Inter Medium" pitchFamily="34" charset="-120"/>
              </a:rPr>
              <a:t>ROI 240%、現在価値 515万USD</a:t>
            </a:r>
            <a:r>
              <a:rPr lang="en-US" sz="1400" dirty="0">
                <a:solidFill>
                  <a:srgbClr val="464646"/>
                </a:solidFill>
                <a:latin typeface="Meiryo UI" panose="020B0604030504040204" pitchFamily="34" charset="-128"/>
                <a:ea typeface="Meiryo UI" panose="020B0604030504040204" pitchFamily="34" charset="-128"/>
                <a:cs typeface="Inter Medium" pitchFamily="34" charset="-120"/>
              </a:rPr>
              <a:t>、</a:t>
            </a:r>
            <a:r>
              <a:rPr lang="en-US" sz="1400" b="1" dirty="0">
                <a:solidFill>
                  <a:srgbClr val="464646"/>
                </a:solidFill>
                <a:latin typeface="Meiryo UI" panose="020B0604030504040204" pitchFamily="34" charset="-128"/>
                <a:ea typeface="Meiryo UI" panose="020B0604030504040204" pitchFamily="34" charset="-128"/>
                <a:cs typeface="Inter Medium" pitchFamily="34" charset="-120"/>
              </a:rPr>
              <a:t>回収&lt;6か月                   (</a:t>
            </a:r>
            <a:r>
              <a:rPr lang="en-US" sz="1400" dirty="0" err="1">
                <a:solidFill>
                  <a:srgbClr val="464646"/>
                </a:solidFill>
                <a:latin typeface="Meiryo UI" panose="020B0604030504040204" pitchFamily="34" charset="-128"/>
                <a:ea typeface="Meiryo UI" panose="020B0604030504040204" pitchFamily="34" charset="-128"/>
                <a:cs typeface="Inter Medium" pitchFamily="34" charset="-120"/>
              </a:rPr>
              <a:t>標準規模の包装コンバーター想定</a:t>
            </a:r>
            <a:r>
              <a:rPr lang="en-US" sz="1400" dirty="0">
                <a:solidFill>
                  <a:srgbClr val="464646"/>
                </a:solidFill>
                <a:latin typeface="Meiryo UI" panose="020B0604030504040204" pitchFamily="34" charset="-128"/>
                <a:ea typeface="Meiryo UI" panose="020B0604030504040204" pitchFamily="34" charset="-128"/>
                <a:cs typeface="Inter Medium" pitchFamily="34" charset="-120"/>
              </a:rPr>
              <a:t>)</a:t>
            </a:r>
            <a:endParaRPr lang="en-US" sz="1400" dirty="0">
              <a:latin typeface="Meiryo UI" panose="020B0604030504040204" pitchFamily="34" charset="-128"/>
              <a:ea typeface="Meiryo UI" panose="020B0604030504040204" pitchFamily="34" charset="-128"/>
            </a:endParaRPr>
          </a:p>
        </p:txBody>
      </p:sp>
      <p:sp>
        <p:nvSpPr>
          <p:cNvPr id="27" name="Text 25"/>
          <p:cNvSpPr/>
          <p:nvPr/>
        </p:nvSpPr>
        <p:spPr>
          <a:xfrm>
            <a:off x="7656671" y="6337697"/>
            <a:ext cx="6040874" cy="232886"/>
          </a:xfrm>
          <a:prstGeom prst="rect">
            <a:avLst/>
          </a:prstGeom>
          <a:noFill/>
          <a:ln/>
        </p:spPr>
        <p:txBody>
          <a:bodyPr wrap="none" lIns="0" tIns="0" rIns="0" bIns="0" rtlCol="0" anchor="t"/>
          <a:lstStyle/>
          <a:p>
            <a:pPr marL="0" indent="0" algn="l">
              <a:lnSpc>
                <a:spcPts val="1800"/>
              </a:lnSpc>
              <a:buNone/>
            </a:pPr>
            <a:r>
              <a:rPr lang="en-US" sz="1100" i="1" dirty="0">
                <a:solidFill>
                  <a:srgbClr val="464646"/>
                </a:solidFill>
                <a:latin typeface="Meiryo UI" panose="020B0604030504040204" pitchFamily="34" charset="-128"/>
                <a:ea typeface="Meiryo UI" panose="020B0604030504040204" pitchFamily="34" charset="-128"/>
                <a:cs typeface="Inter Medium" pitchFamily="34" charset="-120"/>
              </a:rPr>
              <a:t>出典：Esko公式ケーススタディ</a:t>
            </a:r>
            <a:endParaRPr lang="en-US" sz="1100" dirty="0">
              <a:latin typeface="Meiryo UI" panose="020B0604030504040204" pitchFamily="34" charset="-128"/>
              <a:ea typeface="Meiryo UI" panose="020B0604030504040204" pitchFamily="34" charset="-128"/>
            </a:endParaRPr>
          </a:p>
        </p:txBody>
      </p:sp>
      <p:sp>
        <p:nvSpPr>
          <p:cNvPr id="28" name="Text 26"/>
          <p:cNvSpPr/>
          <p:nvPr/>
        </p:nvSpPr>
        <p:spPr>
          <a:xfrm>
            <a:off x="728067" y="7264479"/>
            <a:ext cx="13174266" cy="465773"/>
          </a:xfrm>
          <a:prstGeom prst="rect">
            <a:avLst/>
          </a:prstGeom>
          <a:noFill/>
          <a:ln/>
        </p:spPr>
        <p:txBody>
          <a:bodyPr wrap="square" lIns="0" tIns="0" rIns="0" bIns="0" rtlCol="0" anchor="t"/>
          <a:lstStyle/>
          <a:p>
            <a:pPr marL="0" indent="0" algn="l">
              <a:lnSpc>
                <a:spcPts val="1800"/>
              </a:lnSpc>
              <a:buNone/>
            </a:pPr>
            <a:r>
              <a:rPr lang="en-US" sz="1100" dirty="0">
                <a:solidFill>
                  <a:srgbClr val="464646"/>
                </a:solidFill>
                <a:latin typeface="Meiryo UI" panose="020B0604030504040204" pitchFamily="34" charset="-128"/>
                <a:ea typeface="Meiryo UI" panose="020B0604030504040204" pitchFamily="34" charset="-128"/>
                <a:cs typeface="Inter Medium" pitchFamily="34" charset="-120"/>
              </a:rPr>
              <a:t>用語注釈：</a:t>
            </a:r>
            <a:r>
              <a:rPr lang="en-US" sz="1100" b="1" dirty="0">
                <a:solidFill>
                  <a:srgbClr val="464646"/>
                </a:solidFill>
                <a:latin typeface="Meiryo UI" panose="020B0604030504040204" pitchFamily="34" charset="-128"/>
                <a:ea typeface="Meiryo UI" panose="020B0604030504040204" pitchFamily="34" charset="-128"/>
                <a:cs typeface="Inter Medium" pitchFamily="34" charset="-120"/>
              </a:rPr>
              <a:t>UCR/GCR</a:t>
            </a:r>
            <a:r>
              <a:rPr lang="en-US" sz="1100" dirty="0">
                <a:solidFill>
                  <a:srgbClr val="464646"/>
                </a:solidFill>
                <a:latin typeface="Meiryo UI" panose="020B0604030504040204" pitchFamily="34" charset="-128"/>
                <a:ea typeface="Meiryo UI" panose="020B0604030504040204" pitchFamily="34" charset="-128"/>
                <a:cs typeface="Inter Medium" pitchFamily="34" charset="-120"/>
              </a:rPr>
              <a:t>＝黒版置換/網点置換。CMYの一部をKに置換してインク総量を抑える手法。</a:t>
            </a:r>
            <a:r>
              <a:rPr lang="en-US" sz="1100" b="1" dirty="0">
                <a:solidFill>
                  <a:srgbClr val="464646"/>
                </a:solidFill>
                <a:latin typeface="Meiryo UI" panose="020B0604030504040204" pitchFamily="34" charset="-128"/>
                <a:ea typeface="Meiryo UI" panose="020B0604030504040204" pitchFamily="34" charset="-128"/>
                <a:cs typeface="Inter Medium" pitchFamily="34" charset="-120"/>
              </a:rPr>
              <a:t>インライン測色</a:t>
            </a:r>
            <a:r>
              <a:rPr lang="en-US" sz="1100" dirty="0">
                <a:solidFill>
                  <a:srgbClr val="464646"/>
                </a:solidFill>
                <a:latin typeface="Meiryo UI" panose="020B0604030504040204" pitchFamily="34" charset="-128"/>
                <a:ea typeface="Meiryo UI" panose="020B0604030504040204" pitchFamily="34" charset="-128"/>
                <a:cs typeface="Inter Medium" pitchFamily="34" charset="-120"/>
              </a:rPr>
              <a:t>＝印刷中に測色器で色を自動測定・補正する機能。</a:t>
            </a:r>
            <a:r>
              <a:rPr lang="en-US" sz="1100" b="1" dirty="0">
                <a:solidFill>
                  <a:srgbClr val="464646"/>
                </a:solidFill>
                <a:latin typeface="Meiryo UI" panose="020B0604030504040204" pitchFamily="34" charset="-128"/>
                <a:ea typeface="Meiryo UI" panose="020B0604030504040204" pitchFamily="34" charset="-128"/>
                <a:cs typeface="Inter Medium" pitchFamily="34" charset="-120"/>
              </a:rPr>
              <a:t>段取り</a:t>
            </a:r>
            <a:r>
              <a:rPr lang="en-US" sz="1100" dirty="0">
                <a:solidFill>
                  <a:srgbClr val="464646"/>
                </a:solidFill>
                <a:latin typeface="Meiryo UI" panose="020B0604030504040204" pitchFamily="34" charset="-128"/>
                <a:ea typeface="Meiryo UI" panose="020B0604030504040204" pitchFamily="34" charset="-128"/>
                <a:cs typeface="Inter Medium" pitchFamily="34" charset="-120"/>
              </a:rPr>
              <a:t>＝版替え・色合わせなどの準備工程。</a:t>
            </a:r>
            <a:endParaRPr lang="en-US" sz="1100" dirty="0">
              <a:latin typeface="Meiryo UI" panose="020B0604030504040204" pitchFamily="34" charset="-128"/>
              <a:ea typeface="Meiryo UI" panose="020B0604030504040204" pitchFamily="34" charset="-128"/>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744736"/>
            <a:ext cx="8604528" cy="620078"/>
          </a:xfrm>
          <a:prstGeom prst="rect">
            <a:avLst/>
          </a:prstGeom>
          <a:noFill/>
          <a:ln/>
        </p:spPr>
        <p:txBody>
          <a:bodyPr wrap="none" lIns="0" tIns="0" rIns="0" bIns="0" rtlCol="0" anchor="t"/>
          <a:lstStyle/>
          <a:p>
            <a:pPr marL="0" indent="0" algn="l">
              <a:lnSpc>
                <a:spcPts val="4850"/>
              </a:lnSpc>
              <a:buNone/>
            </a:pPr>
            <a:r>
              <a:rPr lang="en-US" sz="3600" b="1" dirty="0">
                <a:solidFill>
                  <a:srgbClr val="030303"/>
                </a:solidFill>
                <a:latin typeface="Meiryo UI" panose="020B0604030504040204" pitchFamily="34" charset="-128"/>
                <a:ea typeface="Meiryo UI" panose="020B0604030504040204" pitchFamily="34" charset="-128"/>
                <a:cs typeface="DM Sans Semi Bold" pitchFamily="34" charset="-120"/>
              </a:rPr>
              <a:t>先進導入事例（AI×印刷の具体例 2/2）</a:t>
            </a:r>
            <a:endParaRPr lang="en-US" sz="3600" b="1" dirty="0">
              <a:latin typeface="Meiryo UI" panose="020B0604030504040204" pitchFamily="34" charset="-128"/>
              <a:ea typeface="Meiryo UI" panose="020B0604030504040204" pitchFamily="34" charset="-128"/>
            </a:endParaRPr>
          </a:p>
        </p:txBody>
      </p:sp>
      <p:sp>
        <p:nvSpPr>
          <p:cNvPr id="3" name="Shape 1"/>
          <p:cNvSpPr/>
          <p:nvPr/>
        </p:nvSpPr>
        <p:spPr>
          <a:xfrm>
            <a:off x="793790" y="1761649"/>
            <a:ext cx="4215289" cy="2514957"/>
          </a:xfrm>
          <a:prstGeom prst="roundRect">
            <a:avLst>
              <a:gd name="adj" fmla="val 1184"/>
            </a:avLst>
          </a:prstGeom>
          <a:solidFill>
            <a:srgbClr val="FFFFFF"/>
          </a:solidFill>
          <a:ln w="22860">
            <a:solidFill>
              <a:srgbClr val="1C9770"/>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4" name="Shape 2"/>
          <p:cNvSpPr/>
          <p:nvPr/>
        </p:nvSpPr>
        <p:spPr>
          <a:xfrm>
            <a:off x="793790" y="1761649"/>
            <a:ext cx="45720" cy="2514957"/>
          </a:xfrm>
          <a:prstGeom prst="roundRect">
            <a:avLst>
              <a:gd name="adj" fmla="val 65116"/>
            </a:avLst>
          </a:prstGeom>
          <a:solidFill>
            <a:srgbClr val="1C9770"/>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5" name="Text 3"/>
          <p:cNvSpPr/>
          <p:nvPr/>
        </p:nvSpPr>
        <p:spPr>
          <a:xfrm>
            <a:off x="1060728" y="1982867"/>
            <a:ext cx="3727133" cy="620316"/>
          </a:xfrm>
          <a:prstGeom prst="rect">
            <a:avLst/>
          </a:prstGeom>
          <a:noFill/>
          <a:ln/>
        </p:spPr>
        <p:txBody>
          <a:bodyPr wrap="square" lIns="0" tIns="0" rIns="0" bIns="0" rtlCol="0" anchor="t"/>
          <a:lstStyle/>
          <a:p>
            <a:pPr marL="0" indent="0" algn="l">
              <a:lnSpc>
                <a:spcPts val="2400"/>
              </a:lnSpc>
              <a:buNone/>
            </a:pPr>
            <a:r>
              <a:rPr lang="en-US" sz="1950" dirty="0" err="1">
                <a:solidFill>
                  <a:srgbClr val="464646"/>
                </a:solidFill>
                <a:latin typeface="Meiryo UI" panose="020B0604030504040204" pitchFamily="34" charset="-128"/>
                <a:ea typeface="Meiryo UI" panose="020B0604030504040204" pitchFamily="34" charset="-128"/>
                <a:cs typeface="DM Sans Semi Bold" pitchFamily="34" charset="-120"/>
              </a:rPr>
              <a:t>Esko／Tilia</a:t>
            </a:r>
            <a:r>
              <a:rPr lang="en-US" sz="1950" dirty="0">
                <a:solidFill>
                  <a:srgbClr val="464646"/>
                </a:solidFill>
                <a:latin typeface="Meiryo UI" panose="020B0604030504040204" pitchFamily="34" charset="-128"/>
                <a:ea typeface="Meiryo UI" panose="020B0604030504040204" pitchFamily="34" charset="-128"/>
                <a:cs typeface="DM Sans Semi Bold" pitchFamily="34" charset="-120"/>
              </a:rPr>
              <a:t> Phoenix              (Imposition AI）</a:t>
            </a:r>
            <a:endParaRPr lang="en-US" sz="1950" dirty="0">
              <a:latin typeface="Meiryo UI" panose="020B0604030504040204" pitchFamily="34" charset="-128"/>
              <a:ea typeface="Meiryo UI" panose="020B0604030504040204" pitchFamily="34" charset="-128"/>
            </a:endParaRPr>
          </a:p>
        </p:txBody>
      </p:sp>
      <p:sp>
        <p:nvSpPr>
          <p:cNvPr id="6" name="Text 4"/>
          <p:cNvSpPr/>
          <p:nvPr/>
        </p:nvSpPr>
        <p:spPr>
          <a:xfrm>
            <a:off x="1060728" y="2722245"/>
            <a:ext cx="3727133" cy="952619"/>
          </a:xfrm>
          <a:prstGeom prst="rect">
            <a:avLst/>
          </a:prstGeom>
          <a:noFill/>
          <a:ln/>
        </p:spPr>
        <p:txBody>
          <a:bodyPr wrap="square" lIns="0" tIns="0" rIns="0" bIns="0" rtlCol="0" anchor="t"/>
          <a:lstStyle/>
          <a:p>
            <a:pPr marL="0" indent="0" algn="l">
              <a:lnSpc>
                <a:spcPts val="2500"/>
              </a:lnSpc>
              <a:buNone/>
            </a:pP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Citicom社：面付け・ネスティングをAIで自動化→</a:t>
            </a: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レイアウト所要「2日→15分」</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a:t>
            </a: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月間ジョブ 1,000→2,000件</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に倍増。</a:t>
            </a:r>
            <a:endParaRPr lang="en-US" sz="1550" dirty="0">
              <a:latin typeface="Meiryo UI" panose="020B0604030504040204" pitchFamily="34" charset="-128"/>
              <a:ea typeface="Meiryo UI" panose="020B0604030504040204" pitchFamily="34" charset="-128"/>
            </a:endParaRPr>
          </a:p>
        </p:txBody>
      </p:sp>
      <p:sp>
        <p:nvSpPr>
          <p:cNvPr id="7" name="Text 5"/>
          <p:cNvSpPr/>
          <p:nvPr/>
        </p:nvSpPr>
        <p:spPr>
          <a:xfrm>
            <a:off x="1060728" y="3793927"/>
            <a:ext cx="3727133" cy="254079"/>
          </a:xfrm>
          <a:prstGeom prst="rect">
            <a:avLst/>
          </a:prstGeom>
          <a:noFill/>
          <a:ln/>
        </p:spPr>
        <p:txBody>
          <a:bodyPr wrap="none" lIns="0" tIns="0" rIns="0" bIns="0" rtlCol="0" anchor="t"/>
          <a:lstStyle/>
          <a:p>
            <a:pPr marL="0" indent="0" algn="l">
              <a:lnSpc>
                <a:spcPts val="2000"/>
              </a:lnSpc>
              <a:buNone/>
            </a:pPr>
            <a:r>
              <a:rPr lang="en-US" sz="1250" i="1" dirty="0">
                <a:solidFill>
                  <a:srgbClr val="464646"/>
                </a:solidFill>
                <a:latin typeface="Meiryo UI" panose="020B0604030504040204" pitchFamily="34" charset="-128"/>
                <a:ea typeface="Meiryo UI" panose="020B0604030504040204" pitchFamily="34" charset="-128"/>
                <a:cs typeface="Inter Medium" pitchFamily="34" charset="-120"/>
              </a:rPr>
              <a:t>出典：Citicomケーススタディ（Tilia/Esko）</a:t>
            </a:r>
            <a:endParaRPr lang="en-US" sz="1250" dirty="0">
              <a:latin typeface="Meiryo UI" panose="020B0604030504040204" pitchFamily="34" charset="-128"/>
              <a:ea typeface="Meiryo UI" panose="020B0604030504040204" pitchFamily="34" charset="-128"/>
            </a:endParaRPr>
          </a:p>
        </p:txBody>
      </p:sp>
      <p:sp>
        <p:nvSpPr>
          <p:cNvPr id="8" name="Shape 6"/>
          <p:cNvSpPr/>
          <p:nvPr/>
        </p:nvSpPr>
        <p:spPr>
          <a:xfrm>
            <a:off x="5207437" y="1761649"/>
            <a:ext cx="4215408" cy="2514957"/>
          </a:xfrm>
          <a:prstGeom prst="roundRect">
            <a:avLst>
              <a:gd name="adj" fmla="val 1184"/>
            </a:avLst>
          </a:prstGeom>
          <a:solidFill>
            <a:srgbClr val="FFFFFF"/>
          </a:solidFill>
          <a:ln w="22860">
            <a:solidFill>
              <a:srgbClr val="93CB52"/>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9" name="Shape 7"/>
          <p:cNvSpPr/>
          <p:nvPr/>
        </p:nvSpPr>
        <p:spPr>
          <a:xfrm>
            <a:off x="5207437" y="1761649"/>
            <a:ext cx="45720" cy="2514957"/>
          </a:xfrm>
          <a:prstGeom prst="roundRect">
            <a:avLst>
              <a:gd name="adj" fmla="val 65116"/>
            </a:avLst>
          </a:prstGeom>
          <a:solidFill>
            <a:srgbClr val="93CB52"/>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10" name="Text 8"/>
          <p:cNvSpPr/>
          <p:nvPr/>
        </p:nvSpPr>
        <p:spPr>
          <a:xfrm>
            <a:off x="5474375" y="1982867"/>
            <a:ext cx="3432929" cy="310158"/>
          </a:xfrm>
          <a:prstGeom prst="rect">
            <a:avLst/>
          </a:prstGeom>
          <a:noFill/>
          <a:ln/>
        </p:spPr>
        <p:txBody>
          <a:bodyPr wrap="none" lIns="0" tIns="0" rIns="0" bIns="0" rtlCol="0" anchor="t"/>
          <a:lstStyle/>
          <a:p>
            <a:pPr marL="0" indent="0" algn="l">
              <a:lnSpc>
                <a:spcPts val="2400"/>
              </a:lnSpc>
              <a:buNone/>
            </a:pPr>
            <a:r>
              <a:rPr lang="en-US" sz="1950" dirty="0">
                <a:solidFill>
                  <a:srgbClr val="464646"/>
                </a:solidFill>
                <a:latin typeface="Meiryo UI" panose="020B0604030504040204" pitchFamily="34" charset="-128"/>
                <a:ea typeface="Meiryo UI" panose="020B0604030504040204" pitchFamily="34" charset="-128"/>
                <a:cs typeface="DM Sans Semi Bold" pitchFamily="34" charset="-120"/>
              </a:rPr>
              <a:t>Komori（KHS-AI／Lithrone）</a:t>
            </a:r>
            <a:endParaRPr lang="en-US" sz="1950" dirty="0">
              <a:latin typeface="Meiryo UI" panose="020B0604030504040204" pitchFamily="34" charset="-128"/>
              <a:ea typeface="Meiryo UI" panose="020B0604030504040204" pitchFamily="34" charset="-128"/>
            </a:endParaRPr>
          </a:p>
        </p:txBody>
      </p:sp>
      <p:sp>
        <p:nvSpPr>
          <p:cNvPr id="11" name="Text 9"/>
          <p:cNvSpPr/>
          <p:nvPr/>
        </p:nvSpPr>
        <p:spPr>
          <a:xfrm>
            <a:off x="5474375" y="2412087"/>
            <a:ext cx="3727252" cy="952619"/>
          </a:xfrm>
          <a:prstGeom prst="rect">
            <a:avLst/>
          </a:prstGeom>
          <a:noFill/>
          <a:ln/>
        </p:spPr>
        <p:txBody>
          <a:bodyPr wrap="square" lIns="0" tIns="0" rIns="0" bIns="0" rtlCol="0" anchor="t"/>
          <a:lstStyle/>
          <a:p>
            <a:pPr marL="0" indent="0" algn="l">
              <a:lnSpc>
                <a:spcPts val="2500"/>
              </a:lnSpc>
              <a:buNone/>
            </a:pP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ベテラン設定の学習によるプリセット最適化。事例では</a:t>
            </a: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メイクレディ時間 50%短縮</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a:t>
            </a: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準備用紙 最大70%削減</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a:t>
            </a:r>
            <a:endParaRPr lang="en-US" sz="1550" dirty="0">
              <a:latin typeface="Meiryo UI" panose="020B0604030504040204" pitchFamily="34" charset="-128"/>
              <a:ea typeface="Meiryo UI" panose="020B0604030504040204" pitchFamily="34" charset="-128"/>
            </a:endParaRPr>
          </a:p>
        </p:txBody>
      </p:sp>
      <p:sp>
        <p:nvSpPr>
          <p:cNvPr id="12" name="Text 10"/>
          <p:cNvSpPr/>
          <p:nvPr/>
        </p:nvSpPr>
        <p:spPr>
          <a:xfrm>
            <a:off x="5474375" y="3483769"/>
            <a:ext cx="3727252" cy="254079"/>
          </a:xfrm>
          <a:prstGeom prst="rect">
            <a:avLst/>
          </a:prstGeom>
          <a:noFill/>
          <a:ln/>
        </p:spPr>
        <p:txBody>
          <a:bodyPr wrap="none" lIns="0" tIns="0" rIns="0" bIns="0" rtlCol="0" anchor="t"/>
          <a:lstStyle/>
          <a:p>
            <a:pPr marL="0" indent="0" algn="l">
              <a:lnSpc>
                <a:spcPts val="2000"/>
              </a:lnSpc>
              <a:buNone/>
            </a:pPr>
            <a:r>
              <a:rPr lang="en-US" sz="1250" i="1" dirty="0">
                <a:solidFill>
                  <a:srgbClr val="464646"/>
                </a:solidFill>
                <a:latin typeface="Meiryo UI" panose="020B0604030504040204" pitchFamily="34" charset="-128"/>
                <a:ea typeface="Meiryo UI" panose="020B0604030504040204" pitchFamily="34" charset="-128"/>
                <a:cs typeface="Inter Medium" pitchFamily="34" charset="-120"/>
              </a:rPr>
              <a:t>出典：Printing Impressions記事、Komori資料</a:t>
            </a:r>
            <a:endParaRPr lang="en-US" sz="1250" dirty="0">
              <a:latin typeface="Meiryo UI" panose="020B0604030504040204" pitchFamily="34" charset="-128"/>
              <a:ea typeface="Meiryo UI" panose="020B0604030504040204" pitchFamily="34" charset="-128"/>
            </a:endParaRPr>
          </a:p>
        </p:txBody>
      </p:sp>
      <p:sp>
        <p:nvSpPr>
          <p:cNvPr id="13" name="Shape 11"/>
          <p:cNvSpPr/>
          <p:nvPr/>
        </p:nvSpPr>
        <p:spPr>
          <a:xfrm>
            <a:off x="9621203" y="1761649"/>
            <a:ext cx="4215289" cy="2514957"/>
          </a:xfrm>
          <a:prstGeom prst="roundRect">
            <a:avLst>
              <a:gd name="adj" fmla="val 1184"/>
            </a:avLst>
          </a:prstGeom>
          <a:solidFill>
            <a:srgbClr val="FFFFFF"/>
          </a:solidFill>
          <a:ln w="22860">
            <a:solidFill>
              <a:srgbClr val="D8D4D4"/>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14" name="Shape 12"/>
          <p:cNvSpPr/>
          <p:nvPr/>
        </p:nvSpPr>
        <p:spPr>
          <a:xfrm>
            <a:off x="9621203" y="1761649"/>
            <a:ext cx="45720" cy="2514957"/>
          </a:xfrm>
          <a:prstGeom prst="roundRect">
            <a:avLst>
              <a:gd name="adj" fmla="val 65116"/>
            </a:avLst>
          </a:prstGeom>
          <a:solidFill>
            <a:srgbClr val="1C9770"/>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15" name="Text 13"/>
          <p:cNvSpPr/>
          <p:nvPr/>
        </p:nvSpPr>
        <p:spPr>
          <a:xfrm>
            <a:off x="9888141" y="1982867"/>
            <a:ext cx="3090982" cy="310158"/>
          </a:xfrm>
          <a:prstGeom prst="rect">
            <a:avLst/>
          </a:prstGeom>
          <a:noFill/>
          <a:ln/>
        </p:spPr>
        <p:txBody>
          <a:bodyPr wrap="none" lIns="0" tIns="0" rIns="0" bIns="0" rtlCol="0" anchor="t"/>
          <a:lstStyle/>
          <a:p>
            <a:pPr marL="0" indent="0" algn="l">
              <a:lnSpc>
                <a:spcPts val="2400"/>
              </a:lnSpc>
              <a:buNone/>
            </a:pPr>
            <a:r>
              <a:rPr lang="en-US" sz="1950" dirty="0">
                <a:solidFill>
                  <a:srgbClr val="464646"/>
                </a:solidFill>
                <a:latin typeface="Meiryo UI" panose="020B0604030504040204" pitchFamily="34" charset="-128"/>
                <a:ea typeface="Meiryo UI" panose="020B0604030504040204" pitchFamily="34" charset="-128"/>
                <a:cs typeface="DM Sans Semi Bold" pitchFamily="34" charset="-120"/>
              </a:rPr>
              <a:t>SCREEN（JetInspection）</a:t>
            </a:r>
            <a:endParaRPr lang="en-US" sz="1950" dirty="0">
              <a:latin typeface="Meiryo UI" panose="020B0604030504040204" pitchFamily="34" charset="-128"/>
              <a:ea typeface="Meiryo UI" panose="020B0604030504040204" pitchFamily="34" charset="-128"/>
            </a:endParaRPr>
          </a:p>
        </p:txBody>
      </p:sp>
      <p:sp>
        <p:nvSpPr>
          <p:cNvPr id="16" name="Text 14"/>
          <p:cNvSpPr/>
          <p:nvPr/>
        </p:nvSpPr>
        <p:spPr>
          <a:xfrm>
            <a:off x="9888141" y="2412087"/>
            <a:ext cx="3727133" cy="1270159"/>
          </a:xfrm>
          <a:prstGeom prst="rect">
            <a:avLst/>
          </a:prstGeom>
          <a:noFill/>
          <a:ln/>
        </p:spPr>
        <p:txBody>
          <a:bodyPr wrap="square" lIns="0" tIns="0" rIns="0" bIns="0" rtlCol="0" anchor="t"/>
          <a:lstStyle/>
          <a:p>
            <a:pPr marL="0" indent="0" algn="l">
              <a:lnSpc>
                <a:spcPts val="2500"/>
              </a:lnSpc>
              <a:buNone/>
            </a:pP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高解像度スキャン＋自動ノズル補正／全ページ検査→</a:t>
            </a: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日次補正時間を大幅短縮</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a:t>
            </a: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稼働率向上</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。Truepress Jet520HD/NX系に標準搭載。</a:t>
            </a:r>
            <a:endParaRPr lang="en-US" sz="1550" dirty="0">
              <a:latin typeface="Meiryo UI" panose="020B0604030504040204" pitchFamily="34" charset="-128"/>
              <a:ea typeface="Meiryo UI" panose="020B0604030504040204" pitchFamily="34" charset="-128"/>
            </a:endParaRPr>
          </a:p>
        </p:txBody>
      </p:sp>
      <p:sp>
        <p:nvSpPr>
          <p:cNvPr id="17" name="Text 15"/>
          <p:cNvSpPr/>
          <p:nvPr/>
        </p:nvSpPr>
        <p:spPr>
          <a:xfrm>
            <a:off x="9888141" y="3801308"/>
            <a:ext cx="3727133" cy="254079"/>
          </a:xfrm>
          <a:prstGeom prst="rect">
            <a:avLst/>
          </a:prstGeom>
          <a:noFill/>
          <a:ln/>
        </p:spPr>
        <p:txBody>
          <a:bodyPr wrap="none" lIns="0" tIns="0" rIns="0" bIns="0" rtlCol="0" anchor="t"/>
          <a:lstStyle/>
          <a:p>
            <a:pPr marL="0" indent="0" algn="l">
              <a:lnSpc>
                <a:spcPts val="2000"/>
              </a:lnSpc>
              <a:buNone/>
            </a:pPr>
            <a:r>
              <a:rPr lang="en-US" sz="1250" i="1" dirty="0">
                <a:solidFill>
                  <a:srgbClr val="464646"/>
                </a:solidFill>
                <a:latin typeface="Meiryo UI" panose="020B0604030504040204" pitchFamily="34" charset="-128"/>
                <a:ea typeface="Meiryo UI" panose="020B0604030504040204" pitchFamily="34" charset="-128"/>
                <a:cs typeface="Inter Medium" pitchFamily="34" charset="-120"/>
              </a:rPr>
              <a:t>出典：SCREEN公式（Europe/Global/AMERICAS）</a:t>
            </a:r>
            <a:endParaRPr lang="en-US" sz="1250" dirty="0">
              <a:latin typeface="Meiryo UI" panose="020B0604030504040204" pitchFamily="34" charset="-128"/>
              <a:ea typeface="Meiryo UI" panose="020B0604030504040204" pitchFamily="34" charset="-128"/>
            </a:endParaRPr>
          </a:p>
        </p:txBody>
      </p:sp>
      <p:sp>
        <p:nvSpPr>
          <p:cNvPr id="18" name="Shape 16"/>
          <p:cNvSpPr/>
          <p:nvPr/>
        </p:nvSpPr>
        <p:spPr>
          <a:xfrm>
            <a:off x="793790" y="4499848"/>
            <a:ext cx="6422231" cy="2507575"/>
          </a:xfrm>
          <a:prstGeom prst="roundRect">
            <a:avLst>
              <a:gd name="adj" fmla="val 1187"/>
            </a:avLst>
          </a:prstGeom>
          <a:solidFill>
            <a:srgbClr val="FFFFFF"/>
          </a:solidFill>
          <a:ln w="22860">
            <a:solidFill>
              <a:srgbClr val="D8D4D4"/>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19" name="Shape 17"/>
          <p:cNvSpPr/>
          <p:nvPr/>
        </p:nvSpPr>
        <p:spPr>
          <a:xfrm>
            <a:off x="793790" y="4499848"/>
            <a:ext cx="45720" cy="2507575"/>
          </a:xfrm>
          <a:prstGeom prst="roundRect">
            <a:avLst>
              <a:gd name="adj" fmla="val 65116"/>
            </a:avLst>
          </a:prstGeom>
          <a:solidFill>
            <a:srgbClr val="1C9770"/>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20" name="Text 18"/>
          <p:cNvSpPr/>
          <p:nvPr/>
        </p:nvSpPr>
        <p:spPr>
          <a:xfrm>
            <a:off x="1060728" y="4721066"/>
            <a:ext cx="5934075" cy="620316"/>
          </a:xfrm>
          <a:prstGeom prst="rect">
            <a:avLst/>
          </a:prstGeom>
          <a:noFill/>
          <a:ln/>
        </p:spPr>
        <p:txBody>
          <a:bodyPr wrap="square" lIns="0" tIns="0" rIns="0" bIns="0" rtlCol="0" anchor="t"/>
          <a:lstStyle/>
          <a:p>
            <a:pPr marL="0" indent="0" algn="l">
              <a:lnSpc>
                <a:spcPts val="2400"/>
              </a:lnSpc>
              <a:buNone/>
            </a:pPr>
            <a:r>
              <a:rPr lang="en-US" sz="1950" dirty="0">
                <a:solidFill>
                  <a:srgbClr val="464646"/>
                </a:solidFill>
                <a:latin typeface="Meiryo UI" panose="020B0604030504040204" pitchFamily="34" charset="-128"/>
                <a:ea typeface="Meiryo UI" panose="020B0604030504040204" pitchFamily="34" charset="-128"/>
                <a:cs typeface="DM Sans Semi Bold" pitchFamily="34" charset="-120"/>
              </a:rPr>
              <a:t>Ricoh（Auto Color Adjuster／Auto Color Diagnosis）</a:t>
            </a:r>
            <a:endParaRPr lang="en-US" sz="1950" dirty="0">
              <a:latin typeface="Meiryo UI" panose="020B0604030504040204" pitchFamily="34" charset="-128"/>
              <a:ea typeface="Meiryo UI" panose="020B0604030504040204" pitchFamily="34" charset="-128"/>
            </a:endParaRPr>
          </a:p>
        </p:txBody>
      </p:sp>
      <p:sp>
        <p:nvSpPr>
          <p:cNvPr id="21" name="Text 19"/>
          <p:cNvSpPr/>
          <p:nvPr/>
        </p:nvSpPr>
        <p:spPr>
          <a:xfrm>
            <a:off x="1060728" y="5460444"/>
            <a:ext cx="5934075" cy="952619"/>
          </a:xfrm>
          <a:prstGeom prst="rect">
            <a:avLst/>
          </a:prstGeom>
          <a:noFill/>
          <a:ln/>
        </p:spPr>
        <p:txBody>
          <a:bodyPr wrap="square" lIns="0" tIns="0" rIns="0" bIns="0" rtlCol="0" anchor="t"/>
          <a:lstStyle/>
          <a:p>
            <a:pPr marL="0" indent="0" algn="l">
              <a:lnSpc>
                <a:spcPts val="2500"/>
              </a:lnSpc>
              <a:buNone/>
            </a:pP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複数機種の色合わせとプロファイル生成を</a:t>
            </a: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「数時間→数分」に短縮</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。印刷中の色変動を自動検出・補正、欠陥検知で不良流出を抑止。</a:t>
            </a:r>
            <a:endParaRPr lang="en-US" sz="1550" dirty="0">
              <a:latin typeface="Meiryo UI" panose="020B0604030504040204" pitchFamily="34" charset="-128"/>
              <a:ea typeface="Meiryo UI" panose="020B0604030504040204" pitchFamily="34" charset="-128"/>
            </a:endParaRPr>
          </a:p>
        </p:txBody>
      </p:sp>
      <p:sp>
        <p:nvSpPr>
          <p:cNvPr id="22" name="Text 20"/>
          <p:cNvSpPr/>
          <p:nvPr/>
        </p:nvSpPr>
        <p:spPr>
          <a:xfrm>
            <a:off x="1060728" y="6532126"/>
            <a:ext cx="5934075" cy="254079"/>
          </a:xfrm>
          <a:prstGeom prst="rect">
            <a:avLst/>
          </a:prstGeom>
          <a:noFill/>
          <a:ln/>
        </p:spPr>
        <p:txBody>
          <a:bodyPr wrap="none" lIns="0" tIns="0" rIns="0" bIns="0" rtlCol="0" anchor="t"/>
          <a:lstStyle/>
          <a:p>
            <a:pPr marL="0" indent="0" algn="l">
              <a:lnSpc>
                <a:spcPts val="2000"/>
              </a:lnSpc>
              <a:buNone/>
            </a:pPr>
            <a:r>
              <a:rPr lang="en-US" sz="1250" i="1" dirty="0">
                <a:solidFill>
                  <a:srgbClr val="464646"/>
                </a:solidFill>
                <a:latin typeface="Meiryo UI" panose="020B0604030504040204" pitchFamily="34" charset="-128"/>
                <a:ea typeface="Meiryo UI" panose="020B0604030504040204" pitchFamily="34" charset="-128"/>
                <a:cs typeface="Inter Medium" pitchFamily="34" charset="-120"/>
              </a:rPr>
              <a:t>出典：Ricoh公式リリース・取扱資料</a:t>
            </a:r>
            <a:endParaRPr lang="en-US" sz="1250" dirty="0">
              <a:latin typeface="Meiryo UI" panose="020B0604030504040204" pitchFamily="34" charset="-128"/>
              <a:ea typeface="Meiryo UI" panose="020B0604030504040204" pitchFamily="34" charset="-128"/>
            </a:endParaRPr>
          </a:p>
        </p:txBody>
      </p:sp>
      <p:sp>
        <p:nvSpPr>
          <p:cNvPr id="23" name="Shape 21"/>
          <p:cNvSpPr/>
          <p:nvPr/>
        </p:nvSpPr>
        <p:spPr>
          <a:xfrm>
            <a:off x="7414379" y="4499848"/>
            <a:ext cx="6422231" cy="2507575"/>
          </a:xfrm>
          <a:prstGeom prst="roundRect">
            <a:avLst>
              <a:gd name="adj" fmla="val 1187"/>
            </a:avLst>
          </a:prstGeom>
          <a:solidFill>
            <a:srgbClr val="FFFFFF"/>
          </a:solidFill>
          <a:ln w="22860">
            <a:solidFill>
              <a:srgbClr val="D8D4D4"/>
            </a:solidFill>
            <a:prstDash val="solid"/>
          </a:ln>
        </p:spPr>
        <p:txBody>
          <a:bodyPr/>
          <a:lstStyle/>
          <a:p>
            <a:endParaRPr lang="ja-GU" altLang="en-US">
              <a:latin typeface="Meiryo UI" panose="020B0604030504040204" pitchFamily="34" charset="-128"/>
              <a:ea typeface="Meiryo UI" panose="020B0604030504040204" pitchFamily="34" charset="-128"/>
            </a:endParaRPr>
          </a:p>
        </p:txBody>
      </p:sp>
      <p:sp>
        <p:nvSpPr>
          <p:cNvPr id="24" name="Shape 22"/>
          <p:cNvSpPr/>
          <p:nvPr/>
        </p:nvSpPr>
        <p:spPr>
          <a:xfrm>
            <a:off x="7414379" y="4499848"/>
            <a:ext cx="45720" cy="2507575"/>
          </a:xfrm>
          <a:prstGeom prst="roundRect">
            <a:avLst>
              <a:gd name="adj" fmla="val 65116"/>
            </a:avLst>
          </a:prstGeom>
          <a:solidFill>
            <a:srgbClr val="1C9770"/>
          </a:solidFill>
          <a:ln/>
        </p:spPr>
        <p:txBody>
          <a:bodyPr/>
          <a:lstStyle/>
          <a:p>
            <a:endParaRPr lang="ja-GU" altLang="en-US">
              <a:latin typeface="Meiryo UI" panose="020B0604030504040204" pitchFamily="34" charset="-128"/>
              <a:ea typeface="Meiryo UI" panose="020B0604030504040204" pitchFamily="34" charset="-128"/>
            </a:endParaRPr>
          </a:p>
        </p:txBody>
      </p:sp>
      <p:sp>
        <p:nvSpPr>
          <p:cNvPr id="25" name="Text 23"/>
          <p:cNvSpPr/>
          <p:nvPr/>
        </p:nvSpPr>
        <p:spPr>
          <a:xfrm>
            <a:off x="7681317" y="4721066"/>
            <a:ext cx="4496157" cy="310158"/>
          </a:xfrm>
          <a:prstGeom prst="rect">
            <a:avLst/>
          </a:prstGeom>
          <a:noFill/>
          <a:ln/>
        </p:spPr>
        <p:txBody>
          <a:bodyPr wrap="none" lIns="0" tIns="0" rIns="0" bIns="0" rtlCol="0" anchor="t"/>
          <a:lstStyle/>
          <a:p>
            <a:pPr marL="0" indent="0" algn="l">
              <a:lnSpc>
                <a:spcPts val="2400"/>
              </a:lnSpc>
              <a:buNone/>
            </a:pPr>
            <a:r>
              <a:rPr lang="en-US" sz="1950" dirty="0">
                <a:solidFill>
                  <a:srgbClr val="464646"/>
                </a:solidFill>
                <a:latin typeface="Meiryo UI" panose="020B0604030504040204" pitchFamily="34" charset="-128"/>
                <a:ea typeface="Meiryo UI" panose="020B0604030504040204" pitchFamily="34" charset="-128"/>
                <a:cs typeface="DM Sans Semi Bold" pitchFamily="34" charset="-120"/>
              </a:rPr>
              <a:t>Xerox（PredictPrint Media Manager）</a:t>
            </a:r>
            <a:endParaRPr lang="en-US" sz="1950" dirty="0">
              <a:latin typeface="Meiryo UI" panose="020B0604030504040204" pitchFamily="34" charset="-128"/>
              <a:ea typeface="Meiryo UI" panose="020B0604030504040204" pitchFamily="34" charset="-128"/>
            </a:endParaRPr>
          </a:p>
        </p:txBody>
      </p:sp>
      <p:sp>
        <p:nvSpPr>
          <p:cNvPr id="26" name="Text 24"/>
          <p:cNvSpPr/>
          <p:nvPr/>
        </p:nvSpPr>
        <p:spPr>
          <a:xfrm>
            <a:off x="7681317" y="5150287"/>
            <a:ext cx="5934075" cy="635079"/>
          </a:xfrm>
          <a:prstGeom prst="rect">
            <a:avLst/>
          </a:prstGeom>
          <a:noFill/>
          <a:ln/>
        </p:spPr>
        <p:txBody>
          <a:bodyPr wrap="square" lIns="0" tIns="0" rIns="0" bIns="0" rtlCol="0" anchor="t"/>
          <a:lstStyle/>
          <a:p>
            <a:pPr marL="0" indent="0" algn="l">
              <a:lnSpc>
                <a:spcPts val="2500"/>
              </a:lnSpc>
              <a:buNone/>
            </a:pP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クラウドの群集データとAIで用紙ごとの最適条件を自動適用→</a:t>
            </a: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初期立上げを短縮</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a:t>
            </a:r>
            <a:r>
              <a:rPr lang="en-US" sz="1550" b="1" dirty="0">
                <a:solidFill>
                  <a:srgbClr val="464646"/>
                </a:solidFill>
                <a:latin typeface="Meiryo UI" panose="020B0604030504040204" pitchFamily="34" charset="-128"/>
                <a:ea typeface="Meiryo UI" panose="020B0604030504040204" pitchFamily="34" charset="-128"/>
                <a:cs typeface="Inter Medium" pitchFamily="34" charset="-120"/>
              </a:rPr>
              <a:t>オペレータ依存を低減</a:t>
            </a:r>
            <a:r>
              <a:rPr lang="en-US" sz="1550" dirty="0">
                <a:solidFill>
                  <a:srgbClr val="464646"/>
                </a:solidFill>
                <a:latin typeface="Meiryo UI" panose="020B0604030504040204" pitchFamily="34" charset="-128"/>
                <a:ea typeface="Meiryo UI" panose="020B0604030504040204" pitchFamily="34" charset="-128"/>
                <a:cs typeface="Inter Medium" pitchFamily="34" charset="-120"/>
              </a:rPr>
              <a:t>。</a:t>
            </a:r>
            <a:endParaRPr lang="en-US" sz="1550" dirty="0">
              <a:latin typeface="Meiryo UI" panose="020B0604030504040204" pitchFamily="34" charset="-128"/>
              <a:ea typeface="Meiryo UI" panose="020B0604030504040204" pitchFamily="34" charset="-128"/>
            </a:endParaRPr>
          </a:p>
        </p:txBody>
      </p:sp>
      <p:sp>
        <p:nvSpPr>
          <p:cNvPr id="27" name="Text 25"/>
          <p:cNvSpPr/>
          <p:nvPr/>
        </p:nvSpPr>
        <p:spPr>
          <a:xfrm>
            <a:off x="7681317" y="5904428"/>
            <a:ext cx="5934075" cy="254079"/>
          </a:xfrm>
          <a:prstGeom prst="rect">
            <a:avLst/>
          </a:prstGeom>
          <a:noFill/>
          <a:ln/>
        </p:spPr>
        <p:txBody>
          <a:bodyPr wrap="none" lIns="0" tIns="0" rIns="0" bIns="0" rtlCol="0" anchor="t"/>
          <a:lstStyle/>
          <a:p>
            <a:pPr marL="0" indent="0" algn="l">
              <a:lnSpc>
                <a:spcPts val="2000"/>
              </a:lnSpc>
              <a:buNone/>
            </a:pPr>
            <a:r>
              <a:rPr lang="en-US" sz="1250" i="1" dirty="0">
                <a:solidFill>
                  <a:srgbClr val="464646"/>
                </a:solidFill>
                <a:latin typeface="Meiryo UI" panose="020B0604030504040204" pitchFamily="34" charset="-128"/>
                <a:ea typeface="Meiryo UI" panose="020B0604030504040204" pitchFamily="34" charset="-128"/>
                <a:cs typeface="Inter Medium" pitchFamily="34" charset="-120"/>
              </a:rPr>
              <a:t>出典：Xerox公式・ケース</a:t>
            </a:r>
            <a:endParaRPr lang="en-US" sz="1250" dirty="0">
              <a:latin typeface="Meiryo UI" panose="020B0604030504040204" pitchFamily="34" charset="-128"/>
              <a:ea typeface="Meiryo UI" panose="020B0604030504040204" pitchFamily="34" charset="-128"/>
            </a:endParaRPr>
          </a:p>
        </p:txBody>
      </p:sp>
      <p:sp>
        <p:nvSpPr>
          <p:cNvPr id="28" name="Text 26"/>
          <p:cNvSpPr/>
          <p:nvPr/>
        </p:nvSpPr>
        <p:spPr>
          <a:xfrm>
            <a:off x="793790" y="7230666"/>
            <a:ext cx="13042821" cy="254079"/>
          </a:xfrm>
          <a:prstGeom prst="rect">
            <a:avLst/>
          </a:prstGeom>
          <a:noFill/>
          <a:ln/>
        </p:spPr>
        <p:txBody>
          <a:bodyPr wrap="none" lIns="0" tIns="0" rIns="0" bIns="0" rtlCol="0" anchor="t"/>
          <a:lstStyle/>
          <a:p>
            <a:pPr marL="0" indent="0" algn="l">
              <a:lnSpc>
                <a:spcPts val="2000"/>
              </a:lnSpc>
              <a:buNone/>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注：一部はAI＋高度自動化の複合機能です。効果値は各社公表・個別事例に基づくため、実導入環境での再現検証（PoC）が必要です。</a:t>
            </a:r>
            <a:endParaRPr lang="en-US" sz="1250" dirty="0">
              <a:latin typeface="Meiryo UI" panose="020B0604030504040204" pitchFamily="34" charset="-128"/>
              <a:ea typeface="Meiryo UI" panose="020B0604030504040204" pitchFamily="34" charset="-12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1442918"/>
            <a:ext cx="6449854" cy="620078"/>
          </a:xfrm>
          <a:prstGeom prst="rect">
            <a:avLst/>
          </a:prstGeom>
          <a:noFill/>
          <a:ln/>
        </p:spPr>
        <p:txBody>
          <a:bodyPr wrap="none" lIns="0" tIns="0" rIns="0" bIns="0" rtlCol="0" anchor="t"/>
          <a:lstStyle/>
          <a:p>
            <a:pPr marL="0" indent="0" algn="l">
              <a:lnSpc>
                <a:spcPts val="4850"/>
              </a:lnSpc>
              <a:buNone/>
            </a:pPr>
            <a:r>
              <a:rPr lang="en-US" sz="3900" b="1" dirty="0">
                <a:solidFill>
                  <a:srgbClr val="030303"/>
                </a:solidFill>
                <a:latin typeface="Meiryo UI" panose="020B0604030504040204" pitchFamily="34" charset="-128"/>
                <a:ea typeface="Meiryo UI" panose="020B0604030504040204" pitchFamily="34" charset="-128"/>
                <a:cs typeface="DM Sans Semi Bold" pitchFamily="34" charset="-120"/>
              </a:rPr>
              <a:t>参考データ＆出典（脚注用）</a:t>
            </a:r>
            <a:endParaRPr lang="en-US" sz="3900" b="1" dirty="0">
              <a:latin typeface="Meiryo UI" panose="020B0604030504040204" pitchFamily="34" charset="-128"/>
              <a:ea typeface="Meiryo UI" panose="020B0604030504040204" pitchFamily="34" charset="-128"/>
            </a:endParaRPr>
          </a:p>
        </p:txBody>
      </p:sp>
      <p:sp>
        <p:nvSpPr>
          <p:cNvPr id="3" name="Text 1"/>
          <p:cNvSpPr/>
          <p:nvPr/>
        </p:nvSpPr>
        <p:spPr>
          <a:xfrm>
            <a:off x="793790" y="2459831"/>
            <a:ext cx="13042821" cy="254079"/>
          </a:xfrm>
          <a:prstGeom prst="rect">
            <a:avLst/>
          </a:prstGeom>
          <a:noFill/>
          <a:ln/>
        </p:spPr>
        <p:txBody>
          <a:bodyPr wrap="none" lIns="0" tIns="0" rIns="0" bIns="0" rtlCol="0" anchor="t"/>
          <a:lstStyle/>
          <a:p>
            <a:pPr marL="0" indent="0" algn="l">
              <a:lnSpc>
                <a:spcPts val="2000"/>
              </a:lnSpc>
              <a:buNone/>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Heidelberg Hycolor Assistant／Push to Stop／Intellistart 3（効果数値）</a:t>
            </a:r>
            <a:endParaRPr lang="en-US" sz="1250" dirty="0">
              <a:latin typeface="Meiryo UI" panose="020B0604030504040204" pitchFamily="34" charset="-128"/>
              <a:ea typeface="Meiryo UI" panose="020B0604030504040204" pitchFamily="34" charset="-128"/>
            </a:endParaRPr>
          </a:p>
        </p:txBody>
      </p:sp>
      <p:sp>
        <p:nvSpPr>
          <p:cNvPr id="4" name="Text 2"/>
          <p:cNvSpPr/>
          <p:nvPr/>
        </p:nvSpPr>
        <p:spPr>
          <a:xfrm>
            <a:off x="793790" y="2937153"/>
            <a:ext cx="13042821" cy="254079"/>
          </a:xfrm>
          <a:prstGeom prst="rect">
            <a:avLst/>
          </a:prstGeom>
          <a:noFill/>
          <a:ln/>
        </p:spPr>
        <p:txBody>
          <a:bodyPr wrap="none" lIns="0" tIns="0" rIns="0" bIns="0" rtlCol="0" anchor="t"/>
          <a:lstStyle/>
          <a:p>
            <a:pPr marL="0" indent="0" algn="l">
              <a:lnSpc>
                <a:spcPts val="2000"/>
              </a:lnSpc>
              <a:buNone/>
            </a:pPr>
            <a:r>
              <a:rPr lang="en-US" sz="1250" u="sng" dirty="0">
                <a:solidFill>
                  <a:srgbClr val="1C9770"/>
                </a:solidFill>
                <a:latin typeface="Meiryo UI" panose="020B0604030504040204" pitchFamily="34" charset="-128"/>
                <a:ea typeface="Meiryo UI" panose="020B0604030504040204" pitchFamily="34" charset="-128"/>
                <a:cs typeface="Inter Medium" pitchFamily="34" charset="-120"/>
                <a:hlinkClick r:id="rId3">
                  <a:extLst>
                    <a:ext uri="{A12FA001-AC4F-418D-AE19-62706E023703}">
                      <ahyp:hlinkClr xmlns:ahyp="http://schemas.microsoft.com/office/drawing/2018/hyperlinkcolor" val="tx"/>
                    </a:ext>
                  </a:extLst>
                </a:hlinkClick>
              </a:rPr>
              <a:t>https://www.heidelberg.com/global/en/about_heidelberg/press_relations/press_release/press_release_220225.jsp</a:t>
            </a:r>
            <a:endParaRPr lang="en-US" sz="1250" dirty="0">
              <a:latin typeface="Meiryo UI" panose="020B0604030504040204" pitchFamily="34" charset="-128"/>
              <a:ea typeface="Meiryo UI" panose="020B0604030504040204" pitchFamily="34" charset="-128"/>
            </a:endParaRPr>
          </a:p>
        </p:txBody>
      </p:sp>
      <p:sp>
        <p:nvSpPr>
          <p:cNvPr id="5" name="Text 3"/>
          <p:cNvSpPr/>
          <p:nvPr/>
        </p:nvSpPr>
        <p:spPr>
          <a:xfrm>
            <a:off x="793790" y="3414474"/>
            <a:ext cx="13042821" cy="508159"/>
          </a:xfrm>
          <a:prstGeom prst="rect">
            <a:avLst/>
          </a:prstGeom>
          <a:noFill/>
          <a:ln/>
        </p:spPr>
        <p:txBody>
          <a:bodyPr wrap="square" lIns="0" tIns="0" rIns="0" bIns="0" rtlCol="0" anchor="t"/>
          <a:lstStyle/>
          <a:p>
            <a:pPr marL="0" indent="0" algn="l">
              <a:lnSpc>
                <a:spcPts val="2000"/>
              </a:lnSpc>
              <a:buNone/>
            </a:pPr>
            <a:r>
              <a:rPr lang="en-US" sz="1250" u="sng" dirty="0">
                <a:solidFill>
                  <a:srgbClr val="1C9770"/>
                </a:solidFill>
                <a:latin typeface="Meiryo UI" panose="020B0604030504040204" pitchFamily="34" charset="-128"/>
                <a:ea typeface="Meiryo UI" panose="020B0604030504040204" pitchFamily="34" charset="-128"/>
                <a:cs typeface="Inter Medium" pitchFamily="34" charset="-120"/>
                <a:hlinkClick r:id="rId4">
                  <a:extLst>
                    <a:ext uri="{A12FA001-AC4F-418D-AE19-62706E023703}">
                      <ahyp:hlinkClr xmlns:ahyp="http://schemas.microsoft.com/office/drawing/2018/hyperlinkcolor" val="tx"/>
                    </a:ext>
                  </a:extLst>
                </a:hlinkClick>
              </a:rPr>
              <a:t>https://www.heidelberg.com/global/media/en/global_media/products___sheetfed_offset/2020_20/product_brochures_1/HEIDELBERG_Speedmaster_XL_106_Packaging.pdf</a:t>
            </a:r>
            <a:endParaRPr lang="en-US" sz="1250" dirty="0">
              <a:latin typeface="Meiryo UI" panose="020B0604030504040204" pitchFamily="34" charset="-128"/>
              <a:ea typeface="Meiryo UI" panose="020B0604030504040204" pitchFamily="34" charset="-128"/>
            </a:endParaRPr>
          </a:p>
        </p:txBody>
      </p:sp>
      <p:sp>
        <p:nvSpPr>
          <p:cNvPr id="6" name="Text 4"/>
          <p:cNvSpPr/>
          <p:nvPr/>
        </p:nvSpPr>
        <p:spPr>
          <a:xfrm>
            <a:off x="793790" y="4145875"/>
            <a:ext cx="13042821" cy="254079"/>
          </a:xfrm>
          <a:prstGeom prst="rect">
            <a:avLst/>
          </a:prstGeom>
          <a:noFill/>
          <a:ln/>
        </p:spPr>
        <p:txBody>
          <a:bodyPr wrap="none" lIns="0" tIns="0" rIns="0" bIns="0" rtlCol="0" anchor="t"/>
          <a:lstStyle/>
          <a:p>
            <a:pPr marL="0" indent="0" algn="l">
              <a:lnSpc>
                <a:spcPts val="2000"/>
              </a:lnSpc>
              <a:buNone/>
            </a:pPr>
            <a:r>
              <a:rPr lang="en-US" sz="1250" u="sng" dirty="0">
                <a:solidFill>
                  <a:srgbClr val="1C9770"/>
                </a:solidFill>
                <a:latin typeface="Meiryo UI" panose="020B0604030504040204" pitchFamily="34" charset="-128"/>
                <a:ea typeface="Meiryo UI" panose="020B0604030504040204" pitchFamily="34" charset="-128"/>
                <a:cs typeface="Inter Medium" pitchFamily="34" charset="-120"/>
                <a:hlinkClick r:id="rId5">
                  <a:extLst>
                    <a:ext uri="{A12FA001-AC4F-418D-AE19-62706E023703}">
                      <ahyp:hlinkClr xmlns:ahyp="http://schemas.microsoft.com/office/drawing/2018/hyperlinkcolor" val="tx"/>
                    </a:ext>
                  </a:extLst>
                </a:hlinkClick>
              </a:rPr>
              <a:t>https://www.packagingimpressions.com/article/heidelberg-unveils-new-peak-performance-technology/</a:t>
            </a:r>
            <a:endParaRPr lang="en-US" sz="1250" dirty="0">
              <a:latin typeface="Meiryo UI" panose="020B0604030504040204" pitchFamily="34" charset="-128"/>
              <a:ea typeface="Meiryo UI" panose="020B0604030504040204" pitchFamily="34" charset="-128"/>
            </a:endParaRPr>
          </a:p>
        </p:txBody>
      </p:sp>
      <p:sp>
        <p:nvSpPr>
          <p:cNvPr id="7" name="Text 5"/>
          <p:cNvSpPr/>
          <p:nvPr/>
        </p:nvSpPr>
        <p:spPr>
          <a:xfrm>
            <a:off x="793790" y="4623197"/>
            <a:ext cx="13042821" cy="254079"/>
          </a:xfrm>
          <a:prstGeom prst="rect">
            <a:avLst/>
          </a:prstGeom>
          <a:noFill/>
          <a:ln/>
        </p:spPr>
        <p:txBody>
          <a:bodyPr wrap="none" lIns="0" tIns="0" rIns="0" bIns="0" rtlCol="0" anchor="t"/>
          <a:lstStyle/>
          <a:p>
            <a:pPr marL="0" indent="0" algn="l">
              <a:lnSpc>
                <a:spcPts val="2000"/>
              </a:lnSpc>
              <a:buNone/>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HP Indigo PrintOS／Predictive Press Care（重大故障80%↓、計画外サービス&gt;20%↓）</a:t>
            </a:r>
            <a:endParaRPr lang="en-US" sz="1250" dirty="0">
              <a:latin typeface="Meiryo UI" panose="020B0604030504040204" pitchFamily="34" charset="-128"/>
              <a:ea typeface="Meiryo UI" panose="020B0604030504040204" pitchFamily="34" charset="-128"/>
            </a:endParaRPr>
          </a:p>
        </p:txBody>
      </p:sp>
      <p:sp>
        <p:nvSpPr>
          <p:cNvPr id="8" name="Text 6"/>
          <p:cNvSpPr/>
          <p:nvPr/>
        </p:nvSpPr>
        <p:spPr>
          <a:xfrm>
            <a:off x="793790" y="5100518"/>
            <a:ext cx="13042821" cy="254079"/>
          </a:xfrm>
          <a:prstGeom prst="rect">
            <a:avLst/>
          </a:prstGeom>
          <a:noFill/>
          <a:ln/>
        </p:spPr>
        <p:txBody>
          <a:bodyPr wrap="none" lIns="0" tIns="0" rIns="0" bIns="0" rtlCol="0" anchor="t"/>
          <a:lstStyle/>
          <a:p>
            <a:pPr marL="0" indent="0" algn="l">
              <a:lnSpc>
                <a:spcPts val="2000"/>
              </a:lnSpc>
              <a:buNone/>
            </a:pPr>
            <a:r>
              <a:rPr lang="en-US" sz="1250" u="sng" dirty="0">
                <a:solidFill>
                  <a:srgbClr val="1C9770"/>
                </a:solidFill>
                <a:latin typeface="Meiryo UI" panose="020B0604030504040204" pitchFamily="34" charset="-128"/>
                <a:ea typeface="Meiryo UI" panose="020B0604030504040204" pitchFamily="34" charset="-128"/>
                <a:cs typeface="Inter Medium" pitchFamily="34" charset="-120"/>
                <a:hlinkClick r:id="rId6">
                  <a:extLst>
                    <a:ext uri="{A12FA001-AC4F-418D-AE19-62706E023703}">
                      <ahyp:hlinkClr xmlns:ahyp="http://schemas.microsoft.com/office/drawing/2018/hyperlinkcolor" val="tx"/>
                    </a:ext>
                  </a:extLst>
                </a:hlinkClick>
              </a:rPr>
              <a:t>https://www.hp.com/us-en/industrial-digital-presses/print-workflow-automation-management-solutions-site-flow.html</a:t>
            </a:r>
            <a:endParaRPr lang="en-US" sz="1250" dirty="0">
              <a:latin typeface="Meiryo UI" panose="020B0604030504040204" pitchFamily="34" charset="-128"/>
              <a:ea typeface="Meiryo UI" panose="020B0604030504040204" pitchFamily="34" charset="-128"/>
            </a:endParaRPr>
          </a:p>
        </p:txBody>
      </p:sp>
      <p:sp>
        <p:nvSpPr>
          <p:cNvPr id="9" name="Text 7"/>
          <p:cNvSpPr/>
          <p:nvPr/>
        </p:nvSpPr>
        <p:spPr>
          <a:xfrm>
            <a:off x="793790" y="5577840"/>
            <a:ext cx="13042821" cy="254079"/>
          </a:xfrm>
          <a:prstGeom prst="rect">
            <a:avLst/>
          </a:prstGeom>
          <a:noFill/>
          <a:ln/>
        </p:spPr>
        <p:txBody>
          <a:bodyPr wrap="none" lIns="0" tIns="0" rIns="0" bIns="0" rtlCol="0" anchor="t"/>
          <a:lstStyle/>
          <a:p>
            <a:pPr marL="0" indent="0" algn="l">
              <a:lnSpc>
                <a:spcPts val="2000"/>
              </a:lnSpc>
              <a:buNone/>
            </a:pPr>
            <a:r>
              <a:rPr lang="en-US" sz="1250" u="sng" dirty="0">
                <a:solidFill>
                  <a:srgbClr val="1C9770"/>
                </a:solidFill>
                <a:latin typeface="Meiryo UI" panose="020B0604030504040204" pitchFamily="34" charset="-128"/>
                <a:ea typeface="Meiryo UI" panose="020B0604030504040204" pitchFamily="34" charset="-128"/>
                <a:cs typeface="Inter Medium" pitchFamily="34" charset="-120"/>
                <a:hlinkClick r:id="rId7">
                  <a:extLst>
                    <a:ext uri="{A12FA001-AC4F-418D-AE19-62706E023703}">
                      <ahyp:hlinkClr xmlns:ahyp="http://schemas.microsoft.com/office/drawing/2018/hyperlinkcolor" val="tx"/>
                    </a:ext>
                  </a:extLst>
                </a:hlinkClick>
              </a:rPr>
              <a:t>https://digitalprinting.hp.com/content/dam/sites/possibility-city/indigo-printers/supply-chain-optimization/HPIndigoQuickGuideEMEA_20190818022715.pdf</a:t>
            </a:r>
            <a:endParaRPr lang="en-US" sz="1250" dirty="0">
              <a:latin typeface="Meiryo UI" panose="020B0604030504040204" pitchFamily="34" charset="-128"/>
              <a:ea typeface="Meiryo UI" panose="020B0604030504040204" pitchFamily="34" charset="-128"/>
            </a:endParaRPr>
          </a:p>
        </p:txBody>
      </p:sp>
      <p:sp>
        <p:nvSpPr>
          <p:cNvPr id="10" name="Text 8"/>
          <p:cNvSpPr/>
          <p:nvPr/>
        </p:nvSpPr>
        <p:spPr>
          <a:xfrm>
            <a:off x="793790" y="6055162"/>
            <a:ext cx="13042821" cy="254079"/>
          </a:xfrm>
          <a:prstGeom prst="rect">
            <a:avLst/>
          </a:prstGeom>
          <a:noFill/>
          <a:ln/>
        </p:spPr>
        <p:txBody>
          <a:bodyPr wrap="none" lIns="0" tIns="0" rIns="0" bIns="0" rtlCol="0" anchor="t"/>
          <a:lstStyle/>
          <a:p>
            <a:pPr marL="0" indent="0" algn="l">
              <a:lnSpc>
                <a:spcPts val="2000"/>
              </a:lnSpc>
              <a:buNone/>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Konica Minolta AccurioPress IQ-501（30分→5分未満）</a:t>
            </a:r>
            <a:endParaRPr lang="en-US" sz="1250" dirty="0">
              <a:latin typeface="Meiryo UI" panose="020B0604030504040204" pitchFamily="34" charset="-128"/>
              <a:ea typeface="Meiryo UI" panose="020B0604030504040204" pitchFamily="34" charset="-128"/>
            </a:endParaRPr>
          </a:p>
        </p:txBody>
      </p:sp>
      <p:sp>
        <p:nvSpPr>
          <p:cNvPr id="11" name="Text 9"/>
          <p:cNvSpPr/>
          <p:nvPr/>
        </p:nvSpPr>
        <p:spPr>
          <a:xfrm>
            <a:off x="793790" y="6532483"/>
            <a:ext cx="13042821" cy="254079"/>
          </a:xfrm>
          <a:prstGeom prst="rect">
            <a:avLst/>
          </a:prstGeom>
          <a:noFill/>
          <a:ln/>
        </p:spPr>
        <p:txBody>
          <a:bodyPr wrap="none" lIns="0" tIns="0" rIns="0" bIns="0" rtlCol="0" anchor="t"/>
          <a:lstStyle/>
          <a:p>
            <a:pPr marL="0" indent="0" algn="l">
              <a:lnSpc>
                <a:spcPts val="2000"/>
              </a:lnSpc>
              <a:buNone/>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https://www.konicaminolta.jp/business/products/production-print/accuriopress/iq-501/index.html</a:t>
            </a:r>
            <a:endParaRPr lang="en-US" sz="1250" dirty="0">
              <a:latin typeface="Meiryo UI" panose="020B0604030504040204" pitchFamily="34" charset="-128"/>
              <a:ea typeface="Meiryo UI" panose="020B0604030504040204" pitchFamily="34" charset="-128"/>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854035"/>
            <a:ext cx="5953720" cy="620078"/>
          </a:xfrm>
          <a:prstGeom prst="rect">
            <a:avLst/>
          </a:prstGeom>
          <a:noFill/>
          <a:ln/>
        </p:spPr>
        <p:txBody>
          <a:bodyPr wrap="none" lIns="0" tIns="0" rIns="0" bIns="0" rtlCol="0" anchor="t"/>
          <a:lstStyle/>
          <a:p>
            <a:pPr marL="0" indent="0" algn="l">
              <a:lnSpc>
                <a:spcPts val="4850"/>
              </a:lnSpc>
              <a:buNone/>
            </a:pPr>
            <a:r>
              <a:rPr lang="en-US" sz="3900" b="1" dirty="0">
                <a:solidFill>
                  <a:srgbClr val="030303"/>
                </a:solidFill>
                <a:latin typeface="Meiryo UI" panose="020B0604030504040204" pitchFamily="34" charset="-128"/>
                <a:ea typeface="Meiryo UI" panose="020B0604030504040204" pitchFamily="34" charset="-128"/>
                <a:cs typeface="DM Sans Semi Bold" pitchFamily="34" charset="-120"/>
              </a:rPr>
              <a:t>参考データ＆出典（続き）</a:t>
            </a:r>
            <a:endParaRPr lang="en-US" sz="3900" b="1" dirty="0">
              <a:latin typeface="Meiryo UI" panose="020B0604030504040204" pitchFamily="34" charset="-128"/>
              <a:ea typeface="Meiryo UI" panose="020B0604030504040204" pitchFamily="34" charset="-128"/>
            </a:endParaRPr>
          </a:p>
        </p:txBody>
      </p:sp>
      <p:sp>
        <p:nvSpPr>
          <p:cNvPr id="3" name="Text 1"/>
          <p:cNvSpPr/>
          <p:nvPr/>
        </p:nvSpPr>
        <p:spPr>
          <a:xfrm>
            <a:off x="793790" y="1870948"/>
            <a:ext cx="13042821" cy="254079"/>
          </a:xfrm>
          <a:prstGeom prst="rect">
            <a:avLst/>
          </a:prstGeom>
          <a:noFill/>
          <a:ln/>
        </p:spPr>
        <p:txBody>
          <a:bodyPr wrap="none" lIns="0" tIns="0" rIns="0" bIns="0" rtlCol="0" anchor="t"/>
          <a:lstStyle/>
          <a:p>
            <a:pPr marL="0" indent="0" algn="l">
              <a:lnSpc>
                <a:spcPts val="2000"/>
              </a:lnSpc>
              <a:buNone/>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Kodak PRINERGY ColorFlow｜Ink Optimizing（インク最大30%削減）</a:t>
            </a:r>
            <a:endParaRPr lang="en-US" sz="1250" dirty="0">
              <a:latin typeface="Meiryo UI" panose="020B0604030504040204" pitchFamily="34" charset="-128"/>
              <a:ea typeface="Meiryo UI" panose="020B0604030504040204" pitchFamily="34" charset="-128"/>
            </a:endParaRPr>
          </a:p>
        </p:txBody>
      </p:sp>
      <p:sp>
        <p:nvSpPr>
          <p:cNvPr id="4" name="Text 2"/>
          <p:cNvSpPr/>
          <p:nvPr/>
        </p:nvSpPr>
        <p:spPr>
          <a:xfrm>
            <a:off x="793790" y="2348270"/>
            <a:ext cx="13042821" cy="254079"/>
          </a:xfrm>
          <a:prstGeom prst="rect">
            <a:avLst/>
          </a:prstGeom>
          <a:noFill/>
          <a:ln/>
        </p:spPr>
        <p:txBody>
          <a:bodyPr wrap="none" lIns="0" tIns="0" rIns="0" bIns="0" rtlCol="0" anchor="t"/>
          <a:lstStyle/>
          <a:p>
            <a:pPr marL="0" indent="0" algn="l">
              <a:lnSpc>
                <a:spcPts val="2000"/>
              </a:lnSpc>
              <a:buNone/>
            </a:pPr>
            <a:r>
              <a:rPr lang="en-US" sz="1250" u="sng" dirty="0">
                <a:solidFill>
                  <a:srgbClr val="1C9770"/>
                </a:solidFill>
                <a:latin typeface="Meiryo UI" panose="020B0604030504040204" pitchFamily="34" charset="-128"/>
                <a:ea typeface="Meiryo UI" panose="020B0604030504040204" pitchFamily="34" charset="-128"/>
                <a:cs typeface="Inter Medium" pitchFamily="34" charset="-120"/>
                <a:hlinkClick r:id="rId3">
                  <a:extLst>
                    <a:ext uri="{A12FA001-AC4F-418D-AE19-62706E023703}">
                      <ahyp:hlinkClr xmlns:ahyp="http://schemas.microsoft.com/office/drawing/2018/hyperlinkcolor" val="tx"/>
                    </a:ext>
                  </a:extLst>
                </a:hlinkClick>
              </a:rPr>
              <a:t>https://www.kodak.com/content/products-brochures/Print/ColorFlow-Pro-Color-Management-Software.pdf</a:t>
            </a:r>
            <a:endParaRPr lang="en-US" sz="1250" dirty="0">
              <a:latin typeface="Meiryo UI" panose="020B0604030504040204" pitchFamily="34" charset="-128"/>
              <a:ea typeface="Meiryo UI" panose="020B0604030504040204" pitchFamily="34" charset="-128"/>
            </a:endParaRPr>
          </a:p>
        </p:txBody>
      </p:sp>
      <p:sp>
        <p:nvSpPr>
          <p:cNvPr id="5" name="Text 3"/>
          <p:cNvSpPr/>
          <p:nvPr/>
        </p:nvSpPr>
        <p:spPr>
          <a:xfrm>
            <a:off x="793790" y="2825591"/>
            <a:ext cx="13042821" cy="254079"/>
          </a:xfrm>
          <a:prstGeom prst="rect">
            <a:avLst/>
          </a:prstGeom>
          <a:noFill/>
          <a:ln/>
        </p:spPr>
        <p:txBody>
          <a:bodyPr wrap="none" lIns="0" tIns="0" rIns="0" bIns="0" rtlCol="0" anchor="t"/>
          <a:lstStyle/>
          <a:p>
            <a:pPr marL="0" indent="0" algn="l">
              <a:lnSpc>
                <a:spcPts val="2000"/>
              </a:lnSpc>
              <a:buNone/>
            </a:pPr>
            <a:r>
              <a:rPr lang="en-US" sz="1250" u="sng" dirty="0">
                <a:solidFill>
                  <a:srgbClr val="1C9770"/>
                </a:solidFill>
                <a:latin typeface="Meiryo UI" panose="020B0604030504040204" pitchFamily="34" charset="-128"/>
                <a:ea typeface="Meiryo UI" panose="020B0604030504040204" pitchFamily="34" charset="-128"/>
                <a:cs typeface="Inter Medium" pitchFamily="34" charset="-120"/>
                <a:hlinkClick r:id="rId4">
                  <a:extLst>
                    <a:ext uri="{A12FA001-AC4F-418D-AE19-62706E023703}">
                      <ahyp:hlinkClr xmlns:ahyp="http://schemas.microsoft.com/office/drawing/2018/hyperlinkcolor" val="tx"/>
                    </a:ext>
                  </a:extLst>
                </a:hlinkClick>
              </a:rPr>
              <a:t>https://www.kodak.com/content/products-brochures/Print/Ink-Optimizing-Solution-data-sheet.pdf</a:t>
            </a:r>
            <a:endParaRPr lang="en-US" sz="1250" dirty="0">
              <a:latin typeface="Meiryo UI" panose="020B0604030504040204" pitchFamily="34" charset="-128"/>
              <a:ea typeface="Meiryo UI" panose="020B0604030504040204" pitchFamily="34" charset="-128"/>
            </a:endParaRPr>
          </a:p>
        </p:txBody>
      </p:sp>
      <p:sp>
        <p:nvSpPr>
          <p:cNvPr id="6" name="Text 4"/>
          <p:cNvSpPr/>
          <p:nvPr/>
        </p:nvSpPr>
        <p:spPr>
          <a:xfrm>
            <a:off x="793790" y="3302913"/>
            <a:ext cx="13042821" cy="254079"/>
          </a:xfrm>
          <a:prstGeom prst="rect">
            <a:avLst/>
          </a:prstGeom>
          <a:noFill/>
          <a:ln/>
        </p:spPr>
        <p:txBody>
          <a:bodyPr wrap="none" lIns="0" tIns="0" rIns="0" bIns="0" rtlCol="0" anchor="t"/>
          <a:lstStyle/>
          <a:p>
            <a:pPr marL="0" indent="0" algn="l">
              <a:lnSpc>
                <a:spcPts val="2000"/>
              </a:lnSpc>
              <a:buNone/>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Esko WebCenter（ROI 240% / NPV 515万USD / 回収&lt;6か月）</a:t>
            </a:r>
            <a:endParaRPr lang="en-US" sz="1250" dirty="0">
              <a:latin typeface="Meiryo UI" panose="020B0604030504040204" pitchFamily="34" charset="-128"/>
              <a:ea typeface="Meiryo UI" panose="020B0604030504040204" pitchFamily="34" charset="-128"/>
            </a:endParaRPr>
          </a:p>
        </p:txBody>
      </p:sp>
      <p:sp>
        <p:nvSpPr>
          <p:cNvPr id="7" name="Text 5"/>
          <p:cNvSpPr/>
          <p:nvPr/>
        </p:nvSpPr>
        <p:spPr>
          <a:xfrm>
            <a:off x="793790" y="3780234"/>
            <a:ext cx="13042821" cy="254079"/>
          </a:xfrm>
          <a:prstGeom prst="rect">
            <a:avLst/>
          </a:prstGeom>
          <a:noFill/>
          <a:ln/>
        </p:spPr>
        <p:txBody>
          <a:bodyPr wrap="none" lIns="0" tIns="0" rIns="0" bIns="0" rtlCol="0" anchor="t"/>
          <a:lstStyle/>
          <a:p>
            <a:pPr marL="0" indent="0" algn="l">
              <a:lnSpc>
                <a:spcPts val="2000"/>
              </a:lnSpc>
              <a:buNone/>
            </a:pPr>
            <a:r>
              <a:rPr lang="en-US" sz="1250" u="sng" dirty="0">
                <a:solidFill>
                  <a:srgbClr val="1C9770"/>
                </a:solidFill>
                <a:latin typeface="Meiryo UI" panose="020B0604030504040204" pitchFamily="34" charset="-128"/>
                <a:ea typeface="Meiryo UI" panose="020B0604030504040204" pitchFamily="34" charset="-128"/>
                <a:cs typeface="Inter Medium" pitchFamily="34" charset="-120"/>
                <a:hlinkClick r:id="rId5">
                  <a:extLst>
                    <a:ext uri="{A12FA001-AC4F-418D-AE19-62706E023703}">
                      <ahyp:hlinkClr xmlns:ahyp="http://schemas.microsoft.com/office/drawing/2018/hyperlinkcolor" val="tx"/>
                    </a:ext>
                  </a:extLst>
                </a:hlinkClick>
              </a:rPr>
              <a:t>https://www.esko.com/en/company/news-overview/esko-fundamental-step-change-process-automation-maximizing-value</a:t>
            </a:r>
            <a:endParaRPr lang="en-US" sz="1250" dirty="0">
              <a:latin typeface="Meiryo UI" panose="020B0604030504040204" pitchFamily="34" charset="-128"/>
              <a:ea typeface="Meiryo UI" panose="020B0604030504040204" pitchFamily="34" charset="-128"/>
            </a:endParaRPr>
          </a:p>
        </p:txBody>
      </p:sp>
      <p:sp>
        <p:nvSpPr>
          <p:cNvPr id="8" name="Text 6"/>
          <p:cNvSpPr/>
          <p:nvPr/>
        </p:nvSpPr>
        <p:spPr>
          <a:xfrm>
            <a:off x="793790" y="4257556"/>
            <a:ext cx="13042821" cy="254079"/>
          </a:xfrm>
          <a:prstGeom prst="rect">
            <a:avLst/>
          </a:prstGeom>
          <a:noFill/>
          <a:ln/>
        </p:spPr>
        <p:txBody>
          <a:bodyPr wrap="none" lIns="0" tIns="0" rIns="0" bIns="0" rtlCol="0" anchor="t"/>
          <a:lstStyle/>
          <a:p>
            <a:pPr marL="0" indent="0" algn="l">
              <a:lnSpc>
                <a:spcPts val="2000"/>
              </a:lnSpc>
              <a:buNone/>
            </a:pPr>
            <a:r>
              <a:rPr lang="en-US" sz="1250" u="sng" dirty="0">
                <a:solidFill>
                  <a:srgbClr val="1C9770"/>
                </a:solidFill>
                <a:latin typeface="Meiryo UI" panose="020B0604030504040204" pitchFamily="34" charset="-128"/>
                <a:ea typeface="Meiryo UI" panose="020B0604030504040204" pitchFamily="34" charset="-128"/>
                <a:cs typeface="Inter Medium" pitchFamily="34" charset="-120"/>
                <a:hlinkClick r:id="rId6">
                  <a:extLst>
                    <a:ext uri="{A12FA001-AC4F-418D-AE19-62706E023703}">
                      <ahyp:hlinkClr xmlns:ahyp="http://schemas.microsoft.com/office/drawing/2018/hyperlinkcolor" val="tx"/>
                    </a:ext>
                  </a:extLst>
                </a:hlinkClick>
              </a:rPr>
              <a:t>https://www.esko.com/en/landing/teistudy</a:t>
            </a:r>
            <a:endParaRPr lang="en-US" sz="1250" dirty="0">
              <a:latin typeface="Meiryo UI" panose="020B0604030504040204" pitchFamily="34" charset="-128"/>
              <a:ea typeface="Meiryo UI" panose="020B0604030504040204" pitchFamily="34" charset="-128"/>
            </a:endParaRPr>
          </a:p>
        </p:txBody>
      </p:sp>
      <p:sp>
        <p:nvSpPr>
          <p:cNvPr id="9" name="Text 7"/>
          <p:cNvSpPr/>
          <p:nvPr/>
        </p:nvSpPr>
        <p:spPr>
          <a:xfrm>
            <a:off x="793790" y="4734878"/>
            <a:ext cx="13042821" cy="254079"/>
          </a:xfrm>
          <a:prstGeom prst="rect">
            <a:avLst/>
          </a:prstGeom>
          <a:noFill/>
          <a:ln/>
        </p:spPr>
        <p:txBody>
          <a:bodyPr wrap="none" lIns="0" tIns="0" rIns="0" bIns="0" rtlCol="0" anchor="t"/>
          <a:lstStyle/>
          <a:p>
            <a:pPr marL="0" indent="0" algn="l">
              <a:lnSpc>
                <a:spcPts val="2000"/>
              </a:lnSpc>
              <a:buNone/>
            </a:pPr>
            <a:r>
              <a:rPr lang="en-US" sz="1250" u="sng" dirty="0">
                <a:solidFill>
                  <a:srgbClr val="1C9770"/>
                </a:solidFill>
                <a:latin typeface="Meiryo UI" panose="020B0604030504040204" pitchFamily="34" charset="-128"/>
                <a:ea typeface="Meiryo UI" panose="020B0604030504040204" pitchFamily="34" charset="-128"/>
                <a:cs typeface="Inter Medium" pitchFamily="34" charset="-120"/>
                <a:hlinkClick r:id="rId7">
                  <a:extLst>
                    <a:ext uri="{A12FA001-AC4F-418D-AE19-62706E023703}">
                      <ahyp:hlinkClr xmlns:ahyp="http://schemas.microsoft.com/office/drawing/2018/hyperlinkcolor" val="tx"/>
                    </a:ext>
                  </a:extLst>
                </a:hlinkClick>
              </a:rPr>
              <a:t>https://www.packagingimpressions.com/article/tei-validates-esko-s-impact-with-240-roi-for-converters/</a:t>
            </a:r>
            <a:endParaRPr lang="en-US" sz="1250" dirty="0">
              <a:latin typeface="Meiryo UI" panose="020B0604030504040204" pitchFamily="34" charset="-128"/>
              <a:ea typeface="Meiryo UI" panose="020B0604030504040204" pitchFamily="34" charset="-128"/>
            </a:endParaRPr>
          </a:p>
        </p:txBody>
      </p:sp>
      <p:sp>
        <p:nvSpPr>
          <p:cNvPr id="10" name="Text 8"/>
          <p:cNvSpPr/>
          <p:nvPr/>
        </p:nvSpPr>
        <p:spPr>
          <a:xfrm>
            <a:off x="793790" y="5212199"/>
            <a:ext cx="13042821" cy="254079"/>
          </a:xfrm>
          <a:prstGeom prst="rect">
            <a:avLst/>
          </a:prstGeom>
          <a:noFill/>
          <a:ln/>
        </p:spPr>
        <p:txBody>
          <a:bodyPr wrap="none" lIns="0" tIns="0" rIns="0" bIns="0" rtlCol="0" anchor="t"/>
          <a:lstStyle/>
          <a:p>
            <a:pPr marL="0" indent="0" algn="l">
              <a:lnSpc>
                <a:spcPts val="2000"/>
              </a:lnSpc>
              <a:buNone/>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Esko／Tilia Phoenix（Citicom：2日→15分／1000→2000件/月）</a:t>
            </a:r>
            <a:endParaRPr lang="en-US" sz="1250" dirty="0">
              <a:latin typeface="Meiryo UI" panose="020B0604030504040204" pitchFamily="34" charset="-128"/>
              <a:ea typeface="Meiryo UI" panose="020B0604030504040204" pitchFamily="34" charset="-128"/>
            </a:endParaRPr>
          </a:p>
        </p:txBody>
      </p:sp>
      <p:sp>
        <p:nvSpPr>
          <p:cNvPr id="11" name="Text 9"/>
          <p:cNvSpPr/>
          <p:nvPr/>
        </p:nvSpPr>
        <p:spPr>
          <a:xfrm>
            <a:off x="793790" y="5689521"/>
            <a:ext cx="13042821" cy="254079"/>
          </a:xfrm>
          <a:prstGeom prst="rect">
            <a:avLst/>
          </a:prstGeom>
          <a:noFill/>
          <a:ln/>
        </p:spPr>
        <p:txBody>
          <a:bodyPr wrap="none" lIns="0" tIns="0" rIns="0" bIns="0" rtlCol="0" anchor="t"/>
          <a:lstStyle/>
          <a:p>
            <a:pPr marL="0" indent="0" algn="l">
              <a:lnSpc>
                <a:spcPts val="2000"/>
              </a:lnSpc>
              <a:buNone/>
            </a:pPr>
            <a:r>
              <a:rPr lang="en-US" sz="1250" u="sng" dirty="0">
                <a:solidFill>
                  <a:srgbClr val="1C9770"/>
                </a:solidFill>
                <a:latin typeface="Meiryo UI" panose="020B0604030504040204" pitchFamily="34" charset="-128"/>
                <a:ea typeface="Meiryo UI" panose="020B0604030504040204" pitchFamily="34" charset="-128"/>
                <a:cs typeface="Inter Medium" pitchFamily="34" charset="-120"/>
                <a:hlinkClick r:id="rId8">
                  <a:extLst>
                    <a:ext uri="{A12FA001-AC4F-418D-AE19-62706E023703}">
                      <ahyp:hlinkClr xmlns:ahyp="http://schemas.microsoft.com/office/drawing/2018/hyperlinkcolor" val="tx"/>
                    </a:ext>
                  </a:extLst>
                </a:hlinkClick>
              </a:rPr>
              <a:t>https://cello-amethyst-lfrp.squarespace.com/s/citicom-case-study.pdf</a:t>
            </a:r>
            <a:endParaRPr lang="en-US" sz="1250" dirty="0">
              <a:latin typeface="Meiryo UI" panose="020B0604030504040204" pitchFamily="34" charset="-128"/>
              <a:ea typeface="Meiryo UI" panose="020B0604030504040204" pitchFamily="34" charset="-128"/>
            </a:endParaRPr>
          </a:p>
        </p:txBody>
      </p:sp>
      <p:sp>
        <p:nvSpPr>
          <p:cNvPr id="12" name="Text 10"/>
          <p:cNvSpPr/>
          <p:nvPr/>
        </p:nvSpPr>
        <p:spPr>
          <a:xfrm>
            <a:off x="793790" y="6166842"/>
            <a:ext cx="13042821" cy="254079"/>
          </a:xfrm>
          <a:prstGeom prst="rect">
            <a:avLst/>
          </a:prstGeom>
          <a:noFill/>
          <a:ln/>
        </p:spPr>
        <p:txBody>
          <a:bodyPr wrap="none" lIns="0" tIns="0" rIns="0" bIns="0" rtlCol="0" anchor="t"/>
          <a:lstStyle/>
          <a:p>
            <a:pPr marL="0" indent="0" algn="l">
              <a:lnSpc>
                <a:spcPts val="2000"/>
              </a:lnSpc>
              <a:buNone/>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Komori KHS-AI事例（メイクレディ50%↓、準備用紙70%↓）</a:t>
            </a:r>
            <a:endParaRPr lang="en-US" sz="1250" dirty="0">
              <a:latin typeface="Meiryo UI" panose="020B0604030504040204" pitchFamily="34" charset="-128"/>
              <a:ea typeface="Meiryo UI" panose="020B0604030504040204" pitchFamily="34" charset="-128"/>
            </a:endParaRPr>
          </a:p>
        </p:txBody>
      </p:sp>
      <p:sp>
        <p:nvSpPr>
          <p:cNvPr id="13" name="Text 11"/>
          <p:cNvSpPr/>
          <p:nvPr/>
        </p:nvSpPr>
        <p:spPr>
          <a:xfrm>
            <a:off x="793790" y="6644164"/>
            <a:ext cx="13042821" cy="254079"/>
          </a:xfrm>
          <a:prstGeom prst="rect">
            <a:avLst/>
          </a:prstGeom>
          <a:noFill/>
          <a:ln/>
        </p:spPr>
        <p:txBody>
          <a:bodyPr wrap="none" lIns="0" tIns="0" rIns="0" bIns="0" rtlCol="0" anchor="t"/>
          <a:lstStyle/>
          <a:p>
            <a:pPr marL="0" indent="0" algn="l">
              <a:lnSpc>
                <a:spcPts val="2000"/>
              </a:lnSpc>
              <a:buNone/>
            </a:pPr>
            <a:r>
              <a:rPr lang="en-US" sz="1250" u="sng" dirty="0">
                <a:solidFill>
                  <a:srgbClr val="1C9770"/>
                </a:solidFill>
                <a:latin typeface="Meiryo UI" panose="020B0604030504040204" pitchFamily="34" charset="-128"/>
                <a:ea typeface="Meiryo UI" panose="020B0604030504040204" pitchFamily="34" charset="-128"/>
                <a:cs typeface="Inter Medium" pitchFamily="34" charset="-120"/>
                <a:hlinkClick r:id="rId9">
                  <a:extLst>
                    <a:ext uri="{A12FA001-AC4F-418D-AE19-62706E023703}">
                      <ahyp:hlinkClr xmlns:ahyp="http://schemas.microsoft.com/office/drawing/2018/hyperlinkcolor" val="tx"/>
                    </a:ext>
                  </a:extLst>
                </a:hlinkClick>
              </a:rPr>
              <a:t>https://www.piworld.com/article/new-komori-lithrone-allows-printer-reduce-makeready-time-waste/all/</a:t>
            </a:r>
            <a:endParaRPr lang="en-US" sz="1250" dirty="0">
              <a:latin typeface="Meiryo UI" panose="020B0604030504040204" pitchFamily="34" charset="-128"/>
              <a:ea typeface="Meiryo UI" panose="020B0604030504040204" pitchFamily="34" charset="-128"/>
            </a:endParaRPr>
          </a:p>
        </p:txBody>
      </p:sp>
      <p:sp>
        <p:nvSpPr>
          <p:cNvPr id="14" name="Text 12"/>
          <p:cNvSpPr/>
          <p:nvPr/>
        </p:nvSpPr>
        <p:spPr>
          <a:xfrm>
            <a:off x="793790" y="7121485"/>
            <a:ext cx="13042821" cy="254079"/>
          </a:xfrm>
          <a:prstGeom prst="rect">
            <a:avLst/>
          </a:prstGeom>
          <a:noFill/>
          <a:ln/>
        </p:spPr>
        <p:txBody>
          <a:bodyPr wrap="none" lIns="0" tIns="0" rIns="0" bIns="0" rtlCol="0" anchor="t"/>
          <a:lstStyle/>
          <a:p>
            <a:pPr marL="0" indent="0" algn="l">
              <a:lnSpc>
                <a:spcPts val="2000"/>
              </a:lnSpc>
              <a:buNone/>
            </a:pPr>
            <a:r>
              <a:rPr lang="en-US" sz="1250" dirty="0">
                <a:solidFill>
                  <a:srgbClr val="464646"/>
                </a:solidFill>
                <a:latin typeface="Meiryo UI" panose="020B0604030504040204" pitchFamily="34" charset="-128"/>
                <a:ea typeface="Meiryo UI" panose="020B0604030504040204" pitchFamily="34" charset="-128"/>
                <a:cs typeface="Inter Medium" pitchFamily="34" charset="-120"/>
              </a:rPr>
              <a:t>https://www.komori.com/en/global/product/press/offset/advance/lithrone_gx40_advance.html</a:t>
            </a:r>
            <a:endParaRPr lang="en-US" sz="1250" dirty="0">
              <a:latin typeface="Meiryo UI" panose="020B0604030504040204" pitchFamily="34" charset="-128"/>
              <a:ea typeface="Meiryo UI" panose="020B0604030504040204"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TotalTime>
  <Words>2039</Words>
  <Application>Microsoft Macintosh PowerPoint</Application>
  <PresentationFormat>ユーザー設定</PresentationFormat>
  <Paragraphs>217</Paragraphs>
  <Slides>14</Slides>
  <Notes>14</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14</vt:i4>
      </vt:variant>
    </vt:vector>
  </HeadingPairs>
  <TitlesOfParts>
    <vt:vector size="17" baseType="lpstr">
      <vt:lpstr>Meiryo UI</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勇一 神子</cp:lastModifiedBy>
  <cp:revision>24</cp:revision>
  <dcterms:created xsi:type="dcterms:W3CDTF">2025-08-23T06:20:46Z</dcterms:created>
  <dcterms:modified xsi:type="dcterms:W3CDTF">2025-08-31T06:59:54Z</dcterms:modified>
</cp:coreProperties>
</file>